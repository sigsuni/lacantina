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4" r:id="rId1"/>
  </p:sldMasterIdLst>
  <p:notesMasterIdLst>
    <p:notesMasterId r:id="rId103"/>
  </p:notesMasterIdLst>
  <p:sldIdLst>
    <p:sldId id="256" r:id="rId2"/>
    <p:sldId id="296" r:id="rId3"/>
    <p:sldId id="258" r:id="rId4"/>
    <p:sldId id="259" r:id="rId5"/>
    <p:sldId id="260" r:id="rId6"/>
    <p:sldId id="261" r:id="rId7"/>
    <p:sldId id="265" r:id="rId8"/>
    <p:sldId id="274" r:id="rId9"/>
    <p:sldId id="269" r:id="rId10"/>
    <p:sldId id="262" r:id="rId11"/>
    <p:sldId id="263" r:id="rId12"/>
    <p:sldId id="264" r:id="rId13"/>
    <p:sldId id="266" r:id="rId14"/>
    <p:sldId id="267" r:id="rId15"/>
    <p:sldId id="268" r:id="rId16"/>
    <p:sldId id="270" r:id="rId17"/>
    <p:sldId id="273" r:id="rId18"/>
    <p:sldId id="275" r:id="rId19"/>
    <p:sldId id="276" r:id="rId20"/>
    <p:sldId id="277" r:id="rId21"/>
    <p:sldId id="278" r:id="rId22"/>
    <p:sldId id="279" r:id="rId23"/>
    <p:sldId id="280" r:id="rId24"/>
    <p:sldId id="281" r:id="rId25"/>
    <p:sldId id="282" r:id="rId26"/>
    <p:sldId id="271" r:id="rId27"/>
    <p:sldId id="283" r:id="rId28"/>
    <p:sldId id="272"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30" r:id="rId42"/>
    <p:sldId id="331" r:id="rId43"/>
    <p:sldId id="332" r:id="rId44"/>
    <p:sldId id="333" r:id="rId45"/>
    <p:sldId id="298" r:id="rId46"/>
    <p:sldId id="297" r:id="rId47"/>
    <p:sldId id="299" r:id="rId48"/>
    <p:sldId id="303" r:id="rId49"/>
    <p:sldId id="300" r:id="rId50"/>
    <p:sldId id="301" r:id="rId51"/>
    <p:sldId id="302" r:id="rId52"/>
    <p:sldId id="304" r:id="rId53"/>
    <p:sldId id="305" r:id="rId54"/>
    <p:sldId id="306" r:id="rId55"/>
    <p:sldId id="307" r:id="rId56"/>
    <p:sldId id="308" r:id="rId57"/>
    <p:sldId id="309" r:id="rId58"/>
    <p:sldId id="310" r:id="rId59"/>
    <p:sldId id="311" r:id="rId60"/>
    <p:sldId id="312" r:id="rId61"/>
    <p:sldId id="313" r:id="rId62"/>
    <p:sldId id="315" r:id="rId63"/>
    <p:sldId id="314"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9" r:id="rId77"/>
    <p:sldId id="328" r:id="rId78"/>
    <p:sldId id="334" r:id="rId79"/>
    <p:sldId id="335" r:id="rId80"/>
    <p:sldId id="353" r:id="rId81"/>
    <p:sldId id="336" r:id="rId82"/>
    <p:sldId id="337" r:id="rId83"/>
    <p:sldId id="354" r:id="rId84"/>
    <p:sldId id="355" r:id="rId85"/>
    <p:sldId id="356" r:id="rId86"/>
    <p:sldId id="357" r:id="rId87"/>
    <p:sldId id="340" r:id="rId88"/>
    <p:sldId id="341" r:id="rId89"/>
    <p:sldId id="342" r:id="rId90"/>
    <p:sldId id="343" r:id="rId91"/>
    <p:sldId id="344" r:id="rId92"/>
    <p:sldId id="345" r:id="rId93"/>
    <p:sldId id="346" r:id="rId94"/>
    <p:sldId id="347" r:id="rId95"/>
    <p:sldId id="358" r:id="rId96"/>
    <p:sldId id="348" r:id="rId97"/>
    <p:sldId id="349" r:id="rId98"/>
    <p:sldId id="350" r:id="rId99"/>
    <p:sldId id="351" r:id="rId100"/>
    <p:sldId id="352" r:id="rId101"/>
    <p:sldId id="359" r:id="rId10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Stile chiaro 3 - Color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72"/>
    <p:restoredTop sz="94653"/>
  </p:normalViewPr>
  <p:slideViewPr>
    <p:cSldViewPr snapToGrid="0">
      <p:cViewPr varScale="1">
        <p:scale>
          <a:sx n="111" d="100"/>
          <a:sy n="111" d="100"/>
        </p:scale>
        <p:origin x="726" y="96"/>
      </p:cViewPr>
      <p:guideLst>
        <p:guide orient="horz" pos="2160"/>
        <p:guide pos="3840"/>
        <p:guide pos="39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ata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A50F32-F06E-4C2E-950A-80667A7632AB}"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2DEE7DB-916B-47BC-AEFE-6FC5B1F83ED9}">
      <dgm:prSet/>
      <dgm:spPr/>
      <dgm:t>
        <a:bodyPr/>
        <a:lstStyle/>
        <a:p>
          <a:r>
            <a:rPr lang="it-IT"/>
            <a:t>Ogni utente che accede alla piattaforma anche senza effettuare un login può inserire i prodotti nel carrello, variarne la quantità, rimuoverli dal carrello e svuotare il carrello.</a:t>
          </a:r>
          <a:endParaRPr lang="en-US"/>
        </a:p>
      </dgm:t>
    </dgm:pt>
    <dgm:pt modelId="{64B89231-02EE-419B-9FE3-7230C8A1733E}" type="parTrans" cxnId="{672723E8-F92B-48E2-A978-30A22AF6EDB1}">
      <dgm:prSet/>
      <dgm:spPr/>
      <dgm:t>
        <a:bodyPr/>
        <a:lstStyle/>
        <a:p>
          <a:endParaRPr lang="en-US"/>
        </a:p>
      </dgm:t>
    </dgm:pt>
    <dgm:pt modelId="{820FAD2D-BEA1-4957-B2D4-B5C7E2580832}" type="sibTrans" cxnId="{672723E8-F92B-48E2-A978-30A22AF6EDB1}">
      <dgm:prSet/>
      <dgm:spPr/>
      <dgm:t>
        <a:bodyPr/>
        <a:lstStyle/>
        <a:p>
          <a:endParaRPr lang="en-US"/>
        </a:p>
      </dgm:t>
    </dgm:pt>
    <dgm:pt modelId="{BDF74ED1-51A6-4C01-BCBA-D5DE41B46193}">
      <dgm:prSet/>
      <dgm:spPr/>
      <dgm:t>
        <a:bodyPr/>
        <a:lstStyle/>
        <a:p>
          <a:r>
            <a:rPr lang="it-IT" dirty="0"/>
            <a:t>Ogni cliente deve potersi registrare ed effettuare login e </a:t>
          </a:r>
          <a:r>
            <a:rPr lang="it-IT" dirty="0" err="1"/>
            <a:t>logut</a:t>
          </a:r>
          <a:r>
            <a:rPr lang="it-IT" dirty="0"/>
            <a:t>.</a:t>
          </a:r>
          <a:endParaRPr lang="en-US" dirty="0"/>
        </a:p>
      </dgm:t>
    </dgm:pt>
    <dgm:pt modelId="{82CAFD4D-C19E-4A25-9A51-84032B235A86}" type="parTrans" cxnId="{03815D64-AB61-45A1-AFEC-E4A073009A65}">
      <dgm:prSet/>
      <dgm:spPr/>
      <dgm:t>
        <a:bodyPr/>
        <a:lstStyle/>
        <a:p>
          <a:endParaRPr lang="en-US"/>
        </a:p>
      </dgm:t>
    </dgm:pt>
    <dgm:pt modelId="{335B729E-1A49-4730-8A65-D6E6F483ED53}" type="sibTrans" cxnId="{03815D64-AB61-45A1-AFEC-E4A073009A65}">
      <dgm:prSet/>
      <dgm:spPr/>
      <dgm:t>
        <a:bodyPr/>
        <a:lstStyle/>
        <a:p>
          <a:endParaRPr lang="en-US"/>
        </a:p>
      </dgm:t>
    </dgm:pt>
    <dgm:pt modelId="{33F16D6E-5FCE-4003-8D97-EC59176D2740}">
      <dgm:prSet/>
      <dgm:spPr/>
      <dgm:t>
        <a:bodyPr/>
        <a:lstStyle/>
        <a:p>
          <a:r>
            <a:rPr lang="it-IT" dirty="0"/>
            <a:t>Il Cliente registrato deve poter effettuare l’ordine dei prodotti inseriti nel carrello    specificando le modalità di pagamento e inserendo le opportune informazioni.</a:t>
          </a:r>
          <a:endParaRPr lang="en-US" dirty="0"/>
        </a:p>
      </dgm:t>
    </dgm:pt>
    <dgm:pt modelId="{ED581780-0846-4105-AF0A-BB11AE17D66F}" type="parTrans" cxnId="{2E9DB6CB-1AAF-496D-A801-B469CE81B2A3}">
      <dgm:prSet/>
      <dgm:spPr/>
      <dgm:t>
        <a:bodyPr/>
        <a:lstStyle/>
        <a:p>
          <a:endParaRPr lang="en-US"/>
        </a:p>
      </dgm:t>
    </dgm:pt>
    <dgm:pt modelId="{533581F5-59AA-458E-BC2B-6F45CC5E5040}" type="sibTrans" cxnId="{2E9DB6CB-1AAF-496D-A801-B469CE81B2A3}">
      <dgm:prSet/>
      <dgm:spPr/>
      <dgm:t>
        <a:bodyPr/>
        <a:lstStyle/>
        <a:p>
          <a:endParaRPr lang="en-US"/>
        </a:p>
      </dgm:t>
    </dgm:pt>
    <dgm:pt modelId="{F1A5F3EF-2F9E-4EDC-8F8F-8A80E3CEFCB7}">
      <dgm:prSet/>
      <dgm:spPr/>
      <dgm:t>
        <a:bodyPr/>
        <a:lstStyle/>
        <a:p>
          <a:r>
            <a:rPr lang="it-IT" dirty="0"/>
            <a:t>-   Una volta effettuato l’ordine, il carrello va svuotato e deve essere possibile per il cliente registrato visualizzare l’ordine nell’elenco degli ordini effettuati.</a:t>
          </a:r>
          <a:endParaRPr lang="en-US" dirty="0"/>
        </a:p>
      </dgm:t>
    </dgm:pt>
    <dgm:pt modelId="{CCD8F527-0F4A-41DA-A8D6-E21AEC0F0584}" type="parTrans" cxnId="{57046215-7791-4244-B486-76F0A553A445}">
      <dgm:prSet/>
      <dgm:spPr/>
      <dgm:t>
        <a:bodyPr/>
        <a:lstStyle/>
        <a:p>
          <a:endParaRPr lang="en-US"/>
        </a:p>
      </dgm:t>
    </dgm:pt>
    <dgm:pt modelId="{287C73DB-BFB9-4587-AF7C-7A1D0CC05B11}" type="sibTrans" cxnId="{57046215-7791-4244-B486-76F0A553A445}">
      <dgm:prSet/>
      <dgm:spPr/>
      <dgm:t>
        <a:bodyPr/>
        <a:lstStyle/>
        <a:p>
          <a:endParaRPr lang="en-US"/>
        </a:p>
      </dgm:t>
    </dgm:pt>
    <dgm:pt modelId="{1BFB1DF2-416B-423D-8EA1-DEAA5D966CD2}">
      <dgm:prSet/>
      <dgm:spPr/>
      <dgm:t>
        <a:bodyPr/>
        <a:lstStyle/>
        <a:p>
          <a:r>
            <a:rPr lang="it-IT" dirty="0"/>
            <a:t> Il cliente deve poter accedere ad un’area dedicata agli ordini effettuati in modo da poter modificare i dati di spedizione inseriti, annullare l’ordine e in ogni caso monitorarne l’evoluzione</a:t>
          </a:r>
          <a:endParaRPr lang="en-US" dirty="0"/>
        </a:p>
      </dgm:t>
    </dgm:pt>
    <dgm:pt modelId="{4D10E680-FBC0-4318-9748-CBFCEE3B1654}" type="parTrans" cxnId="{108CF907-7BD5-4E8D-87BE-5D0443364AC5}">
      <dgm:prSet/>
      <dgm:spPr/>
      <dgm:t>
        <a:bodyPr/>
        <a:lstStyle/>
        <a:p>
          <a:endParaRPr lang="en-US"/>
        </a:p>
      </dgm:t>
    </dgm:pt>
    <dgm:pt modelId="{133F2D88-EF55-49A1-A17A-C873665921E8}" type="sibTrans" cxnId="{108CF907-7BD5-4E8D-87BE-5D0443364AC5}">
      <dgm:prSet/>
      <dgm:spPr/>
      <dgm:t>
        <a:bodyPr/>
        <a:lstStyle/>
        <a:p>
          <a:endParaRPr lang="en-US"/>
        </a:p>
      </dgm:t>
    </dgm:pt>
    <dgm:pt modelId="{58158B1A-2CBF-4CC2-86F0-489B7D0E30E4}" type="pres">
      <dgm:prSet presAssocID="{8EA50F32-F06E-4C2E-950A-80667A7632AB}" presName="root" presStyleCnt="0">
        <dgm:presLayoutVars>
          <dgm:dir/>
          <dgm:resizeHandles val="exact"/>
        </dgm:presLayoutVars>
      </dgm:prSet>
      <dgm:spPr/>
    </dgm:pt>
    <dgm:pt modelId="{6D5E12FC-F667-4CCB-A877-7D623A4422A4}" type="pres">
      <dgm:prSet presAssocID="{8EA50F32-F06E-4C2E-950A-80667A7632AB}" presName="container" presStyleCnt="0">
        <dgm:presLayoutVars>
          <dgm:dir/>
          <dgm:resizeHandles val="exact"/>
        </dgm:presLayoutVars>
      </dgm:prSet>
      <dgm:spPr/>
    </dgm:pt>
    <dgm:pt modelId="{9614C12D-6595-4AE8-9618-971FFC8E96FF}" type="pres">
      <dgm:prSet presAssocID="{92DEE7DB-916B-47BC-AEFE-6FC5B1F83ED9}" presName="compNode" presStyleCnt="0"/>
      <dgm:spPr/>
    </dgm:pt>
    <dgm:pt modelId="{CCAD0D49-5C1F-4D97-8AB3-2D49402BD5D9}" type="pres">
      <dgm:prSet presAssocID="{92DEE7DB-916B-47BC-AEFE-6FC5B1F83ED9}" presName="iconBgRect" presStyleLbl="bgShp" presStyleIdx="0" presStyleCnt="5"/>
      <dgm:spPr/>
    </dgm:pt>
    <dgm:pt modelId="{DD93230F-0949-449E-B8F0-5E94BEF7D4B8}" type="pres">
      <dgm:prSet presAssocID="{92DEE7DB-916B-47BC-AEFE-6FC5B1F83ED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opping cart"/>
        </a:ext>
      </dgm:extLst>
    </dgm:pt>
    <dgm:pt modelId="{64F85AEF-3341-438C-8761-AF24BA26B967}" type="pres">
      <dgm:prSet presAssocID="{92DEE7DB-916B-47BC-AEFE-6FC5B1F83ED9}" presName="spaceRect" presStyleCnt="0"/>
      <dgm:spPr/>
    </dgm:pt>
    <dgm:pt modelId="{8D0960D6-733E-4D05-B267-1CC845A21205}" type="pres">
      <dgm:prSet presAssocID="{92DEE7DB-916B-47BC-AEFE-6FC5B1F83ED9}" presName="textRect" presStyleLbl="revTx" presStyleIdx="0" presStyleCnt="5">
        <dgm:presLayoutVars>
          <dgm:chMax val="1"/>
          <dgm:chPref val="1"/>
        </dgm:presLayoutVars>
      </dgm:prSet>
      <dgm:spPr/>
    </dgm:pt>
    <dgm:pt modelId="{6B9DC365-7940-469D-8367-8B502DC29D77}" type="pres">
      <dgm:prSet presAssocID="{820FAD2D-BEA1-4957-B2D4-B5C7E2580832}" presName="sibTrans" presStyleLbl="sibTrans2D1" presStyleIdx="0" presStyleCnt="0"/>
      <dgm:spPr/>
    </dgm:pt>
    <dgm:pt modelId="{EBA51BC1-62D6-4021-894E-B1138E2512FB}" type="pres">
      <dgm:prSet presAssocID="{BDF74ED1-51A6-4C01-BCBA-D5DE41B46193}" presName="compNode" presStyleCnt="0"/>
      <dgm:spPr/>
    </dgm:pt>
    <dgm:pt modelId="{467B9E9D-1A7D-4FCB-BF31-1560B018D1A9}" type="pres">
      <dgm:prSet presAssocID="{BDF74ED1-51A6-4C01-BCBA-D5DE41B46193}" presName="iconBgRect" presStyleLbl="bgShp" presStyleIdx="1" presStyleCnt="5"/>
      <dgm:spPr/>
    </dgm:pt>
    <dgm:pt modelId="{AF72775D-4CFB-40BB-908B-39263159FC03}" type="pres">
      <dgm:prSet presAssocID="{BDF74ED1-51A6-4C01-BCBA-D5DE41B4619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agramma di flusso"/>
        </a:ext>
      </dgm:extLst>
    </dgm:pt>
    <dgm:pt modelId="{FC2B7DF3-57C3-4DB5-8EC9-403F59C34B67}" type="pres">
      <dgm:prSet presAssocID="{BDF74ED1-51A6-4C01-BCBA-D5DE41B46193}" presName="spaceRect" presStyleCnt="0"/>
      <dgm:spPr/>
    </dgm:pt>
    <dgm:pt modelId="{821EF8EA-E615-4537-89FA-2CCD41EF3796}" type="pres">
      <dgm:prSet presAssocID="{BDF74ED1-51A6-4C01-BCBA-D5DE41B46193}" presName="textRect" presStyleLbl="revTx" presStyleIdx="1" presStyleCnt="5">
        <dgm:presLayoutVars>
          <dgm:chMax val="1"/>
          <dgm:chPref val="1"/>
        </dgm:presLayoutVars>
      </dgm:prSet>
      <dgm:spPr/>
    </dgm:pt>
    <dgm:pt modelId="{C61D117F-AFA9-4584-B1C1-D626E8C00C0B}" type="pres">
      <dgm:prSet presAssocID="{335B729E-1A49-4730-8A65-D6E6F483ED53}" presName="sibTrans" presStyleLbl="sibTrans2D1" presStyleIdx="0" presStyleCnt="0"/>
      <dgm:spPr/>
    </dgm:pt>
    <dgm:pt modelId="{8FF760E6-C7C2-4FB9-82BF-37114EF5AC11}" type="pres">
      <dgm:prSet presAssocID="{33F16D6E-5FCE-4003-8D97-EC59176D2740}" presName="compNode" presStyleCnt="0"/>
      <dgm:spPr/>
    </dgm:pt>
    <dgm:pt modelId="{C7ED1858-8FCE-47C6-BC12-02586ADF41F0}" type="pres">
      <dgm:prSet presAssocID="{33F16D6E-5FCE-4003-8D97-EC59176D2740}" presName="iconBgRect" presStyleLbl="bgShp" presStyleIdx="2" presStyleCnt="5"/>
      <dgm:spPr/>
    </dgm:pt>
    <dgm:pt modelId="{BA6BAA05-7696-47A4-9ECE-8420C97FD999}" type="pres">
      <dgm:prSet presAssocID="{33F16D6E-5FCE-4003-8D97-EC59176D274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tola"/>
        </a:ext>
      </dgm:extLst>
    </dgm:pt>
    <dgm:pt modelId="{C19F9809-B36C-40C3-9C6A-6399A202D40B}" type="pres">
      <dgm:prSet presAssocID="{33F16D6E-5FCE-4003-8D97-EC59176D2740}" presName="spaceRect" presStyleCnt="0"/>
      <dgm:spPr/>
    </dgm:pt>
    <dgm:pt modelId="{8CE4DB12-F93A-496B-90BB-5CF2028EDD89}" type="pres">
      <dgm:prSet presAssocID="{33F16D6E-5FCE-4003-8D97-EC59176D2740}" presName="textRect" presStyleLbl="revTx" presStyleIdx="2" presStyleCnt="5">
        <dgm:presLayoutVars>
          <dgm:chMax val="1"/>
          <dgm:chPref val="1"/>
        </dgm:presLayoutVars>
      </dgm:prSet>
      <dgm:spPr/>
    </dgm:pt>
    <dgm:pt modelId="{52C5CB8F-6F70-4561-B924-1F9B223AE06C}" type="pres">
      <dgm:prSet presAssocID="{533581F5-59AA-458E-BC2B-6F45CC5E5040}" presName="sibTrans" presStyleLbl="sibTrans2D1" presStyleIdx="0" presStyleCnt="0"/>
      <dgm:spPr/>
    </dgm:pt>
    <dgm:pt modelId="{F5F6BB55-F41C-4760-B231-BA4B1D3CDB1E}" type="pres">
      <dgm:prSet presAssocID="{F1A5F3EF-2F9E-4EDC-8F8F-8A80E3CEFCB7}" presName="compNode" presStyleCnt="0"/>
      <dgm:spPr/>
    </dgm:pt>
    <dgm:pt modelId="{6F02920E-1985-4117-BEF8-A7574FE7ACF5}" type="pres">
      <dgm:prSet presAssocID="{F1A5F3EF-2F9E-4EDC-8F8F-8A80E3CEFCB7}" presName="iconBgRect" presStyleLbl="bgShp" presStyleIdx="3" presStyleCnt="5"/>
      <dgm:spPr/>
    </dgm:pt>
    <dgm:pt modelId="{C10C1E05-F1BC-406A-BA64-E79AA3897CBC}" type="pres">
      <dgm:prSet presAssocID="{F1A5F3EF-2F9E-4EDC-8F8F-8A80E3CEFCB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iosco"/>
        </a:ext>
      </dgm:extLst>
    </dgm:pt>
    <dgm:pt modelId="{1ABF41D2-0998-4650-B5CA-B163DEE0FAE4}" type="pres">
      <dgm:prSet presAssocID="{F1A5F3EF-2F9E-4EDC-8F8F-8A80E3CEFCB7}" presName="spaceRect" presStyleCnt="0"/>
      <dgm:spPr/>
    </dgm:pt>
    <dgm:pt modelId="{5EEA64CF-ED65-445F-B728-5CF473F78971}" type="pres">
      <dgm:prSet presAssocID="{F1A5F3EF-2F9E-4EDC-8F8F-8A80E3CEFCB7}" presName="textRect" presStyleLbl="revTx" presStyleIdx="3" presStyleCnt="5">
        <dgm:presLayoutVars>
          <dgm:chMax val="1"/>
          <dgm:chPref val="1"/>
        </dgm:presLayoutVars>
      </dgm:prSet>
      <dgm:spPr/>
    </dgm:pt>
    <dgm:pt modelId="{BFD251A6-1638-4E77-924F-977C3B055BDD}" type="pres">
      <dgm:prSet presAssocID="{287C73DB-BFB9-4587-AF7C-7A1D0CC05B11}" presName="sibTrans" presStyleLbl="sibTrans2D1" presStyleIdx="0" presStyleCnt="0"/>
      <dgm:spPr/>
    </dgm:pt>
    <dgm:pt modelId="{AD6A9E25-95FF-41B1-B1AF-530F3AA255AF}" type="pres">
      <dgm:prSet presAssocID="{1BFB1DF2-416B-423D-8EA1-DEAA5D966CD2}" presName="compNode" presStyleCnt="0"/>
      <dgm:spPr/>
    </dgm:pt>
    <dgm:pt modelId="{24EDF0AD-813B-434A-B2C7-15BF42203EC3}" type="pres">
      <dgm:prSet presAssocID="{1BFB1DF2-416B-423D-8EA1-DEAA5D966CD2}" presName="iconBgRect" presStyleLbl="bgShp" presStyleIdx="4" presStyleCnt="5"/>
      <dgm:spPr/>
    </dgm:pt>
    <dgm:pt modelId="{AA98E55A-75BC-49B3-B10C-C622618BBE85}" type="pres">
      <dgm:prSet presAssocID="{1BFB1DF2-416B-423D-8EA1-DEAA5D966CD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dice a barre"/>
        </a:ext>
      </dgm:extLst>
    </dgm:pt>
    <dgm:pt modelId="{9BB58CAA-30E5-4912-B20E-0249099BEDAD}" type="pres">
      <dgm:prSet presAssocID="{1BFB1DF2-416B-423D-8EA1-DEAA5D966CD2}" presName="spaceRect" presStyleCnt="0"/>
      <dgm:spPr/>
    </dgm:pt>
    <dgm:pt modelId="{30BA6D05-C441-47E8-90A4-5B7D9265ED5C}" type="pres">
      <dgm:prSet presAssocID="{1BFB1DF2-416B-423D-8EA1-DEAA5D966CD2}" presName="textRect" presStyleLbl="revTx" presStyleIdx="4" presStyleCnt="5">
        <dgm:presLayoutVars>
          <dgm:chMax val="1"/>
          <dgm:chPref val="1"/>
        </dgm:presLayoutVars>
      </dgm:prSet>
      <dgm:spPr/>
    </dgm:pt>
  </dgm:ptLst>
  <dgm:cxnLst>
    <dgm:cxn modelId="{108CF907-7BD5-4E8D-87BE-5D0443364AC5}" srcId="{8EA50F32-F06E-4C2E-950A-80667A7632AB}" destId="{1BFB1DF2-416B-423D-8EA1-DEAA5D966CD2}" srcOrd="4" destOrd="0" parTransId="{4D10E680-FBC0-4318-9748-CBFCEE3B1654}" sibTransId="{133F2D88-EF55-49A1-A17A-C873665921E8}"/>
    <dgm:cxn modelId="{E222650C-B44E-48EC-91D5-F3004E479B95}" type="presOf" srcId="{8EA50F32-F06E-4C2E-950A-80667A7632AB}" destId="{58158B1A-2CBF-4CC2-86F0-489B7D0E30E4}" srcOrd="0" destOrd="0" presId="urn:microsoft.com/office/officeart/2018/2/layout/IconCircleList"/>
    <dgm:cxn modelId="{57046215-7791-4244-B486-76F0A553A445}" srcId="{8EA50F32-F06E-4C2E-950A-80667A7632AB}" destId="{F1A5F3EF-2F9E-4EDC-8F8F-8A80E3CEFCB7}" srcOrd="3" destOrd="0" parTransId="{CCD8F527-0F4A-41DA-A8D6-E21AEC0F0584}" sibTransId="{287C73DB-BFB9-4587-AF7C-7A1D0CC05B11}"/>
    <dgm:cxn modelId="{F311F517-7213-410A-B328-911E617BE24A}" type="presOf" srcId="{BDF74ED1-51A6-4C01-BCBA-D5DE41B46193}" destId="{821EF8EA-E615-4537-89FA-2CCD41EF3796}" srcOrd="0" destOrd="0" presId="urn:microsoft.com/office/officeart/2018/2/layout/IconCircleList"/>
    <dgm:cxn modelId="{05FE7920-77D8-4A4C-845E-964E5FA55145}" type="presOf" srcId="{1BFB1DF2-416B-423D-8EA1-DEAA5D966CD2}" destId="{30BA6D05-C441-47E8-90A4-5B7D9265ED5C}" srcOrd="0" destOrd="0" presId="urn:microsoft.com/office/officeart/2018/2/layout/IconCircleList"/>
    <dgm:cxn modelId="{03815D64-AB61-45A1-AFEC-E4A073009A65}" srcId="{8EA50F32-F06E-4C2E-950A-80667A7632AB}" destId="{BDF74ED1-51A6-4C01-BCBA-D5DE41B46193}" srcOrd="1" destOrd="0" parTransId="{82CAFD4D-C19E-4A25-9A51-84032B235A86}" sibTransId="{335B729E-1A49-4730-8A65-D6E6F483ED53}"/>
    <dgm:cxn modelId="{A8D40657-CF23-4399-AFAA-AF276AF3D6AC}" type="presOf" srcId="{335B729E-1A49-4730-8A65-D6E6F483ED53}" destId="{C61D117F-AFA9-4584-B1C1-D626E8C00C0B}" srcOrd="0" destOrd="0" presId="urn:microsoft.com/office/officeart/2018/2/layout/IconCircleList"/>
    <dgm:cxn modelId="{B83FC0A2-C5E6-4CF7-BECE-AB2C215DFF50}" type="presOf" srcId="{33F16D6E-5FCE-4003-8D97-EC59176D2740}" destId="{8CE4DB12-F93A-496B-90BB-5CF2028EDD89}" srcOrd="0" destOrd="0" presId="urn:microsoft.com/office/officeart/2018/2/layout/IconCircleList"/>
    <dgm:cxn modelId="{867F16AB-BDB5-4A36-9CC3-27D5CFF2D549}" type="presOf" srcId="{92DEE7DB-916B-47BC-AEFE-6FC5B1F83ED9}" destId="{8D0960D6-733E-4D05-B267-1CC845A21205}" srcOrd="0" destOrd="0" presId="urn:microsoft.com/office/officeart/2018/2/layout/IconCircleList"/>
    <dgm:cxn modelId="{1BA13CB9-65F1-4FFE-B6C3-605FD26E9D36}" type="presOf" srcId="{F1A5F3EF-2F9E-4EDC-8F8F-8A80E3CEFCB7}" destId="{5EEA64CF-ED65-445F-B728-5CF473F78971}" srcOrd="0" destOrd="0" presId="urn:microsoft.com/office/officeart/2018/2/layout/IconCircleList"/>
    <dgm:cxn modelId="{9EDB19BE-8284-427C-8DD2-0596B529D976}" type="presOf" srcId="{820FAD2D-BEA1-4957-B2D4-B5C7E2580832}" destId="{6B9DC365-7940-469D-8367-8B502DC29D77}" srcOrd="0" destOrd="0" presId="urn:microsoft.com/office/officeart/2018/2/layout/IconCircleList"/>
    <dgm:cxn modelId="{2E9DB6CB-1AAF-496D-A801-B469CE81B2A3}" srcId="{8EA50F32-F06E-4C2E-950A-80667A7632AB}" destId="{33F16D6E-5FCE-4003-8D97-EC59176D2740}" srcOrd="2" destOrd="0" parTransId="{ED581780-0846-4105-AF0A-BB11AE17D66F}" sibTransId="{533581F5-59AA-458E-BC2B-6F45CC5E5040}"/>
    <dgm:cxn modelId="{672723E8-F92B-48E2-A978-30A22AF6EDB1}" srcId="{8EA50F32-F06E-4C2E-950A-80667A7632AB}" destId="{92DEE7DB-916B-47BC-AEFE-6FC5B1F83ED9}" srcOrd="0" destOrd="0" parTransId="{64B89231-02EE-419B-9FE3-7230C8A1733E}" sibTransId="{820FAD2D-BEA1-4957-B2D4-B5C7E2580832}"/>
    <dgm:cxn modelId="{DD7F6FE8-4AC2-4395-8130-279ED6473B36}" type="presOf" srcId="{287C73DB-BFB9-4587-AF7C-7A1D0CC05B11}" destId="{BFD251A6-1638-4E77-924F-977C3B055BDD}" srcOrd="0" destOrd="0" presId="urn:microsoft.com/office/officeart/2018/2/layout/IconCircleList"/>
    <dgm:cxn modelId="{291325FB-A7B3-4026-9419-818E5E897487}" type="presOf" srcId="{533581F5-59AA-458E-BC2B-6F45CC5E5040}" destId="{52C5CB8F-6F70-4561-B924-1F9B223AE06C}" srcOrd="0" destOrd="0" presId="urn:microsoft.com/office/officeart/2018/2/layout/IconCircleList"/>
    <dgm:cxn modelId="{E35C5196-D3E4-4F14-915E-A0D709894199}" type="presParOf" srcId="{58158B1A-2CBF-4CC2-86F0-489B7D0E30E4}" destId="{6D5E12FC-F667-4CCB-A877-7D623A4422A4}" srcOrd="0" destOrd="0" presId="urn:microsoft.com/office/officeart/2018/2/layout/IconCircleList"/>
    <dgm:cxn modelId="{7EC07701-0C97-423C-9153-4DB7417CDE9D}" type="presParOf" srcId="{6D5E12FC-F667-4CCB-A877-7D623A4422A4}" destId="{9614C12D-6595-4AE8-9618-971FFC8E96FF}" srcOrd="0" destOrd="0" presId="urn:microsoft.com/office/officeart/2018/2/layout/IconCircleList"/>
    <dgm:cxn modelId="{42CE535D-49BE-4B19-9904-9511D15F13CB}" type="presParOf" srcId="{9614C12D-6595-4AE8-9618-971FFC8E96FF}" destId="{CCAD0D49-5C1F-4D97-8AB3-2D49402BD5D9}" srcOrd="0" destOrd="0" presId="urn:microsoft.com/office/officeart/2018/2/layout/IconCircleList"/>
    <dgm:cxn modelId="{5B12FD46-9EBC-422E-A569-8F0C6F6765F1}" type="presParOf" srcId="{9614C12D-6595-4AE8-9618-971FFC8E96FF}" destId="{DD93230F-0949-449E-B8F0-5E94BEF7D4B8}" srcOrd="1" destOrd="0" presId="urn:microsoft.com/office/officeart/2018/2/layout/IconCircleList"/>
    <dgm:cxn modelId="{EE33835B-CAD2-4444-87C3-3CF18C555A73}" type="presParOf" srcId="{9614C12D-6595-4AE8-9618-971FFC8E96FF}" destId="{64F85AEF-3341-438C-8761-AF24BA26B967}" srcOrd="2" destOrd="0" presId="urn:microsoft.com/office/officeart/2018/2/layout/IconCircleList"/>
    <dgm:cxn modelId="{C4081A85-7C6F-4A93-9DA1-A58CA2ECDD8D}" type="presParOf" srcId="{9614C12D-6595-4AE8-9618-971FFC8E96FF}" destId="{8D0960D6-733E-4D05-B267-1CC845A21205}" srcOrd="3" destOrd="0" presId="urn:microsoft.com/office/officeart/2018/2/layout/IconCircleList"/>
    <dgm:cxn modelId="{906425F9-0773-4E6F-885B-9CFCFBF65035}" type="presParOf" srcId="{6D5E12FC-F667-4CCB-A877-7D623A4422A4}" destId="{6B9DC365-7940-469D-8367-8B502DC29D77}" srcOrd="1" destOrd="0" presId="urn:microsoft.com/office/officeart/2018/2/layout/IconCircleList"/>
    <dgm:cxn modelId="{D0469D10-ABCC-4738-882F-7A6B63575E7D}" type="presParOf" srcId="{6D5E12FC-F667-4CCB-A877-7D623A4422A4}" destId="{EBA51BC1-62D6-4021-894E-B1138E2512FB}" srcOrd="2" destOrd="0" presId="urn:microsoft.com/office/officeart/2018/2/layout/IconCircleList"/>
    <dgm:cxn modelId="{C8E120A6-3B04-4946-8583-17D8D3EF9B4D}" type="presParOf" srcId="{EBA51BC1-62D6-4021-894E-B1138E2512FB}" destId="{467B9E9D-1A7D-4FCB-BF31-1560B018D1A9}" srcOrd="0" destOrd="0" presId="urn:microsoft.com/office/officeart/2018/2/layout/IconCircleList"/>
    <dgm:cxn modelId="{CD530726-1E0C-48E1-BE7D-3F2CDCA367CE}" type="presParOf" srcId="{EBA51BC1-62D6-4021-894E-B1138E2512FB}" destId="{AF72775D-4CFB-40BB-908B-39263159FC03}" srcOrd="1" destOrd="0" presId="urn:microsoft.com/office/officeart/2018/2/layout/IconCircleList"/>
    <dgm:cxn modelId="{A7572ECF-F9DD-4C01-AF13-67FC1EFADE38}" type="presParOf" srcId="{EBA51BC1-62D6-4021-894E-B1138E2512FB}" destId="{FC2B7DF3-57C3-4DB5-8EC9-403F59C34B67}" srcOrd="2" destOrd="0" presId="urn:microsoft.com/office/officeart/2018/2/layout/IconCircleList"/>
    <dgm:cxn modelId="{6380A796-BAB9-4AA9-B400-B8333059CCC8}" type="presParOf" srcId="{EBA51BC1-62D6-4021-894E-B1138E2512FB}" destId="{821EF8EA-E615-4537-89FA-2CCD41EF3796}" srcOrd="3" destOrd="0" presId="urn:microsoft.com/office/officeart/2018/2/layout/IconCircleList"/>
    <dgm:cxn modelId="{CC11C6FC-A47C-4D5A-B66F-4A226FA3DCF7}" type="presParOf" srcId="{6D5E12FC-F667-4CCB-A877-7D623A4422A4}" destId="{C61D117F-AFA9-4584-B1C1-D626E8C00C0B}" srcOrd="3" destOrd="0" presId="urn:microsoft.com/office/officeart/2018/2/layout/IconCircleList"/>
    <dgm:cxn modelId="{51F80A8C-9A53-453D-ABFB-65D524AA5BAC}" type="presParOf" srcId="{6D5E12FC-F667-4CCB-A877-7D623A4422A4}" destId="{8FF760E6-C7C2-4FB9-82BF-37114EF5AC11}" srcOrd="4" destOrd="0" presId="urn:microsoft.com/office/officeart/2018/2/layout/IconCircleList"/>
    <dgm:cxn modelId="{F778873D-6382-48AD-A419-3DF6422ABB51}" type="presParOf" srcId="{8FF760E6-C7C2-4FB9-82BF-37114EF5AC11}" destId="{C7ED1858-8FCE-47C6-BC12-02586ADF41F0}" srcOrd="0" destOrd="0" presId="urn:microsoft.com/office/officeart/2018/2/layout/IconCircleList"/>
    <dgm:cxn modelId="{E5075EE6-724C-4EA4-B105-F844CD218FEA}" type="presParOf" srcId="{8FF760E6-C7C2-4FB9-82BF-37114EF5AC11}" destId="{BA6BAA05-7696-47A4-9ECE-8420C97FD999}" srcOrd="1" destOrd="0" presId="urn:microsoft.com/office/officeart/2018/2/layout/IconCircleList"/>
    <dgm:cxn modelId="{87E1D164-9810-41AA-9080-1B34D8708D9A}" type="presParOf" srcId="{8FF760E6-C7C2-4FB9-82BF-37114EF5AC11}" destId="{C19F9809-B36C-40C3-9C6A-6399A202D40B}" srcOrd="2" destOrd="0" presId="urn:microsoft.com/office/officeart/2018/2/layout/IconCircleList"/>
    <dgm:cxn modelId="{23BF2E40-B9BC-40ED-AFEF-9AD5001B6C63}" type="presParOf" srcId="{8FF760E6-C7C2-4FB9-82BF-37114EF5AC11}" destId="{8CE4DB12-F93A-496B-90BB-5CF2028EDD89}" srcOrd="3" destOrd="0" presId="urn:microsoft.com/office/officeart/2018/2/layout/IconCircleList"/>
    <dgm:cxn modelId="{47F58F49-31AF-4238-959E-3AB7F2AA0E49}" type="presParOf" srcId="{6D5E12FC-F667-4CCB-A877-7D623A4422A4}" destId="{52C5CB8F-6F70-4561-B924-1F9B223AE06C}" srcOrd="5" destOrd="0" presId="urn:microsoft.com/office/officeart/2018/2/layout/IconCircleList"/>
    <dgm:cxn modelId="{8DDE52A9-F1AE-462D-99F1-B23DFD9AD6DB}" type="presParOf" srcId="{6D5E12FC-F667-4CCB-A877-7D623A4422A4}" destId="{F5F6BB55-F41C-4760-B231-BA4B1D3CDB1E}" srcOrd="6" destOrd="0" presId="urn:microsoft.com/office/officeart/2018/2/layout/IconCircleList"/>
    <dgm:cxn modelId="{502DA9BF-48F6-4CFB-A44B-338FEE510DC4}" type="presParOf" srcId="{F5F6BB55-F41C-4760-B231-BA4B1D3CDB1E}" destId="{6F02920E-1985-4117-BEF8-A7574FE7ACF5}" srcOrd="0" destOrd="0" presId="urn:microsoft.com/office/officeart/2018/2/layout/IconCircleList"/>
    <dgm:cxn modelId="{307734E1-EC68-437F-A1FE-C4EE4072A819}" type="presParOf" srcId="{F5F6BB55-F41C-4760-B231-BA4B1D3CDB1E}" destId="{C10C1E05-F1BC-406A-BA64-E79AA3897CBC}" srcOrd="1" destOrd="0" presId="urn:microsoft.com/office/officeart/2018/2/layout/IconCircleList"/>
    <dgm:cxn modelId="{DFBEB36E-44FE-4F0B-A118-B6EEE102D7B0}" type="presParOf" srcId="{F5F6BB55-F41C-4760-B231-BA4B1D3CDB1E}" destId="{1ABF41D2-0998-4650-B5CA-B163DEE0FAE4}" srcOrd="2" destOrd="0" presId="urn:microsoft.com/office/officeart/2018/2/layout/IconCircleList"/>
    <dgm:cxn modelId="{658ED784-AC8E-4773-8015-F6167FEA3893}" type="presParOf" srcId="{F5F6BB55-F41C-4760-B231-BA4B1D3CDB1E}" destId="{5EEA64CF-ED65-445F-B728-5CF473F78971}" srcOrd="3" destOrd="0" presId="urn:microsoft.com/office/officeart/2018/2/layout/IconCircleList"/>
    <dgm:cxn modelId="{24FFC22C-C339-41C7-86A5-9FEB854E947C}" type="presParOf" srcId="{6D5E12FC-F667-4CCB-A877-7D623A4422A4}" destId="{BFD251A6-1638-4E77-924F-977C3B055BDD}" srcOrd="7" destOrd="0" presId="urn:microsoft.com/office/officeart/2018/2/layout/IconCircleList"/>
    <dgm:cxn modelId="{31451C0A-ABD0-42F4-B879-B380C80DE123}" type="presParOf" srcId="{6D5E12FC-F667-4CCB-A877-7D623A4422A4}" destId="{AD6A9E25-95FF-41B1-B1AF-530F3AA255AF}" srcOrd="8" destOrd="0" presId="urn:microsoft.com/office/officeart/2018/2/layout/IconCircleList"/>
    <dgm:cxn modelId="{993F66F9-7FA8-409B-B86A-49B4B94F8D2E}" type="presParOf" srcId="{AD6A9E25-95FF-41B1-B1AF-530F3AA255AF}" destId="{24EDF0AD-813B-434A-B2C7-15BF42203EC3}" srcOrd="0" destOrd="0" presId="urn:microsoft.com/office/officeart/2018/2/layout/IconCircleList"/>
    <dgm:cxn modelId="{40E5161C-7E7F-4712-A5AC-614AB6C36487}" type="presParOf" srcId="{AD6A9E25-95FF-41B1-B1AF-530F3AA255AF}" destId="{AA98E55A-75BC-49B3-B10C-C622618BBE85}" srcOrd="1" destOrd="0" presId="urn:microsoft.com/office/officeart/2018/2/layout/IconCircleList"/>
    <dgm:cxn modelId="{07C92128-3755-44D4-B741-294A2930C4C0}" type="presParOf" srcId="{AD6A9E25-95FF-41B1-B1AF-530F3AA255AF}" destId="{9BB58CAA-30E5-4912-B20E-0249099BEDAD}" srcOrd="2" destOrd="0" presId="urn:microsoft.com/office/officeart/2018/2/layout/IconCircleList"/>
    <dgm:cxn modelId="{AB49C54A-1D89-487C-A004-6A4170AC2639}" type="presParOf" srcId="{AD6A9E25-95FF-41B1-B1AF-530F3AA255AF}" destId="{30BA6D05-C441-47E8-90A4-5B7D9265ED5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69F7E2-15FA-440B-84A1-E38050AE2850}"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63B2382D-7F7F-4807-A346-7D4666EBCEE9}">
      <dgm:prSet/>
      <dgm:spPr/>
      <dgm:t>
        <a:bodyPr/>
        <a:lstStyle/>
        <a:p>
          <a:r>
            <a:rPr lang="it-IT" dirty="0"/>
            <a:t>Va prevista la figura dell’amministratore e delle pagine a lui dedicate, accessibili solo ed unicamente quando si effettua un login con credenziali amministratore.</a:t>
          </a:r>
          <a:endParaRPr lang="en-US" dirty="0"/>
        </a:p>
      </dgm:t>
    </dgm:pt>
    <dgm:pt modelId="{2D232FD5-8F09-4DD1-AAAA-3CD0EABCFB9D}" type="parTrans" cxnId="{6E01C2F9-14A9-4F7E-B197-98EBB61BE1AC}">
      <dgm:prSet/>
      <dgm:spPr/>
      <dgm:t>
        <a:bodyPr/>
        <a:lstStyle/>
        <a:p>
          <a:endParaRPr lang="en-US"/>
        </a:p>
      </dgm:t>
    </dgm:pt>
    <dgm:pt modelId="{B48FF31B-E205-45B9-86DB-52D1D800DF1A}" type="sibTrans" cxnId="{6E01C2F9-14A9-4F7E-B197-98EBB61BE1AC}">
      <dgm:prSet phldrT="01" phldr="0"/>
      <dgm:spPr/>
      <dgm:t>
        <a:bodyPr/>
        <a:lstStyle/>
        <a:p>
          <a:r>
            <a:rPr lang="en-US"/>
            <a:t>01</a:t>
          </a:r>
        </a:p>
      </dgm:t>
    </dgm:pt>
    <dgm:pt modelId="{3FD4FD21-1F9A-40E9-8E5A-0BE3F17F4814}">
      <dgm:prSet/>
      <dgm:spPr/>
      <dgm:t>
        <a:bodyPr/>
        <a:lstStyle/>
        <a:p>
          <a:r>
            <a:rPr lang="it-IT" dirty="0"/>
            <a:t>L’amministratore deve poter inserire, modificare, visualizzare e cancellare gli elementi dal catalogo.</a:t>
          </a:r>
          <a:endParaRPr lang="en-US" dirty="0"/>
        </a:p>
      </dgm:t>
    </dgm:pt>
    <dgm:pt modelId="{188AFC64-70C9-4C76-820A-E4A12FF9424C}" type="parTrans" cxnId="{FC9AF9B3-0815-49F1-81E6-9007F4130DC3}">
      <dgm:prSet/>
      <dgm:spPr/>
      <dgm:t>
        <a:bodyPr/>
        <a:lstStyle/>
        <a:p>
          <a:endParaRPr lang="en-US"/>
        </a:p>
      </dgm:t>
    </dgm:pt>
    <dgm:pt modelId="{C4E7AAD9-25E0-4597-9419-783DA5EE6CC0}" type="sibTrans" cxnId="{FC9AF9B3-0815-49F1-81E6-9007F4130DC3}">
      <dgm:prSet phldrT="02" phldr="0"/>
      <dgm:spPr/>
      <dgm:t>
        <a:bodyPr/>
        <a:lstStyle/>
        <a:p>
          <a:r>
            <a:rPr lang="en-US"/>
            <a:t>02</a:t>
          </a:r>
        </a:p>
      </dgm:t>
    </dgm:pt>
    <dgm:pt modelId="{DAE1128D-B8E8-4ABF-83BA-4A12C9B4D650}">
      <dgm:prSet/>
      <dgm:spPr/>
      <dgm:t>
        <a:bodyPr/>
        <a:lstStyle/>
        <a:p>
          <a:r>
            <a:rPr lang="it-IT" dirty="0"/>
            <a:t>L’amministratore deve poter visualizzare gli ordini effettuati dai clienti e modificarne le informazioni.</a:t>
          </a:r>
          <a:endParaRPr lang="en-US" dirty="0"/>
        </a:p>
      </dgm:t>
    </dgm:pt>
    <dgm:pt modelId="{D103FD20-71B7-4CED-9CB6-370C6B49AA90}" type="parTrans" cxnId="{A186C0C5-4B3A-4247-9225-F2945340D0F0}">
      <dgm:prSet/>
      <dgm:spPr/>
      <dgm:t>
        <a:bodyPr/>
        <a:lstStyle/>
        <a:p>
          <a:endParaRPr lang="en-US"/>
        </a:p>
      </dgm:t>
    </dgm:pt>
    <dgm:pt modelId="{6263ECE2-A559-45B0-89DB-11C2E03641B7}" type="sibTrans" cxnId="{A186C0C5-4B3A-4247-9225-F2945340D0F0}">
      <dgm:prSet phldrT="03" phldr="0"/>
      <dgm:spPr/>
      <dgm:t>
        <a:bodyPr/>
        <a:lstStyle/>
        <a:p>
          <a:r>
            <a:rPr lang="en-US"/>
            <a:t>03</a:t>
          </a:r>
        </a:p>
      </dgm:t>
    </dgm:pt>
    <dgm:pt modelId="{FCA280FF-B738-A346-A75D-22E5DFA62473}" type="pres">
      <dgm:prSet presAssocID="{8F69F7E2-15FA-440B-84A1-E38050AE2850}" presName="Name0" presStyleCnt="0">
        <dgm:presLayoutVars>
          <dgm:animLvl val="lvl"/>
          <dgm:resizeHandles val="exact"/>
        </dgm:presLayoutVars>
      </dgm:prSet>
      <dgm:spPr/>
    </dgm:pt>
    <dgm:pt modelId="{766D926F-2D8C-5F4E-AE59-A5F314EABF07}" type="pres">
      <dgm:prSet presAssocID="{63B2382D-7F7F-4807-A346-7D4666EBCEE9}" presName="compositeNode" presStyleCnt="0">
        <dgm:presLayoutVars>
          <dgm:bulletEnabled val="1"/>
        </dgm:presLayoutVars>
      </dgm:prSet>
      <dgm:spPr/>
    </dgm:pt>
    <dgm:pt modelId="{06511140-7197-9045-B4BD-EFD86D70AD56}" type="pres">
      <dgm:prSet presAssocID="{63B2382D-7F7F-4807-A346-7D4666EBCEE9}" presName="bgRect" presStyleLbl="alignNode1" presStyleIdx="0" presStyleCnt="3"/>
      <dgm:spPr/>
    </dgm:pt>
    <dgm:pt modelId="{435E1C2A-E51A-B842-8720-3513EC45083B}" type="pres">
      <dgm:prSet presAssocID="{B48FF31B-E205-45B9-86DB-52D1D800DF1A}" presName="sibTransNodeRect" presStyleLbl="alignNode1" presStyleIdx="0" presStyleCnt="3">
        <dgm:presLayoutVars>
          <dgm:chMax val="0"/>
          <dgm:bulletEnabled val="1"/>
        </dgm:presLayoutVars>
      </dgm:prSet>
      <dgm:spPr/>
    </dgm:pt>
    <dgm:pt modelId="{B30AC455-ACBC-484C-B6DA-F59007C50995}" type="pres">
      <dgm:prSet presAssocID="{63B2382D-7F7F-4807-A346-7D4666EBCEE9}" presName="nodeRect" presStyleLbl="alignNode1" presStyleIdx="0" presStyleCnt="3">
        <dgm:presLayoutVars>
          <dgm:bulletEnabled val="1"/>
        </dgm:presLayoutVars>
      </dgm:prSet>
      <dgm:spPr/>
    </dgm:pt>
    <dgm:pt modelId="{6118BF78-0CCB-BD41-B568-728CF7F75693}" type="pres">
      <dgm:prSet presAssocID="{B48FF31B-E205-45B9-86DB-52D1D800DF1A}" presName="sibTrans" presStyleCnt="0"/>
      <dgm:spPr/>
    </dgm:pt>
    <dgm:pt modelId="{EACC82D3-911C-F343-85C8-839204A61365}" type="pres">
      <dgm:prSet presAssocID="{3FD4FD21-1F9A-40E9-8E5A-0BE3F17F4814}" presName="compositeNode" presStyleCnt="0">
        <dgm:presLayoutVars>
          <dgm:bulletEnabled val="1"/>
        </dgm:presLayoutVars>
      </dgm:prSet>
      <dgm:spPr/>
    </dgm:pt>
    <dgm:pt modelId="{85BC7FE5-4A5B-374F-91E6-4432C8018623}" type="pres">
      <dgm:prSet presAssocID="{3FD4FD21-1F9A-40E9-8E5A-0BE3F17F4814}" presName="bgRect" presStyleLbl="alignNode1" presStyleIdx="1" presStyleCnt="3"/>
      <dgm:spPr/>
    </dgm:pt>
    <dgm:pt modelId="{6591BBF2-568C-A140-ACE2-DEB4C8B6580E}" type="pres">
      <dgm:prSet presAssocID="{C4E7AAD9-25E0-4597-9419-783DA5EE6CC0}" presName="sibTransNodeRect" presStyleLbl="alignNode1" presStyleIdx="1" presStyleCnt="3">
        <dgm:presLayoutVars>
          <dgm:chMax val="0"/>
          <dgm:bulletEnabled val="1"/>
        </dgm:presLayoutVars>
      </dgm:prSet>
      <dgm:spPr/>
    </dgm:pt>
    <dgm:pt modelId="{009E3F71-B249-2E4A-AC53-1E24883173E1}" type="pres">
      <dgm:prSet presAssocID="{3FD4FD21-1F9A-40E9-8E5A-0BE3F17F4814}" presName="nodeRect" presStyleLbl="alignNode1" presStyleIdx="1" presStyleCnt="3">
        <dgm:presLayoutVars>
          <dgm:bulletEnabled val="1"/>
        </dgm:presLayoutVars>
      </dgm:prSet>
      <dgm:spPr/>
    </dgm:pt>
    <dgm:pt modelId="{D04228F2-61CA-0740-961A-7F377CEEC269}" type="pres">
      <dgm:prSet presAssocID="{C4E7AAD9-25E0-4597-9419-783DA5EE6CC0}" presName="sibTrans" presStyleCnt="0"/>
      <dgm:spPr/>
    </dgm:pt>
    <dgm:pt modelId="{28B5E0FB-25A4-3E4D-BE2B-318CEDFE7195}" type="pres">
      <dgm:prSet presAssocID="{DAE1128D-B8E8-4ABF-83BA-4A12C9B4D650}" presName="compositeNode" presStyleCnt="0">
        <dgm:presLayoutVars>
          <dgm:bulletEnabled val="1"/>
        </dgm:presLayoutVars>
      </dgm:prSet>
      <dgm:spPr/>
    </dgm:pt>
    <dgm:pt modelId="{5940D52A-FD32-B947-B096-5ACEEC9C3DF5}" type="pres">
      <dgm:prSet presAssocID="{DAE1128D-B8E8-4ABF-83BA-4A12C9B4D650}" presName="bgRect" presStyleLbl="alignNode1" presStyleIdx="2" presStyleCnt="3"/>
      <dgm:spPr/>
    </dgm:pt>
    <dgm:pt modelId="{089AECA5-8452-D446-BFED-B64ADEB4CE95}" type="pres">
      <dgm:prSet presAssocID="{6263ECE2-A559-45B0-89DB-11C2E03641B7}" presName="sibTransNodeRect" presStyleLbl="alignNode1" presStyleIdx="2" presStyleCnt="3">
        <dgm:presLayoutVars>
          <dgm:chMax val="0"/>
          <dgm:bulletEnabled val="1"/>
        </dgm:presLayoutVars>
      </dgm:prSet>
      <dgm:spPr/>
    </dgm:pt>
    <dgm:pt modelId="{04BDE91B-5DD9-8A45-A40D-195D8466FEA5}" type="pres">
      <dgm:prSet presAssocID="{DAE1128D-B8E8-4ABF-83BA-4A12C9B4D650}" presName="nodeRect" presStyleLbl="alignNode1" presStyleIdx="2" presStyleCnt="3">
        <dgm:presLayoutVars>
          <dgm:bulletEnabled val="1"/>
        </dgm:presLayoutVars>
      </dgm:prSet>
      <dgm:spPr/>
    </dgm:pt>
  </dgm:ptLst>
  <dgm:cxnLst>
    <dgm:cxn modelId="{59FC5804-CE2A-5A45-BFC7-D2C01C547AC0}" type="presOf" srcId="{B48FF31B-E205-45B9-86DB-52D1D800DF1A}" destId="{435E1C2A-E51A-B842-8720-3513EC45083B}" srcOrd="0" destOrd="0" presId="urn:microsoft.com/office/officeart/2016/7/layout/LinearBlockProcessNumbered"/>
    <dgm:cxn modelId="{E5E4373E-1979-C042-A6B5-78568BB29A47}" type="presOf" srcId="{8F69F7E2-15FA-440B-84A1-E38050AE2850}" destId="{FCA280FF-B738-A346-A75D-22E5DFA62473}" srcOrd="0" destOrd="0" presId="urn:microsoft.com/office/officeart/2016/7/layout/LinearBlockProcessNumbered"/>
    <dgm:cxn modelId="{D6F86249-80AE-0548-AE25-0711319732E6}" type="presOf" srcId="{3FD4FD21-1F9A-40E9-8E5A-0BE3F17F4814}" destId="{009E3F71-B249-2E4A-AC53-1E24883173E1}" srcOrd="1" destOrd="0" presId="urn:microsoft.com/office/officeart/2016/7/layout/LinearBlockProcessNumbered"/>
    <dgm:cxn modelId="{89074C4B-F1AC-3349-A094-CC797923563E}" type="presOf" srcId="{63B2382D-7F7F-4807-A346-7D4666EBCEE9}" destId="{B30AC455-ACBC-484C-B6DA-F59007C50995}" srcOrd="1" destOrd="0" presId="urn:microsoft.com/office/officeart/2016/7/layout/LinearBlockProcessNumbered"/>
    <dgm:cxn modelId="{0AE0466D-62F6-6246-BC27-5005BF38C6AD}" type="presOf" srcId="{3FD4FD21-1F9A-40E9-8E5A-0BE3F17F4814}" destId="{85BC7FE5-4A5B-374F-91E6-4432C8018623}" srcOrd="0" destOrd="0" presId="urn:microsoft.com/office/officeart/2016/7/layout/LinearBlockProcessNumbered"/>
    <dgm:cxn modelId="{3E24407C-90EA-DD44-B4BC-75C04A7492B5}" type="presOf" srcId="{63B2382D-7F7F-4807-A346-7D4666EBCEE9}" destId="{06511140-7197-9045-B4BD-EFD86D70AD56}" srcOrd="0" destOrd="0" presId="urn:microsoft.com/office/officeart/2016/7/layout/LinearBlockProcessNumbered"/>
    <dgm:cxn modelId="{6224D89E-B0F1-BD41-AAED-07F8EA6D1F8E}" type="presOf" srcId="{6263ECE2-A559-45B0-89DB-11C2E03641B7}" destId="{089AECA5-8452-D446-BFED-B64ADEB4CE95}" srcOrd="0" destOrd="0" presId="urn:microsoft.com/office/officeart/2016/7/layout/LinearBlockProcessNumbered"/>
    <dgm:cxn modelId="{FC9AF9B3-0815-49F1-81E6-9007F4130DC3}" srcId="{8F69F7E2-15FA-440B-84A1-E38050AE2850}" destId="{3FD4FD21-1F9A-40E9-8E5A-0BE3F17F4814}" srcOrd="1" destOrd="0" parTransId="{188AFC64-70C9-4C76-820A-E4A12FF9424C}" sibTransId="{C4E7AAD9-25E0-4597-9419-783DA5EE6CC0}"/>
    <dgm:cxn modelId="{A186C0C5-4B3A-4247-9225-F2945340D0F0}" srcId="{8F69F7E2-15FA-440B-84A1-E38050AE2850}" destId="{DAE1128D-B8E8-4ABF-83BA-4A12C9B4D650}" srcOrd="2" destOrd="0" parTransId="{D103FD20-71B7-4CED-9CB6-370C6B49AA90}" sibTransId="{6263ECE2-A559-45B0-89DB-11C2E03641B7}"/>
    <dgm:cxn modelId="{4952CDEB-9C77-F649-B57C-D72DF111EC1B}" type="presOf" srcId="{C4E7AAD9-25E0-4597-9419-783DA5EE6CC0}" destId="{6591BBF2-568C-A140-ACE2-DEB4C8B6580E}" srcOrd="0" destOrd="0" presId="urn:microsoft.com/office/officeart/2016/7/layout/LinearBlockProcessNumbered"/>
    <dgm:cxn modelId="{3D541CF4-AF75-ED44-B6BD-C1476AC36036}" type="presOf" srcId="{DAE1128D-B8E8-4ABF-83BA-4A12C9B4D650}" destId="{5940D52A-FD32-B947-B096-5ACEEC9C3DF5}" srcOrd="0" destOrd="0" presId="urn:microsoft.com/office/officeart/2016/7/layout/LinearBlockProcessNumbered"/>
    <dgm:cxn modelId="{0CF19CF9-7471-B546-B3AE-6FEC44489647}" type="presOf" srcId="{DAE1128D-B8E8-4ABF-83BA-4A12C9B4D650}" destId="{04BDE91B-5DD9-8A45-A40D-195D8466FEA5}" srcOrd="1" destOrd="0" presId="urn:microsoft.com/office/officeart/2016/7/layout/LinearBlockProcessNumbered"/>
    <dgm:cxn modelId="{6E01C2F9-14A9-4F7E-B197-98EBB61BE1AC}" srcId="{8F69F7E2-15FA-440B-84A1-E38050AE2850}" destId="{63B2382D-7F7F-4807-A346-7D4666EBCEE9}" srcOrd="0" destOrd="0" parTransId="{2D232FD5-8F09-4DD1-AAAA-3CD0EABCFB9D}" sibTransId="{B48FF31B-E205-45B9-86DB-52D1D800DF1A}"/>
    <dgm:cxn modelId="{886B2EBA-D146-7C40-BC36-7FA48EBDA4C8}" type="presParOf" srcId="{FCA280FF-B738-A346-A75D-22E5DFA62473}" destId="{766D926F-2D8C-5F4E-AE59-A5F314EABF07}" srcOrd="0" destOrd="0" presId="urn:microsoft.com/office/officeart/2016/7/layout/LinearBlockProcessNumbered"/>
    <dgm:cxn modelId="{B9B734EA-55B3-DC42-822D-B36816CDAA8B}" type="presParOf" srcId="{766D926F-2D8C-5F4E-AE59-A5F314EABF07}" destId="{06511140-7197-9045-B4BD-EFD86D70AD56}" srcOrd="0" destOrd="0" presId="urn:microsoft.com/office/officeart/2016/7/layout/LinearBlockProcessNumbered"/>
    <dgm:cxn modelId="{46898860-C1E2-8E49-BDA3-974DBFC646E9}" type="presParOf" srcId="{766D926F-2D8C-5F4E-AE59-A5F314EABF07}" destId="{435E1C2A-E51A-B842-8720-3513EC45083B}" srcOrd="1" destOrd="0" presId="urn:microsoft.com/office/officeart/2016/7/layout/LinearBlockProcessNumbered"/>
    <dgm:cxn modelId="{5D3465A3-6A39-1944-AA1F-CB60101974EC}" type="presParOf" srcId="{766D926F-2D8C-5F4E-AE59-A5F314EABF07}" destId="{B30AC455-ACBC-484C-B6DA-F59007C50995}" srcOrd="2" destOrd="0" presId="urn:microsoft.com/office/officeart/2016/7/layout/LinearBlockProcessNumbered"/>
    <dgm:cxn modelId="{4AED9232-2351-C641-9EB0-59716A4E796D}" type="presParOf" srcId="{FCA280FF-B738-A346-A75D-22E5DFA62473}" destId="{6118BF78-0CCB-BD41-B568-728CF7F75693}" srcOrd="1" destOrd="0" presId="urn:microsoft.com/office/officeart/2016/7/layout/LinearBlockProcessNumbered"/>
    <dgm:cxn modelId="{8C0E66D1-2DDB-5243-A3D0-BA9C0BFCEB86}" type="presParOf" srcId="{FCA280FF-B738-A346-A75D-22E5DFA62473}" destId="{EACC82D3-911C-F343-85C8-839204A61365}" srcOrd="2" destOrd="0" presId="urn:microsoft.com/office/officeart/2016/7/layout/LinearBlockProcessNumbered"/>
    <dgm:cxn modelId="{55B179AB-0CB5-FF49-A450-2FE95A8E76D0}" type="presParOf" srcId="{EACC82D3-911C-F343-85C8-839204A61365}" destId="{85BC7FE5-4A5B-374F-91E6-4432C8018623}" srcOrd="0" destOrd="0" presId="urn:microsoft.com/office/officeart/2016/7/layout/LinearBlockProcessNumbered"/>
    <dgm:cxn modelId="{9DFFFB23-55FB-3142-8DC7-6E5629D29621}" type="presParOf" srcId="{EACC82D3-911C-F343-85C8-839204A61365}" destId="{6591BBF2-568C-A140-ACE2-DEB4C8B6580E}" srcOrd="1" destOrd="0" presId="urn:microsoft.com/office/officeart/2016/7/layout/LinearBlockProcessNumbered"/>
    <dgm:cxn modelId="{F4D87B5A-BEDE-9847-8D2E-075CF8DF6321}" type="presParOf" srcId="{EACC82D3-911C-F343-85C8-839204A61365}" destId="{009E3F71-B249-2E4A-AC53-1E24883173E1}" srcOrd="2" destOrd="0" presId="urn:microsoft.com/office/officeart/2016/7/layout/LinearBlockProcessNumbered"/>
    <dgm:cxn modelId="{AC0324E3-6CFC-BC4F-8166-4934119A08DC}" type="presParOf" srcId="{FCA280FF-B738-A346-A75D-22E5DFA62473}" destId="{D04228F2-61CA-0740-961A-7F377CEEC269}" srcOrd="3" destOrd="0" presId="urn:microsoft.com/office/officeart/2016/7/layout/LinearBlockProcessNumbered"/>
    <dgm:cxn modelId="{77955DDB-F413-ED4E-9E6B-9E7D77D893D3}" type="presParOf" srcId="{FCA280FF-B738-A346-A75D-22E5DFA62473}" destId="{28B5E0FB-25A4-3E4D-BE2B-318CEDFE7195}" srcOrd="4" destOrd="0" presId="urn:microsoft.com/office/officeart/2016/7/layout/LinearBlockProcessNumbered"/>
    <dgm:cxn modelId="{275812D2-0260-0442-8A34-66825CC7A664}" type="presParOf" srcId="{28B5E0FB-25A4-3E4D-BE2B-318CEDFE7195}" destId="{5940D52A-FD32-B947-B096-5ACEEC9C3DF5}" srcOrd="0" destOrd="0" presId="urn:microsoft.com/office/officeart/2016/7/layout/LinearBlockProcessNumbered"/>
    <dgm:cxn modelId="{7C474BB4-0507-ED4B-B081-69ABCE0D5566}" type="presParOf" srcId="{28B5E0FB-25A4-3E4D-BE2B-318CEDFE7195}" destId="{089AECA5-8452-D446-BFED-B64ADEB4CE95}" srcOrd="1" destOrd="0" presId="urn:microsoft.com/office/officeart/2016/7/layout/LinearBlockProcessNumbered"/>
    <dgm:cxn modelId="{7BAC7DD4-9F3F-6547-9BC9-2AACEFE13E66}" type="presParOf" srcId="{28B5E0FB-25A4-3E4D-BE2B-318CEDFE7195}" destId="{04BDE91B-5DD9-8A45-A40D-195D8466FEA5}"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2AB621-5B25-4734-8295-8F6FD344C82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3C8978B-83FB-4FFC-A8FE-7B9064222FC1}">
      <dgm:prSet/>
      <dgm:spPr/>
      <dgm:t>
        <a:bodyPr/>
        <a:lstStyle/>
        <a:p>
          <a:r>
            <a:rPr lang="it-IT" dirty="0"/>
            <a:t>Ciascuna delle classi precedentemente elencate è associata a un corrispondente </a:t>
          </a:r>
          <a:r>
            <a:rPr lang="it-IT" b="1" dirty="0"/>
            <a:t>DAO (Data Access Object)</a:t>
          </a:r>
          <a:r>
            <a:rPr lang="it-IT" dirty="0"/>
            <a:t>, il quale è responsabile della gestione e manipolazione dei dati persistenti nel database. Le operazioni tipiche comprendono la creazione, la lettura, l’aggiornamento e la cancellazione dei record relativi all’entità di riferimento.</a:t>
          </a:r>
          <a:endParaRPr lang="en-US" dirty="0"/>
        </a:p>
      </dgm:t>
    </dgm:pt>
    <dgm:pt modelId="{49F1B0B9-5841-48E3-994A-BEAEC47712B5}" type="parTrans" cxnId="{2B760FEC-4594-433A-A53C-1A1642A417C5}">
      <dgm:prSet/>
      <dgm:spPr/>
      <dgm:t>
        <a:bodyPr/>
        <a:lstStyle/>
        <a:p>
          <a:endParaRPr lang="en-US"/>
        </a:p>
      </dgm:t>
    </dgm:pt>
    <dgm:pt modelId="{51856335-77D9-4EE9-833C-2F52339B77D7}" type="sibTrans" cxnId="{2B760FEC-4594-433A-A53C-1A1642A417C5}">
      <dgm:prSet/>
      <dgm:spPr/>
      <dgm:t>
        <a:bodyPr/>
        <a:lstStyle/>
        <a:p>
          <a:endParaRPr lang="en-US"/>
        </a:p>
      </dgm:t>
    </dgm:pt>
    <dgm:pt modelId="{EF33CAD7-D028-42D6-BCA3-37AB7154E94E}">
      <dgm:prSet/>
      <dgm:spPr/>
      <dgm:t>
        <a:bodyPr/>
        <a:lstStyle/>
        <a:p>
          <a:r>
            <a:rPr lang="it-IT" dirty="0"/>
            <a:t>Per quanto riguarda la classe </a:t>
          </a:r>
          <a:r>
            <a:rPr lang="it-IT" b="1" dirty="0"/>
            <a:t>Carrello</a:t>
          </a:r>
          <a:r>
            <a:rPr lang="it-IT" dirty="0"/>
            <a:t>, che non rappresenta un’entità persistente nel database, le operazioni di gestione vengono delegate a un apposito </a:t>
          </a:r>
          <a:r>
            <a:rPr lang="it-IT" b="1" dirty="0"/>
            <a:t>service</a:t>
          </a:r>
          <a:r>
            <a:rPr lang="it-IT" dirty="0"/>
            <a:t>. Questo service è responsabile della manipolazione del contenuto del carrello, memorizzato come </a:t>
          </a:r>
          <a:r>
            <a:rPr lang="it-IT" b="1" dirty="0" err="1"/>
            <a:t>ArrayList</a:t>
          </a:r>
          <a:r>
            <a:rPr lang="it-IT" b="1" dirty="0"/>
            <a:t> nella sessione HTTP</a:t>
          </a:r>
          <a:r>
            <a:rPr lang="it-IT" dirty="0"/>
            <a:t>, permettendo di eseguire le operazioni in modo efficiente senza necessità di persistenti operazioni sul database. Tale approccio riduce il carico sul database e previene possibili problemi di consistenza dei dati durante la navigazione dell’utente.</a:t>
          </a:r>
          <a:endParaRPr lang="en-US" dirty="0"/>
        </a:p>
      </dgm:t>
    </dgm:pt>
    <dgm:pt modelId="{31F0C4A7-5B1A-4032-A118-34ABBEDD6F2E}" type="parTrans" cxnId="{156D9B55-3107-4941-B6A5-5EB50995E3C0}">
      <dgm:prSet/>
      <dgm:spPr/>
      <dgm:t>
        <a:bodyPr/>
        <a:lstStyle/>
        <a:p>
          <a:endParaRPr lang="en-US"/>
        </a:p>
      </dgm:t>
    </dgm:pt>
    <dgm:pt modelId="{59E55133-CC84-45A3-8C42-F26BE82DA878}" type="sibTrans" cxnId="{156D9B55-3107-4941-B6A5-5EB50995E3C0}">
      <dgm:prSet/>
      <dgm:spPr/>
      <dgm:t>
        <a:bodyPr/>
        <a:lstStyle/>
        <a:p>
          <a:endParaRPr lang="en-US"/>
        </a:p>
      </dgm:t>
    </dgm:pt>
    <dgm:pt modelId="{D3FC2A9A-29BD-4A7A-BD5F-956C79E252BD}" type="pres">
      <dgm:prSet presAssocID="{302AB621-5B25-4734-8295-8F6FD344C824}" presName="root" presStyleCnt="0">
        <dgm:presLayoutVars>
          <dgm:dir/>
          <dgm:resizeHandles val="exact"/>
        </dgm:presLayoutVars>
      </dgm:prSet>
      <dgm:spPr/>
    </dgm:pt>
    <dgm:pt modelId="{96AD670E-9FC0-4D61-B3CB-A24424ED45AB}" type="pres">
      <dgm:prSet presAssocID="{13C8978B-83FB-4FFC-A8FE-7B9064222FC1}" presName="compNode" presStyleCnt="0"/>
      <dgm:spPr/>
    </dgm:pt>
    <dgm:pt modelId="{2194C4AC-AAEA-4D4E-831F-F291A13013A4}" type="pres">
      <dgm:prSet presAssocID="{13C8978B-83FB-4FFC-A8FE-7B9064222FC1}" presName="bgRect" presStyleLbl="bgShp" presStyleIdx="0" presStyleCnt="2"/>
      <dgm:spPr/>
    </dgm:pt>
    <dgm:pt modelId="{87724A3E-5DF3-4655-9885-1A2E984AFFDA}" type="pres">
      <dgm:prSet presAssocID="{13C8978B-83FB-4FFC-A8FE-7B9064222FC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ro"/>
        </a:ext>
      </dgm:extLst>
    </dgm:pt>
    <dgm:pt modelId="{6B26AB50-5F52-4A40-A3BE-876197AA5C29}" type="pres">
      <dgm:prSet presAssocID="{13C8978B-83FB-4FFC-A8FE-7B9064222FC1}" presName="spaceRect" presStyleCnt="0"/>
      <dgm:spPr/>
    </dgm:pt>
    <dgm:pt modelId="{D308C7EC-1551-41A3-85C2-C5C314FC5491}" type="pres">
      <dgm:prSet presAssocID="{13C8978B-83FB-4FFC-A8FE-7B9064222FC1}" presName="parTx" presStyleLbl="revTx" presStyleIdx="0" presStyleCnt="2">
        <dgm:presLayoutVars>
          <dgm:chMax val="0"/>
          <dgm:chPref val="0"/>
        </dgm:presLayoutVars>
      </dgm:prSet>
      <dgm:spPr/>
    </dgm:pt>
    <dgm:pt modelId="{F28887BE-8057-473E-A76B-07175D1DCF3C}" type="pres">
      <dgm:prSet presAssocID="{51856335-77D9-4EE9-833C-2F52339B77D7}" presName="sibTrans" presStyleCnt="0"/>
      <dgm:spPr/>
    </dgm:pt>
    <dgm:pt modelId="{85B498B0-6AB7-4BEF-8AEF-A7E966FB6343}" type="pres">
      <dgm:prSet presAssocID="{EF33CAD7-D028-42D6-BCA3-37AB7154E94E}" presName="compNode" presStyleCnt="0"/>
      <dgm:spPr/>
    </dgm:pt>
    <dgm:pt modelId="{8CC2367D-34C5-4F44-895B-5C20B67FF26F}" type="pres">
      <dgm:prSet presAssocID="{EF33CAD7-D028-42D6-BCA3-37AB7154E94E}" presName="bgRect" presStyleLbl="bgShp" presStyleIdx="1" presStyleCnt="2"/>
      <dgm:spPr/>
    </dgm:pt>
    <dgm:pt modelId="{8C9F9D02-9029-41D9-9044-C3622DE1567B}" type="pres">
      <dgm:prSet presAssocID="{EF33CAD7-D028-42D6-BCA3-37AB7154E94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x trolley"/>
        </a:ext>
      </dgm:extLst>
    </dgm:pt>
    <dgm:pt modelId="{0E371821-97FB-4B1D-B501-040C25BB0749}" type="pres">
      <dgm:prSet presAssocID="{EF33CAD7-D028-42D6-BCA3-37AB7154E94E}" presName="spaceRect" presStyleCnt="0"/>
      <dgm:spPr/>
    </dgm:pt>
    <dgm:pt modelId="{F9330360-4912-44FC-89FF-F6A521DBBFAE}" type="pres">
      <dgm:prSet presAssocID="{EF33CAD7-D028-42D6-BCA3-37AB7154E94E}" presName="parTx" presStyleLbl="revTx" presStyleIdx="1" presStyleCnt="2">
        <dgm:presLayoutVars>
          <dgm:chMax val="0"/>
          <dgm:chPref val="0"/>
        </dgm:presLayoutVars>
      </dgm:prSet>
      <dgm:spPr/>
    </dgm:pt>
  </dgm:ptLst>
  <dgm:cxnLst>
    <dgm:cxn modelId="{4D4BC744-150A-4345-AE9C-F6CAA9FF5A4B}" type="presOf" srcId="{302AB621-5B25-4734-8295-8F6FD344C824}" destId="{D3FC2A9A-29BD-4A7A-BD5F-956C79E252BD}" srcOrd="0" destOrd="0" presId="urn:microsoft.com/office/officeart/2018/2/layout/IconVerticalSolidList"/>
    <dgm:cxn modelId="{1A2C6F47-4695-489E-B5B4-41CE63FA1026}" type="presOf" srcId="{EF33CAD7-D028-42D6-BCA3-37AB7154E94E}" destId="{F9330360-4912-44FC-89FF-F6A521DBBFAE}" srcOrd="0" destOrd="0" presId="urn:microsoft.com/office/officeart/2018/2/layout/IconVerticalSolidList"/>
    <dgm:cxn modelId="{156D9B55-3107-4941-B6A5-5EB50995E3C0}" srcId="{302AB621-5B25-4734-8295-8F6FD344C824}" destId="{EF33CAD7-D028-42D6-BCA3-37AB7154E94E}" srcOrd="1" destOrd="0" parTransId="{31F0C4A7-5B1A-4032-A118-34ABBEDD6F2E}" sibTransId="{59E55133-CC84-45A3-8C42-F26BE82DA878}"/>
    <dgm:cxn modelId="{F79E5A7D-79B9-45AE-8AB6-2A1EC935ABDC}" type="presOf" srcId="{13C8978B-83FB-4FFC-A8FE-7B9064222FC1}" destId="{D308C7EC-1551-41A3-85C2-C5C314FC5491}" srcOrd="0" destOrd="0" presId="urn:microsoft.com/office/officeart/2018/2/layout/IconVerticalSolidList"/>
    <dgm:cxn modelId="{2B760FEC-4594-433A-A53C-1A1642A417C5}" srcId="{302AB621-5B25-4734-8295-8F6FD344C824}" destId="{13C8978B-83FB-4FFC-A8FE-7B9064222FC1}" srcOrd="0" destOrd="0" parTransId="{49F1B0B9-5841-48E3-994A-BEAEC47712B5}" sibTransId="{51856335-77D9-4EE9-833C-2F52339B77D7}"/>
    <dgm:cxn modelId="{343F2A41-ED17-4766-9AF2-5A318656E0AB}" type="presParOf" srcId="{D3FC2A9A-29BD-4A7A-BD5F-956C79E252BD}" destId="{96AD670E-9FC0-4D61-B3CB-A24424ED45AB}" srcOrd="0" destOrd="0" presId="urn:microsoft.com/office/officeart/2018/2/layout/IconVerticalSolidList"/>
    <dgm:cxn modelId="{6D0864CB-76D4-4352-BA7A-CB7EBC70BD66}" type="presParOf" srcId="{96AD670E-9FC0-4D61-B3CB-A24424ED45AB}" destId="{2194C4AC-AAEA-4D4E-831F-F291A13013A4}" srcOrd="0" destOrd="0" presId="urn:microsoft.com/office/officeart/2018/2/layout/IconVerticalSolidList"/>
    <dgm:cxn modelId="{A368C43A-F610-4431-A4F4-D269D69D291B}" type="presParOf" srcId="{96AD670E-9FC0-4D61-B3CB-A24424ED45AB}" destId="{87724A3E-5DF3-4655-9885-1A2E984AFFDA}" srcOrd="1" destOrd="0" presId="urn:microsoft.com/office/officeart/2018/2/layout/IconVerticalSolidList"/>
    <dgm:cxn modelId="{2842028F-3997-4F7B-9C28-60CA74FD0FB8}" type="presParOf" srcId="{96AD670E-9FC0-4D61-B3CB-A24424ED45AB}" destId="{6B26AB50-5F52-4A40-A3BE-876197AA5C29}" srcOrd="2" destOrd="0" presId="urn:microsoft.com/office/officeart/2018/2/layout/IconVerticalSolidList"/>
    <dgm:cxn modelId="{5E26B944-7D62-443D-8046-F8ECDC5DC352}" type="presParOf" srcId="{96AD670E-9FC0-4D61-B3CB-A24424ED45AB}" destId="{D308C7EC-1551-41A3-85C2-C5C314FC5491}" srcOrd="3" destOrd="0" presId="urn:microsoft.com/office/officeart/2018/2/layout/IconVerticalSolidList"/>
    <dgm:cxn modelId="{3E355EB7-BBAC-4CAB-9582-46F4F870A525}" type="presParOf" srcId="{D3FC2A9A-29BD-4A7A-BD5F-956C79E252BD}" destId="{F28887BE-8057-473E-A76B-07175D1DCF3C}" srcOrd="1" destOrd="0" presId="urn:microsoft.com/office/officeart/2018/2/layout/IconVerticalSolidList"/>
    <dgm:cxn modelId="{0B58D730-982A-442C-A2BC-121AF444DAAB}" type="presParOf" srcId="{D3FC2A9A-29BD-4A7A-BD5F-956C79E252BD}" destId="{85B498B0-6AB7-4BEF-8AEF-A7E966FB6343}" srcOrd="2" destOrd="0" presId="urn:microsoft.com/office/officeart/2018/2/layout/IconVerticalSolidList"/>
    <dgm:cxn modelId="{AD927D4C-3C36-4929-8E22-999A6D34D14D}" type="presParOf" srcId="{85B498B0-6AB7-4BEF-8AEF-A7E966FB6343}" destId="{8CC2367D-34C5-4F44-895B-5C20B67FF26F}" srcOrd="0" destOrd="0" presId="urn:microsoft.com/office/officeart/2018/2/layout/IconVerticalSolidList"/>
    <dgm:cxn modelId="{2A6515A3-D39F-4F7C-A842-0303581D5EA8}" type="presParOf" srcId="{85B498B0-6AB7-4BEF-8AEF-A7E966FB6343}" destId="{8C9F9D02-9029-41D9-9044-C3622DE1567B}" srcOrd="1" destOrd="0" presId="urn:microsoft.com/office/officeart/2018/2/layout/IconVerticalSolidList"/>
    <dgm:cxn modelId="{140DC89E-3817-4DFB-B891-1C13C06CB11A}" type="presParOf" srcId="{85B498B0-6AB7-4BEF-8AEF-A7E966FB6343}" destId="{0E371821-97FB-4B1D-B501-040C25BB0749}" srcOrd="2" destOrd="0" presId="urn:microsoft.com/office/officeart/2018/2/layout/IconVerticalSolidList"/>
    <dgm:cxn modelId="{3F51F2B2-3058-47DB-A958-63CEE84C034C}" type="presParOf" srcId="{85B498B0-6AB7-4BEF-8AEF-A7E966FB6343}" destId="{F9330360-4912-44FC-89FF-F6A521DBBFA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37A456-F650-43B1-B174-0DECDA9E320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FA134D-E500-4651-8295-0595B08DEC76}">
      <dgm:prSet/>
      <dgm:spPr/>
      <dgm:t>
        <a:bodyPr/>
        <a:lstStyle/>
        <a:p>
          <a:r>
            <a:rPr lang="it-IT"/>
            <a:t>Nel processo di progettazione degli oggetti del sistema </a:t>
          </a:r>
          <a:r>
            <a:rPr lang="it-IT" b="1"/>
            <a:t>La Cantina</a:t>
          </a:r>
          <a:r>
            <a:rPr lang="it-IT"/>
            <a:t>, il team di sviluppo ha affrontato diverse scelte architetturali volte a bilanciare prestazioni, consistenza dei dati e manutenibilità, in coerenza con gli obiettivi di progetto definiti nel documento di design.</a:t>
          </a:r>
          <a:endParaRPr lang="en-US"/>
        </a:p>
      </dgm:t>
    </dgm:pt>
    <dgm:pt modelId="{CE478C13-C6E6-4C3F-A716-75804A7BA0E6}" type="parTrans" cxnId="{F3D8C305-82F4-403A-AFCB-BCE0C8CF4451}">
      <dgm:prSet/>
      <dgm:spPr/>
      <dgm:t>
        <a:bodyPr/>
        <a:lstStyle/>
        <a:p>
          <a:endParaRPr lang="en-US"/>
        </a:p>
      </dgm:t>
    </dgm:pt>
    <dgm:pt modelId="{3F4CCB58-8E7F-4D99-81D0-A7B26FF8F290}" type="sibTrans" cxnId="{F3D8C305-82F4-403A-AFCB-BCE0C8CF4451}">
      <dgm:prSet/>
      <dgm:spPr/>
      <dgm:t>
        <a:bodyPr/>
        <a:lstStyle/>
        <a:p>
          <a:endParaRPr lang="en-US"/>
        </a:p>
      </dgm:t>
    </dgm:pt>
    <dgm:pt modelId="{D4E7AC3C-14CC-4667-A749-3592BEDDC6FA}">
      <dgm:prSet/>
      <dgm:spPr/>
      <dgm:t>
        <a:bodyPr/>
        <a:lstStyle/>
        <a:p>
          <a:r>
            <a:rPr lang="it-IT"/>
            <a:t>In particolare, è stato adottato un approccio </a:t>
          </a:r>
          <a:r>
            <a:rPr lang="it-IT" b="1"/>
            <a:t>Build</a:t>
          </a:r>
          <a:r>
            <a:rPr lang="it-IT"/>
            <a:t>, sviluppando l’applicazione da zero mediante tecnologie standard </a:t>
          </a:r>
          <a:r>
            <a:rPr lang="it-IT" b="1"/>
            <a:t>Java EE (Servlet e JSP)</a:t>
          </a:r>
          <a:r>
            <a:rPr lang="it-IT"/>
            <a:t>, al fine di mantenere il pieno controllo sul codice e implementare logiche specifiche legate alla vendita di prodotti a km0. Per la gestione del carrello, si è scelto di conservarne lo stato in memoria all’interno della sessione HTTP, privilegiando tempi di risposta immediati a discapito di un maggiore utilizzo di memoria. Infine, per l’accesso ai dati, è stato preferito l’uso di </a:t>
          </a:r>
          <a:r>
            <a:rPr lang="it-IT" b="1"/>
            <a:t>JDBC nativo con PreparedStatement</a:t>
          </a:r>
          <a:r>
            <a:rPr lang="it-IT"/>
            <a:t> rispetto a soluzioni ORM, così da ottenere un controllo più diretto sulle query SQL, migliorare le prestazioni e aumentare il livello di sicurezza.</a:t>
          </a:r>
          <a:endParaRPr lang="en-US"/>
        </a:p>
      </dgm:t>
    </dgm:pt>
    <dgm:pt modelId="{A55B45D7-0591-42DB-B79D-80F1F73C922E}" type="parTrans" cxnId="{D19E0A30-4398-45C4-B4D1-0EA0051C12C1}">
      <dgm:prSet/>
      <dgm:spPr/>
      <dgm:t>
        <a:bodyPr/>
        <a:lstStyle/>
        <a:p>
          <a:endParaRPr lang="en-US"/>
        </a:p>
      </dgm:t>
    </dgm:pt>
    <dgm:pt modelId="{5EE68D84-BD6D-4432-8414-F405A2025960}" type="sibTrans" cxnId="{D19E0A30-4398-45C4-B4D1-0EA0051C12C1}">
      <dgm:prSet/>
      <dgm:spPr/>
      <dgm:t>
        <a:bodyPr/>
        <a:lstStyle/>
        <a:p>
          <a:endParaRPr lang="en-US"/>
        </a:p>
      </dgm:t>
    </dgm:pt>
    <dgm:pt modelId="{5AD46BA2-3630-45AF-BDAA-ACEE2D89A5D1}" type="pres">
      <dgm:prSet presAssocID="{5037A456-F650-43B1-B174-0DECDA9E3206}" presName="root" presStyleCnt="0">
        <dgm:presLayoutVars>
          <dgm:dir/>
          <dgm:resizeHandles val="exact"/>
        </dgm:presLayoutVars>
      </dgm:prSet>
      <dgm:spPr/>
    </dgm:pt>
    <dgm:pt modelId="{6FF4E733-FB89-44C1-8AA0-CFD6B9834E9F}" type="pres">
      <dgm:prSet presAssocID="{FBFA134D-E500-4651-8295-0595B08DEC76}" presName="compNode" presStyleCnt="0"/>
      <dgm:spPr/>
    </dgm:pt>
    <dgm:pt modelId="{E3E714FD-E459-4F34-B68E-CC28A15AED6F}" type="pres">
      <dgm:prSet presAssocID="{FBFA134D-E500-4651-8295-0595B08DEC76}" presName="bgRect" presStyleLbl="bgShp" presStyleIdx="0" presStyleCnt="2"/>
      <dgm:spPr/>
    </dgm:pt>
    <dgm:pt modelId="{C73BE5CB-A65C-487D-9AD7-88EA03972DC4}" type="pres">
      <dgm:prSet presAssocID="{FBFA134D-E500-4651-8295-0595B08DEC7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ernice"/>
        </a:ext>
      </dgm:extLst>
    </dgm:pt>
    <dgm:pt modelId="{C411493B-0AE1-4090-A9A9-0C10826E287E}" type="pres">
      <dgm:prSet presAssocID="{FBFA134D-E500-4651-8295-0595B08DEC76}" presName="spaceRect" presStyleCnt="0"/>
      <dgm:spPr/>
    </dgm:pt>
    <dgm:pt modelId="{B6A03913-C295-40B5-AC7D-BF51CF9A5F2C}" type="pres">
      <dgm:prSet presAssocID="{FBFA134D-E500-4651-8295-0595B08DEC76}" presName="parTx" presStyleLbl="revTx" presStyleIdx="0" presStyleCnt="2">
        <dgm:presLayoutVars>
          <dgm:chMax val="0"/>
          <dgm:chPref val="0"/>
        </dgm:presLayoutVars>
      </dgm:prSet>
      <dgm:spPr/>
    </dgm:pt>
    <dgm:pt modelId="{F976B3D8-6DFA-4EF5-AD3A-A85B1ACE69BA}" type="pres">
      <dgm:prSet presAssocID="{3F4CCB58-8E7F-4D99-81D0-A7B26FF8F290}" presName="sibTrans" presStyleCnt="0"/>
      <dgm:spPr/>
    </dgm:pt>
    <dgm:pt modelId="{C57A7B7E-CB92-4CA8-A617-48F56821CFB2}" type="pres">
      <dgm:prSet presAssocID="{D4E7AC3C-14CC-4667-A749-3592BEDDC6FA}" presName="compNode" presStyleCnt="0"/>
      <dgm:spPr/>
    </dgm:pt>
    <dgm:pt modelId="{FC6A0253-3AD8-41A9-B1B0-EC62844A9D50}" type="pres">
      <dgm:prSet presAssocID="{D4E7AC3C-14CC-4667-A749-3592BEDDC6FA}" presName="bgRect" presStyleLbl="bgShp" presStyleIdx="1" presStyleCnt="2"/>
      <dgm:spPr/>
    </dgm:pt>
    <dgm:pt modelId="{8731B999-9F30-4080-A101-13CD4E539525}" type="pres">
      <dgm:prSet presAssocID="{D4E7AC3C-14CC-4667-A749-3592BEDDC6F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e"/>
        </a:ext>
      </dgm:extLst>
    </dgm:pt>
    <dgm:pt modelId="{B17EF5E4-6614-44F5-A901-C3DBBA4168B0}" type="pres">
      <dgm:prSet presAssocID="{D4E7AC3C-14CC-4667-A749-3592BEDDC6FA}" presName="spaceRect" presStyleCnt="0"/>
      <dgm:spPr/>
    </dgm:pt>
    <dgm:pt modelId="{BE30024C-BFAF-4D5F-BBA4-6192DBB24B18}" type="pres">
      <dgm:prSet presAssocID="{D4E7AC3C-14CC-4667-A749-3592BEDDC6FA}" presName="parTx" presStyleLbl="revTx" presStyleIdx="1" presStyleCnt="2">
        <dgm:presLayoutVars>
          <dgm:chMax val="0"/>
          <dgm:chPref val="0"/>
        </dgm:presLayoutVars>
      </dgm:prSet>
      <dgm:spPr/>
    </dgm:pt>
  </dgm:ptLst>
  <dgm:cxnLst>
    <dgm:cxn modelId="{F3D8C305-82F4-403A-AFCB-BCE0C8CF4451}" srcId="{5037A456-F650-43B1-B174-0DECDA9E3206}" destId="{FBFA134D-E500-4651-8295-0595B08DEC76}" srcOrd="0" destOrd="0" parTransId="{CE478C13-C6E6-4C3F-A716-75804A7BA0E6}" sibTransId="{3F4CCB58-8E7F-4D99-81D0-A7B26FF8F290}"/>
    <dgm:cxn modelId="{23711A13-5932-4DC6-99D2-441AEC46D582}" type="presOf" srcId="{FBFA134D-E500-4651-8295-0595B08DEC76}" destId="{B6A03913-C295-40B5-AC7D-BF51CF9A5F2C}" srcOrd="0" destOrd="0" presId="urn:microsoft.com/office/officeart/2018/2/layout/IconVerticalSolidList"/>
    <dgm:cxn modelId="{D19E0A30-4398-45C4-B4D1-0EA0051C12C1}" srcId="{5037A456-F650-43B1-B174-0DECDA9E3206}" destId="{D4E7AC3C-14CC-4667-A749-3592BEDDC6FA}" srcOrd="1" destOrd="0" parTransId="{A55B45D7-0591-42DB-B79D-80F1F73C922E}" sibTransId="{5EE68D84-BD6D-4432-8414-F405A2025960}"/>
    <dgm:cxn modelId="{31C0BE49-FB75-496F-989C-06BDA826AD80}" type="presOf" srcId="{5037A456-F650-43B1-B174-0DECDA9E3206}" destId="{5AD46BA2-3630-45AF-BDAA-ACEE2D89A5D1}" srcOrd="0" destOrd="0" presId="urn:microsoft.com/office/officeart/2018/2/layout/IconVerticalSolidList"/>
    <dgm:cxn modelId="{E222EEF1-9F18-4CA3-A90A-780E56C851D0}" type="presOf" srcId="{D4E7AC3C-14CC-4667-A749-3592BEDDC6FA}" destId="{BE30024C-BFAF-4D5F-BBA4-6192DBB24B18}" srcOrd="0" destOrd="0" presId="urn:microsoft.com/office/officeart/2018/2/layout/IconVerticalSolidList"/>
    <dgm:cxn modelId="{FF4332C2-808D-45B9-9CB9-8C0A336EECC7}" type="presParOf" srcId="{5AD46BA2-3630-45AF-BDAA-ACEE2D89A5D1}" destId="{6FF4E733-FB89-44C1-8AA0-CFD6B9834E9F}" srcOrd="0" destOrd="0" presId="urn:microsoft.com/office/officeart/2018/2/layout/IconVerticalSolidList"/>
    <dgm:cxn modelId="{72BFCB1F-1EBA-4661-A3C8-7A2F93DFF186}" type="presParOf" srcId="{6FF4E733-FB89-44C1-8AA0-CFD6B9834E9F}" destId="{E3E714FD-E459-4F34-B68E-CC28A15AED6F}" srcOrd="0" destOrd="0" presId="urn:microsoft.com/office/officeart/2018/2/layout/IconVerticalSolidList"/>
    <dgm:cxn modelId="{1AF01624-C64D-424F-8B6C-3B011FD9BB9F}" type="presParOf" srcId="{6FF4E733-FB89-44C1-8AA0-CFD6B9834E9F}" destId="{C73BE5CB-A65C-487D-9AD7-88EA03972DC4}" srcOrd="1" destOrd="0" presId="urn:microsoft.com/office/officeart/2018/2/layout/IconVerticalSolidList"/>
    <dgm:cxn modelId="{B001FD54-554F-451E-ADA5-77E067065E8A}" type="presParOf" srcId="{6FF4E733-FB89-44C1-8AA0-CFD6B9834E9F}" destId="{C411493B-0AE1-4090-A9A9-0C10826E287E}" srcOrd="2" destOrd="0" presId="urn:microsoft.com/office/officeart/2018/2/layout/IconVerticalSolidList"/>
    <dgm:cxn modelId="{A01F3FAD-67F9-4535-900E-09F04ACBD50F}" type="presParOf" srcId="{6FF4E733-FB89-44C1-8AA0-CFD6B9834E9F}" destId="{B6A03913-C295-40B5-AC7D-BF51CF9A5F2C}" srcOrd="3" destOrd="0" presId="urn:microsoft.com/office/officeart/2018/2/layout/IconVerticalSolidList"/>
    <dgm:cxn modelId="{85CF3262-529A-49BB-B3F9-77AF864E27DA}" type="presParOf" srcId="{5AD46BA2-3630-45AF-BDAA-ACEE2D89A5D1}" destId="{F976B3D8-6DFA-4EF5-AD3A-A85B1ACE69BA}" srcOrd="1" destOrd="0" presId="urn:microsoft.com/office/officeart/2018/2/layout/IconVerticalSolidList"/>
    <dgm:cxn modelId="{2AD458C0-1996-4C91-B323-02BA6C384D1C}" type="presParOf" srcId="{5AD46BA2-3630-45AF-BDAA-ACEE2D89A5D1}" destId="{C57A7B7E-CB92-4CA8-A617-48F56821CFB2}" srcOrd="2" destOrd="0" presId="urn:microsoft.com/office/officeart/2018/2/layout/IconVerticalSolidList"/>
    <dgm:cxn modelId="{117B15CA-F8D4-4E7B-9921-3B434C0423DA}" type="presParOf" srcId="{C57A7B7E-CB92-4CA8-A617-48F56821CFB2}" destId="{FC6A0253-3AD8-41A9-B1B0-EC62844A9D50}" srcOrd="0" destOrd="0" presId="urn:microsoft.com/office/officeart/2018/2/layout/IconVerticalSolidList"/>
    <dgm:cxn modelId="{2E03DF07-EDA6-4AE1-97F7-3FC241D1FC12}" type="presParOf" srcId="{C57A7B7E-CB92-4CA8-A617-48F56821CFB2}" destId="{8731B999-9F30-4080-A101-13CD4E539525}" srcOrd="1" destOrd="0" presId="urn:microsoft.com/office/officeart/2018/2/layout/IconVerticalSolidList"/>
    <dgm:cxn modelId="{2388EB0C-971F-4E93-9728-DFCD3C93CCA5}" type="presParOf" srcId="{C57A7B7E-CB92-4CA8-A617-48F56821CFB2}" destId="{B17EF5E4-6614-44F5-A901-C3DBBA4168B0}" srcOrd="2" destOrd="0" presId="urn:microsoft.com/office/officeart/2018/2/layout/IconVerticalSolidList"/>
    <dgm:cxn modelId="{22984E85-3550-461E-96C9-7ED8558D70A4}" type="presParOf" srcId="{C57A7B7E-CB92-4CA8-A617-48F56821CFB2}" destId="{BE30024C-BFAF-4D5F-BBA4-6192DBB24B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AD0D49-5C1F-4D97-8AB3-2D49402BD5D9}">
      <dsp:nvSpPr>
        <dsp:cNvPr id="0" name=""/>
        <dsp:cNvSpPr/>
      </dsp:nvSpPr>
      <dsp:spPr>
        <a:xfrm>
          <a:off x="228332" y="914661"/>
          <a:ext cx="914353" cy="91435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93230F-0949-449E-B8F0-5E94BEF7D4B8}">
      <dsp:nvSpPr>
        <dsp:cNvPr id="0" name=""/>
        <dsp:cNvSpPr/>
      </dsp:nvSpPr>
      <dsp:spPr>
        <a:xfrm>
          <a:off x="420346" y="1106675"/>
          <a:ext cx="530325" cy="5303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0960D6-733E-4D05-B267-1CC845A21205}">
      <dsp:nvSpPr>
        <dsp:cNvPr id="0" name=""/>
        <dsp:cNvSpPr/>
      </dsp:nvSpPr>
      <dsp:spPr>
        <a:xfrm>
          <a:off x="1338618" y="914661"/>
          <a:ext cx="2155261" cy="914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it-IT" sz="1100" kern="1200"/>
            <a:t>Ogni utente che accede alla piattaforma anche senza effettuare un login può inserire i prodotti nel carrello, variarne la quantità, rimuoverli dal carrello e svuotare il carrello.</a:t>
          </a:r>
          <a:endParaRPr lang="en-US" sz="1100" kern="1200"/>
        </a:p>
      </dsp:txBody>
      <dsp:txXfrm>
        <a:off x="1338618" y="914661"/>
        <a:ext cx="2155261" cy="914353"/>
      </dsp:txXfrm>
    </dsp:sp>
    <dsp:sp modelId="{467B9E9D-1A7D-4FCB-BF31-1560B018D1A9}">
      <dsp:nvSpPr>
        <dsp:cNvPr id="0" name=""/>
        <dsp:cNvSpPr/>
      </dsp:nvSpPr>
      <dsp:spPr>
        <a:xfrm>
          <a:off x="3869418" y="914661"/>
          <a:ext cx="914353" cy="91435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72775D-4CFB-40BB-908B-39263159FC03}">
      <dsp:nvSpPr>
        <dsp:cNvPr id="0" name=""/>
        <dsp:cNvSpPr/>
      </dsp:nvSpPr>
      <dsp:spPr>
        <a:xfrm>
          <a:off x="4061432" y="1106675"/>
          <a:ext cx="530325" cy="5303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1EF8EA-E615-4537-89FA-2CCD41EF3796}">
      <dsp:nvSpPr>
        <dsp:cNvPr id="0" name=""/>
        <dsp:cNvSpPr/>
      </dsp:nvSpPr>
      <dsp:spPr>
        <a:xfrm>
          <a:off x="4979704" y="914661"/>
          <a:ext cx="2155261" cy="914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it-IT" sz="1100" kern="1200" dirty="0"/>
            <a:t>Ogni cliente deve potersi registrare ed effettuare login e </a:t>
          </a:r>
          <a:r>
            <a:rPr lang="it-IT" sz="1100" kern="1200" dirty="0" err="1"/>
            <a:t>logut</a:t>
          </a:r>
          <a:r>
            <a:rPr lang="it-IT" sz="1100" kern="1200" dirty="0"/>
            <a:t>.</a:t>
          </a:r>
          <a:endParaRPr lang="en-US" sz="1100" kern="1200" dirty="0"/>
        </a:p>
      </dsp:txBody>
      <dsp:txXfrm>
        <a:off x="4979704" y="914661"/>
        <a:ext cx="2155261" cy="914353"/>
      </dsp:txXfrm>
    </dsp:sp>
    <dsp:sp modelId="{C7ED1858-8FCE-47C6-BC12-02586ADF41F0}">
      <dsp:nvSpPr>
        <dsp:cNvPr id="0" name=""/>
        <dsp:cNvSpPr/>
      </dsp:nvSpPr>
      <dsp:spPr>
        <a:xfrm>
          <a:off x="7510504" y="914661"/>
          <a:ext cx="914353" cy="91435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6BAA05-7696-47A4-9ECE-8420C97FD999}">
      <dsp:nvSpPr>
        <dsp:cNvPr id="0" name=""/>
        <dsp:cNvSpPr/>
      </dsp:nvSpPr>
      <dsp:spPr>
        <a:xfrm>
          <a:off x="7702518" y="1106675"/>
          <a:ext cx="530325" cy="5303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E4DB12-F93A-496B-90BB-5CF2028EDD89}">
      <dsp:nvSpPr>
        <dsp:cNvPr id="0" name=""/>
        <dsp:cNvSpPr/>
      </dsp:nvSpPr>
      <dsp:spPr>
        <a:xfrm>
          <a:off x="8620790" y="914661"/>
          <a:ext cx="2155261" cy="914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it-IT" sz="1100" kern="1200" dirty="0"/>
            <a:t>Il Cliente registrato deve poter effettuare l’ordine dei prodotti inseriti nel carrello    specificando le modalità di pagamento e inserendo le opportune informazioni.</a:t>
          </a:r>
          <a:endParaRPr lang="en-US" sz="1100" kern="1200" dirty="0"/>
        </a:p>
      </dsp:txBody>
      <dsp:txXfrm>
        <a:off x="8620790" y="914661"/>
        <a:ext cx="2155261" cy="914353"/>
      </dsp:txXfrm>
    </dsp:sp>
    <dsp:sp modelId="{6F02920E-1985-4117-BEF8-A7574FE7ACF5}">
      <dsp:nvSpPr>
        <dsp:cNvPr id="0" name=""/>
        <dsp:cNvSpPr/>
      </dsp:nvSpPr>
      <dsp:spPr>
        <a:xfrm>
          <a:off x="228332" y="2578249"/>
          <a:ext cx="914353" cy="91435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0C1E05-F1BC-406A-BA64-E79AA3897CBC}">
      <dsp:nvSpPr>
        <dsp:cNvPr id="0" name=""/>
        <dsp:cNvSpPr/>
      </dsp:nvSpPr>
      <dsp:spPr>
        <a:xfrm>
          <a:off x="420346" y="2770263"/>
          <a:ext cx="530325" cy="5303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EA64CF-ED65-445F-B728-5CF473F78971}">
      <dsp:nvSpPr>
        <dsp:cNvPr id="0" name=""/>
        <dsp:cNvSpPr/>
      </dsp:nvSpPr>
      <dsp:spPr>
        <a:xfrm>
          <a:off x="1338618" y="2578249"/>
          <a:ext cx="2155261" cy="914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it-IT" sz="1100" kern="1200" dirty="0"/>
            <a:t>-   Una volta effettuato l’ordine, il carrello va svuotato e deve essere possibile per il cliente registrato visualizzare l’ordine nell’elenco degli ordini effettuati.</a:t>
          </a:r>
          <a:endParaRPr lang="en-US" sz="1100" kern="1200" dirty="0"/>
        </a:p>
      </dsp:txBody>
      <dsp:txXfrm>
        <a:off x="1338618" y="2578249"/>
        <a:ext cx="2155261" cy="914353"/>
      </dsp:txXfrm>
    </dsp:sp>
    <dsp:sp modelId="{24EDF0AD-813B-434A-B2C7-15BF42203EC3}">
      <dsp:nvSpPr>
        <dsp:cNvPr id="0" name=""/>
        <dsp:cNvSpPr/>
      </dsp:nvSpPr>
      <dsp:spPr>
        <a:xfrm>
          <a:off x="3869418" y="2578249"/>
          <a:ext cx="914353" cy="91435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8E55A-75BC-49B3-B10C-C622618BBE85}">
      <dsp:nvSpPr>
        <dsp:cNvPr id="0" name=""/>
        <dsp:cNvSpPr/>
      </dsp:nvSpPr>
      <dsp:spPr>
        <a:xfrm>
          <a:off x="4061432" y="2770263"/>
          <a:ext cx="530325" cy="53032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BA6D05-C441-47E8-90A4-5B7D9265ED5C}">
      <dsp:nvSpPr>
        <dsp:cNvPr id="0" name=""/>
        <dsp:cNvSpPr/>
      </dsp:nvSpPr>
      <dsp:spPr>
        <a:xfrm>
          <a:off x="4979704" y="2578249"/>
          <a:ext cx="2155261" cy="914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it-IT" sz="1100" kern="1200" dirty="0"/>
            <a:t> Il cliente deve poter accedere ad un’area dedicata agli ordini effettuati in modo da poter modificare i dati di spedizione inseriti, annullare l’ordine e in ogni caso monitorarne l’evoluzione</a:t>
          </a:r>
          <a:endParaRPr lang="en-US" sz="1100" kern="1200" dirty="0"/>
        </a:p>
      </dsp:txBody>
      <dsp:txXfrm>
        <a:off x="4979704" y="2578249"/>
        <a:ext cx="2155261" cy="9143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511140-7197-9045-B4BD-EFD86D70AD56}">
      <dsp:nvSpPr>
        <dsp:cNvPr id="0" name=""/>
        <dsp:cNvSpPr/>
      </dsp:nvSpPr>
      <dsp:spPr>
        <a:xfrm>
          <a:off x="787" y="0"/>
          <a:ext cx="3188568" cy="354806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960" tIns="0" rIns="314960" bIns="330200" numCol="1" spcCol="1270" anchor="t" anchorCtr="0">
          <a:noAutofit/>
        </a:bodyPr>
        <a:lstStyle/>
        <a:p>
          <a:pPr marL="0" lvl="0" indent="0" algn="l" defTabSz="711200">
            <a:lnSpc>
              <a:spcPct val="90000"/>
            </a:lnSpc>
            <a:spcBef>
              <a:spcPct val="0"/>
            </a:spcBef>
            <a:spcAft>
              <a:spcPct val="35000"/>
            </a:spcAft>
            <a:buNone/>
          </a:pPr>
          <a:r>
            <a:rPr lang="it-IT" sz="1600" kern="1200" dirty="0"/>
            <a:t>Va prevista la figura dell’amministratore e delle pagine a lui dedicate, accessibili solo ed unicamente quando si effettua un login con credenziali amministratore.</a:t>
          </a:r>
          <a:endParaRPr lang="en-US" sz="1600" kern="1200" dirty="0"/>
        </a:p>
      </dsp:txBody>
      <dsp:txXfrm>
        <a:off x="787" y="1419224"/>
        <a:ext cx="3188568" cy="2128837"/>
      </dsp:txXfrm>
    </dsp:sp>
    <dsp:sp modelId="{435E1C2A-E51A-B842-8720-3513EC45083B}">
      <dsp:nvSpPr>
        <dsp:cNvPr id="0" name=""/>
        <dsp:cNvSpPr/>
      </dsp:nvSpPr>
      <dsp:spPr>
        <a:xfrm>
          <a:off x="787" y="0"/>
          <a:ext cx="3188568" cy="141922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4960" tIns="165100" rIns="314960"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87" y="0"/>
        <a:ext cx="3188568" cy="1419224"/>
      </dsp:txXfrm>
    </dsp:sp>
    <dsp:sp modelId="{85BC7FE5-4A5B-374F-91E6-4432C8018623}">
      <dsp:nvSpPr>
        <dsp:cNvPr id="0" name=""/>
        <dsp:cNvSpPr/>
      </dsp:nvSpPr>
      <dsp:spPr>
        <a:xfrm>
          <a:off x="3444440" y="0"/>
          <a:ext cx="3188568" cy="3548062"/>
        </a:xfrm>
        <a:prstGeom prst="rect">
          <a:avLst/>
        </a:prstGeom>
        <a:solidFill>
          <a:schemeClr val="accent5">
            <a:hueOff val="7703195"/>
            <a:satOff val="-6245"/>
            <a:lumOff val="-2157"/>
            <a:alphaOff val="0"/>
          </a:schemeClr>
        </a:solidFill>
        <a:ln w="12700" cap="flat" cmpd="sng" algn="ctr">
          <a:solidFill>
            <a:schemeClr val="accent5">
              <a:hueOff val="7703195"/>
              <a:satOff val="-6245"/>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960" tIns="0" rIns="314960" bIns="330200" numCol="1" spcCol="1270" anchor="t" anchorCtr="0">
          <a:noAutofit/>
        </a:bodyPr>
        <a:lstStyle/>
        <a:p>
          <a:pPr marL="0" lvl="0" indent="0" algn="l" defTabSz="711200">
            <a:lnSpc>
              <a:spcPct val="90000"/>
            </a:lnSpc>
            <a:spcBef>
              <a:spcPct val="0"/>
            </a:spcBef>
            <a:spcAft>
              <a:spcPct val="35000"/>
            </a:spcAft>
            <a:buNone/>
          </a:pPr>
          <a:r>
            <a:rPr lang="it-IT" sz="1600" kern="1200" dirty="0"/>
            <a:t>L’amministratore deve poter inserire, modificare, visualizzare e cancellare gli elementi dal catalogo.</a:t>
          </a:r>
          <a:endParaRPr lang="en-US" sz="1600" kern="1200" dirty="0"/>
        </a:p>
      </dsp:txBody>
      <dsp:txXfrm>
        <a:off x="3444440" y="1419224"/>
        <a:ext cx="3188568" cy="2128837"/>
      </dsp:txXfrm>
    </dsp:sp>
    <dsp:sp modelId="{6591BBF2-568C-A140-ACE2-DEB4C8B6580E}">
      <dsp:nvSpPr>
        <dsp:cNvPr id="0" name=""/>
        <dsp:cNvSpPr/>
      </dsp:nvSpPr>
      <dsp:spPr>
        <a:xfrm>
          <a:off x="3444440" y="0"/>
          <a:ext cx="3188568" cy="141922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4960" tIns="165100" rIns="314960"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444440" y="0"/>
        <a:ext cx="3188568" cy="1419224"/>
      </dsp:txXfrm>
    </dsp:sp>
    <dsp:sp modelId="{5940D52A-FD32-B947-B096-5ACEEC9C3DF5}">
      <dsp:nvSpPr>
        <dsp:cNvPr id="0" name=""/>
        <dsp:cNvSpPr/>
      </dsp:nvSpPr>
      <dsp:spPr>
        <a:xfrm>
          <a:off x="6888094" y="0"/>
          <a:ext cx="3188568" cy="3548062"/>
        </a:xfrm>
        <a:prstGeom prst="rect">
          <a:avLst/>
        </a:prstGeom>
        <a:solidFill>
          <a:schemeClr val="accent5">
            <a:hueOff val="15406390"/>
            <a:satOff val="-12491"/>
            <a:lumOff val="-4313"/>
            <a:alphaOff val="0"/>
          </a:schemeClr>
        </a:solidFill>
        <a:ln w="12700" cap="flat" cmpd="sng" algn="ctr">
          <a:solidFill>
            <a:schemeClr val="accent5">
              <a:hueOff val="15406390"/>
              <a:satOff val="-12491"/>
              <a:lumOff val="-43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960" tIns="0" rIns="314960" bIns="330200" numCol="1" spcCol="1270" anchor="t" anchorCtr="0">
          <a:noAutofit/>
        </a:bodyPr>
        <a:lstStyle/>
        <a:p>
          <a:pPr marL="0" lvl="0" indent="0" algn="l" defTabSz="711200">
            <a:lnSpc>
              <a:spcPct val="90000"/>
            </a:lnSpc>
            <a:spcBef>
              <a:spcPct val="0"/>
            </a:spcBef>
            <a:spcAft>
              <a:spcPct val="35000"/>
            </a:spcAft>
            <a:buNone/>
          </a:pPr>
          <a:r>
            <a:rPr lang="it-IT" sz="1600" kern="1200" dirty="0"/>
            <a:t>L’amministratore deve poter visualizzare gli ordini effettuati dai clienti e modificarne le informazioni.</a:t>
          </a:r>
          <a:endParaRPr lang="en-US" sz="1600" kern="1200" dirty="0"/>
        </a:p>
      </dsp:txBody>
      <dsp:txXfrm>
        <a:off x="6888094" y="1419224"/>
        <a:ext cx="3188568" cy="2128837"/>
      </dsp:txXfrm>
    </dsp:sp>
    <dsp:sp modelId="{089AECA5-8452-D446-BFED-B64ADEB4CE95}">
      <dsp:nvSpPr>
        <dsp:cNvPr id="0" name=""/>
        <dsp:cNvSpPr/>
      </dsp:nvSpPr>
      <dsp:spPr>
        <a:xfrm>
          <a:off x="6888094" y="0"/>
          <a:ext cx="3188568" cy="141922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4960" tIns="165100" rIns="314960"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888094" y="0"/>
        <a:ext cx="3188568" cy="14192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4C4AC-AAEA-4D4E-831F-F291A13013A4}">
      <dsp:nvSpPr>
        <dsp:cNvPr id="0" name=""/>
        <dsp:cNvSpPr/>
      </dsp:nvSpPr>
      <dsp:spPr>
        <a:xfrm>
          <a:off x="0" y="716180"/>
          <a:ext cx="11004385" cy="13221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724A3E-5DF3-4655-9885-1A2E984AFFDA}">
      <dsp:nvSpPr>
        <dsp:cNvPr id="0" name=""/>
        <dsp:cNvSpPr/>
      </dsp:nvSpPr>
      <dsp:spPr>
        <a:xfrm>
          <a:off x="399959" y="1013670"/>
          <a:ext cx="727198" cy="7271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08C7EC-1551-41A3-85C2-C5C314FC5491}">
      <dsp:nvSpPr>
        <dsp:cNvPr id="0" name=""/>
        <dsp:cNvSpPr/>
      </dsp:nvSpPr>
      <dsp:spPr>
        <a:xfrm>
          <a:off x="1527116" y="716180"/>
          <a:ext cx="9477268" cy="1322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31" tIns="139931" rIns="139931" bIns="139931" numCol="1" spcCol="1270" anchor="ctr" anchorCtr="0">
          <a:noAutofit/>
        </a:bodyPr>
        <a:lstStyle/>
        <a:p>
          <a:pPr marL="0" lvl="0" indent="0" algn="l" defTabSz="622300">
            <a:lnSpc>
              <a:spcPct val="90000"/>
            </a:lnSpc>
            <a:spcBef>
              <a:spcPct val="0"/>
            </a:spcBef>
            <a:spcAft>
              <a:spcPct val="35000"/>
            </a:spcAft>
            <a:buNone/>
          </a:pPr>
          <a:r>
            <a:rPr lang="it-IT" sz="1400" kern="1200" dirty="0"/>
            <a:t>Ciascuna delle classi precedentemente elencate è associata a un corrispondente </a:t>
          </a:r>
          <a:r>
            <a:rPr lang="it-IT" sz="1400" b="1" kern="1200" dirty="0"/>
            <a:t>DAO (Data Access Object)</a:t>
          </a:r>
          <a:r>
            <a:rPr lang="it-IT" sz="1400" kern="1200" dirty="0"/>
            <a:t>, il quale è responsabile della gestione e manipolazione dei dati persistenti nel database. Le operazioni tipiche comprendono la creazione, la lettura, l’aggiornamento e la cancellazione dei record relativi all’entità di riferimento.</a:t>
          </a:r>
          <a:endParaRPr lang="en-US" sz="1400" kern="1200" dirty="0"/>
        </a:p>
      </dsp:txBody>
      <dsp:txXfrm>
        <a:off x="1527116" y="716180"/>
        <a:ext cx="9477268" cy="1322179"/>
      </dsp:txXfrm>
    </dsp:sp>
    <dsp:sp modelId="{8CC2367D-34C5-4F44-895B-5C20B67FF26F}">
      <dsp:nvSpPr>
        <dsp:cNvPr id="0" name=""/>
        <dsp:cNvSpPr/>
      </dsp:nvSpPr>
      <dsp:spPr>
        <a:xfrm>
          <a:off x="0" y="2368904"/>
          <a:ext cx="11004385" cy="13221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9F9D02-9029-41D9-9044-C3622DE1567B}">
      <dsp:nvSpPr>
        <dsp:cNvPr id="0" name=""/>
        <dsp:cNvSpPr/>
      </dsp:nvSpPr>
      <dsp:spPr>
        <a:xfrm>
          <a:off x="399959" y="2666394"/>
          <a:ext cx="727198" cy="7271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330360-4912-44FC-89FF-F6A521DBBFAE}">
      <dsp:nvSpPr>
        <dsp:cNvPr id="0" name=""/>
        <dsp:cNvSpPr/>
      </dsp:nvSpPr>
      <dsp:spPr>
        <a:xfrm>
          <a:off x="1527116" y="2368904"/>
          <a:ext cx="9477268" cy="1322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31" tIns="139931" rIns="139931" bIns="139931" numCol="1" spcCol="1270" anchor="ctr" anchorCtr="0">
          <a:noAutofit/>
        </a:bodyPr>
        <a:lstStyle/>
        <a:p>
          <a:pPr marL="0" lvl="0" indent="0" algn="l" defTabSz="622300">
            <a:lnSpc>
              <a:spcPct val="90000"/>
            </a:lnSpc>
            <a:spcBef>
              <a:spcPct val="0"/>
            </a:spcBef>
            <a:spcAft>
              <a:spcPct val="35000"/>
            </a:spcAft>
            <a:buNone/>
          </a:pPr>
          <a:r>
            <a:rPr lang="it-IT" sz="1400" kern="1200" dirty="0"/>
            <a:t>Per quanto riguarda la classe </a:t>
          </a:r>
          <a:r>
            <a:rPr lang="it-IT" sz="1400" b="1" kern="1200" dirty="0"/>
            <a:t>Carrello</a:t>
          </a:r>
          <a:r>
            <a:rPr lang="it-IT" sz="1400" kern="1200" dirty="0"/>
            <a:t>, che non rappresenta un’entità persistente nel database, le operazioni di gestione vengono delegate a un apposito </a:t>
          </a:r>
          <a:r>
            <a:rPr lang="it-IT" sz="1400" b="1" kern="1200" dirty="0"/>
            <a:t>service</a:t>
          </a:r>
          <a:r>
            <a:rPr lang="it-IT" sz="1400" kern="1200" dirty="0"/>
            <a:t>. Questo service è responsabile della manipolazione del contenuto del carrello, memorizzato come </a:t>
          </a:r>
          <a:r>
            <a:rPr lang="it-IT" sz="1400" b="1" kern="1200" dirty="0" err="1"/>
            <a:t>ArrayList</a:t>
          </a:r>
          <a:r>
            <a:rPr lang="it-IT" sz="1400" b="1" kern="1200" dirty="0"/>
            <a:t> nella sessione HTTP</a:t>
          </a:r>
          <a:r>
            <a:rPr lang="it-IT" sz="1400" kern="1200" dirty="0"/>
            <a:t>, permettendo di eseguire le operazioni in modo efficiente senza necessità di persistenti operazioni sul database. Tale approccio riduce il carico sul database e previene possibili problemi di consistenza dei dati durante la navigazione dell’utente.</a:t>
          </a:r>
          <a:endParaRPr lang="en-US" sz="1400" kern="1200" dirty="0"/>
        </a:p>
      </dsp:txBody>
      <dsp:txXfrm>
        <a:off x="1527116" y="2368904"/>
        <a:ext cx="9477268" cy="13221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714FD-E459-4F34-B68E-CC28A15AED6F}">
      <dsp:nvSpPr>
        <dsp:cNvPr id="0" name=""/>
        <dsp:cNvSpPr/>
      </dsp:nvSpPr>
      <dsp:spPr>
        <a:xfrm>
          <a:off x="0" y="302999"/>
          <a:ext cx="11004385" cy="1735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3BE5CB-A65C-487D-9AD7-88EA03972DC4}">
      <dsp:nvSpPr>
        <dsp:cNvPr id="0" name=""/>
        <dsp:cNvSpPr/>
      </dsp:nvSpPr>
      <dsp:spPr>
        <a:xfrm>
          <a:off x="524946" y="693455"/>
          <a:ext cx="954448" cy="9544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A03913-C295-40B5-AC7D-BF51CF9A5F2C}">
      <dsp:nvSpPr>
        <dsp:cNvPr id="0" name=""/>
        <dsp:cNvSpPr/>
      </dsp:nvSpPr>
      <dsp:spPr>
        <a:xfrm>
          <a:off x="2004341" y="302999"/>
          <a:ext cx="9000043" cy="1735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659" tIns="183659" rIns="183659" bIns="183659" numCol="1" spcCol="1270" anchor="ctr" anchorCtr="0">
          <a:noAutofit/>
        </a:bodyPr>
        <a:lstStyle/>
        <a:p>
          <a:pPr marL="0" lvl="0" indent="0" algn="l" defTabSz="622300">
            <a:lnSpc>
              <a:spcPct val="90000"/>
            </a:lnSpc>
            <a:spcBef>
              <a:spcPct val="0"/>
            </a:spcBef>
            <a:spcAft>
              <a:spcPct val="35000"/>
            </a:spcAft>
            <a:buNone/>
          </a:pPr>
          <a:r>
            <a:rPr lang="it-IT" sz="1400" kern="1200"/>
            <a:t>Nel processo di progettazione degli oggetti del sistema </a:t>
          </a:r>
          <a:r>
            <a:rPr lang="it-IT" sz="1400" b="1" kern="1200"/>
            <a:t>La Cantina</a:t>
          </a:r>
          <a:r>
            <a:rPr lang="it-IT" sz="1400" kern="1200"/>
            <a:t>, il team di sviluppo ha affrontato diverse scelte architetturali volte a bilanciare prestazioni, consistenza dei dati e manutenibilità, in coerenza con gli obiettivi di progetto definiti nel documento di design.</a:t>
          </a:r>
          <a:endParaRPr lang="en-US" sz="1400" kern="1200"/>
        </a:p>
      </dsp:txBody>
      <dsp:txXfrm>
        <a:off x="2004341" y="302999"/>
        <a:ext cx="9000043" cy="1735360"/>
      </dsp:txXfrm>
    </dsp:sp>
    <dsp:sp modelId="{FC6A0253-3AD8-41A9-B1B0-EC62844A9D50}">
      <dsp:nvSpPr>
        <dsp:cNvPr id="0" name=""/>
        <dsp:cNvSpPr/>
      </dsp:nvSpPr>
      <dsp:spPr>
        <a:xfrm>
          <a:off x="0" y="2368904"/>
          <a:ext cx="11004385" cy="1735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31B999-9F30-4080-A101-13CD4E539525}">
      <dsp:nvSpPr>
        <dsp:cNvPr id="0" name=""/>
        <dsp:cNvSpPr/>
      </dsp:nvSpPr>
      <dsp:spPr>
        <a:xfrm>
          <a:off x="524946" y="2759360"/>
          <a:ext cx="954448" cy="9544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30024C-BFAF-4D5F-BBA4-6192DBB24B18}">
      <dsp:nvSpPr>
        <dsp:cNvPr id="0" name=""/>
        <dsp:cNvSpPr/>
      </dsp:nvSpPr>
      <dsp:spPr>
        <a:xfrm>
          <a:off x="2004341" y="2368904"/>
          <a:ext cx="9000043" cy="1735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659" tIns="183659" rIns="183659" bIns="183659" numCol="1" spcCol="1270" anchor="ctr" anchorCtr="0">
          <a:noAutofit/>
        </a:bodyPr>
        <a:lstStyle/>
        <a:p>
          <a:pPr marL="0" lvl="0" indent="0" algn="l" defTabSz="622300">
            <a:lnSpc>
              <a:spcPct val="90000"/>
            </a:lnSpc>
            <a:spcBef>
              <a:spcPct val="0"/>
            </a:spcBef>
            <a:spcAft>
              <a:spcPct val="35000"/>
            </a:spcAft>
            <a:buNone/>
          </a:pPr>
          <a:r>
            <a:rPr lang="it-IT" sz="1400" kern="1200"/>
            <a:t>In particolare, è stato adottato un approccio </a:t>
          </a:r>
          <a:r>
            <a:rPr lang="it-IT" sz="1400" b="1" kern="1200"/>
            <a:t>Build</a:t>
          </a:r>
          <a:r>
            <a:rPr lang="it-IT" sz="1400" kern="1200"/>
            <a:t>, sviluppando l’applicazione da zero mediante tecnologie standard </a:t>
          </a:r>
          <a:r>
            <a:rPr lang="it-IT" sz="1400" b="1" kern="1200"/>
            <a:t>Java EE (Servlet e JSP)</a:t>
          </a:r>
          <a:r>
            <a:rPr lang="it-IT" sz="1400" kern="1200"/>
            <a:t>, al fine di mantenere il pieno controllo sul codice e implementare logiche specifiche legate alla vendita di prodotti a km0. Per la gestione del carrello, si è scelto di conservarne lo stato in memoria all’interno della sessione HTTP, privilegiando tempi di risposta immediati a discapito di un maggiore utilizzo di memoria. Infine, per l’accesso ai dati, è stato preferito l’uso di </a:t>
          </a:r>
          <a:r>
            <a:rPr lang="it-IT" sz="1400" b="1" kern="1200"/>
            <a:t>JDBC nativo con PreparedStatement</a:t>
          </a:r>
          <a:r>
            <a:rPr lang="it-IT" sz="1400" kern="1200"/>
            <a:t> rispetto a soluzioni ORM, così da ottenere un controllo più diretto sulle query SQL, migliorare le prestazioni e aumentare il livello di sicurezza.</a:t>
          </a:r>
          <a:endParaRPr lang="en-US" sz="1400" kern="1200"/>
        </a:p>
      </dsp:txBody>
      <dsp:txXfrm>
        <a:off x="2004341" y="2368904"/>
        <a:ext cx="9000043" cy="173536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413E60-064C-414A-89FE-209528CBE8B2}" type="datetimeFigureOut">
              <a:rPr lang="it-IT" smtClean="0"/>
              <a:t>16/01/2026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9573A-E35E-4064-90E0-06632829CBAF}" type="slidenum">
              <a:rPr lang="it-IT" smtClean="0"/>
              <a:t>‹N›</a:t>
            </a:fld>
            <a:endParaRPr lang="it-IT"/>
          </a:p>
        </p:txBody>
      </p:sp>
    </p:spTree>
    <p:extLst>
      <p:ext uri="{BB962C8B-B14F-4D97-AF65-F5344CB8AC3E}">
        <p14:creationId xmlns:p14="http://schemas.microsoft.com/office/powerpoint/2010/main" val="2887899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C09573A-E35E-4064-90E0-06632829CBAF}" type="slidenum">
              <a:rPr lang="it-IT" smtClean="0"/>
              <a:t>100</a:t>
            </a:fld>
            <a:endParaRPr lang="it-IT"/>
          </a:p>
        </p:txBody>
      </p:sp>
    </p:spTree>
    <p:extLst>
      <p:ext uri="{BB962C8B-B14F-4D97-AF65-F5344CB8AC3E}">
        <p14:creationId xmlns:p14="http://schemas.microsoft.com/office/powerpoint/2010/main" val="2439803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1/16/2026</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81507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1/16/2026</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16680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1/16/2026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017798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1/16/2026</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567314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1/16/2026</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‹N›</a:t>
            </a:fld>
            <a:endParaRPr lang="en-US"/>
          </a:p>
        </p:txBody>
      </p:sp>
    </p:spTree>
    <p:extLst>
      <p:ext uri="{BB962C8B-B14F-4D97-AF65-F5344CB8AC3E}">
        <p14:creationId xmlns:p14="http://schemas.microsoft.com/office/powerpoint/2010/main" val="465350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1/16/2026</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43595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1/16/2026</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‹N›</a:t>
            </a:fld>
            <a:endParaRPr lang="en-US"/>
          </a:p>
        </p:txBody>
      </p:sp>
    </p:spTree>
    <p:extLst>
      <p:ext uri="{BB962C8B-B14F-4D97-AF65-F5344CB8AC3E}">
        <p14:creationId xmlns:p14="http://schemas.microsoft.com/office/powerpoint/2010/main" val="188515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1/16/2026</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782216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1/16/2026</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740650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1/16/2026</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64430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1/16/2026</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‹N›</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853636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1/16/2026</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‹N›</a:t>
            </a:fld>
            <a:endParaRPr lang="en-US"/>
          </a:p>
        </p:txBody>
      </p:sp>
    </p:spTree>
    <p:extLst>
      <p:ext uri="{BB962C8B-B14F-4D97-AF65-F5344CB8AC3E}">
        <p14:creationId xmlns:p14="http://schemas.microsoft.com/office/powerpoint/2010/main" val="746110459"/>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53" r:id="rId6"/>
    <p:sldLayoutId id="2147483848" r:id="rId7"/>
    <p:sldLayoutId id="2147483849" r:id="rId8"/>
    <p:sldLayoutId id="2147483850" r:id="rId9"/>
    <p:sldLayoutId id="2147483852" r:id="rId10"/>
    <p:sldLayoutId id="2147483851"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CEBAA7-05DF-1D5B-FB19-AFFB49F35DDA}"/>
              </a:ext>
            </a:extLst>
          </p:cNvPr>
          <p:cNvSpPr>
            <a:spLocks noGrp="1"/>
          </p:cNvSpPr>
          <p:nvPr>
            <p:ph type="ctrTitle"/>
          </p:nvPr>
        </p:nvSpPr>
        <p:spPr>
          <a:xfrm>
            <a:off x="530352" y="589788"/>
            <a:ext cx="4922638" cy="2510921"/>
          </a:xfrm>
        </p:spPr>
        <p:txBody>
          <a:bodyPr>
            <a:normAutofit/>
          </a:bodyPr>
          <a:lstStyle/>
          <a:p>
            <a:r>
              <a:rPr lang="it-IT" dirty="0"/>
              <a:t>La Cantina</a:t>
            </a:r>
            <a:br>
              <a:rPr lang="it-IT" dirty="0"/>
            </a:br>
            <a:r>
              <a:rPr lang="it-IT" sz="2400" dirty="0"/>
              <a:t>prodotti a km0</a:t>
            </a:r>
          </a:p>
        </p:txBody>
      </p:sp>
      <p:sp>
        <p:nvSpPr>
          <p:cNvPr id="3" name="Sottotitolo 2">
            <a:extLst>
              <a:ext uri="{FF2B5EF4-FFF2-40B4-BE49-F238E27FC236}">
                <a16:creationId xmlns:a16="http://schemas.microsoft.com/office/drawing/2014/main" id="{74D8E9F7-6F73-3E0D-916B-21379B043345}"/>
              </a:ext>
            </a:extLst>
          </p:cNvPr>
          <p:cNvSpPr>
            <a:spLocks noGrp="1"/>
          </p:cNvSpPr>
          <p:nvPr>
            <p:ph type="subTitle" idx="1"/>
          </p:nvPr>
        </p:nvSpPr>
        <p:spPr>
          <a:xfrm>
            <a:off x="530352" y="3509963"/>
            <a:ext cx="4922638" cy="2758249"/>
          </a:xfrm>
        </p:spPr>
        <p:txBody>
          <a:bodyPr>
            <a:normAutofit/>
          </a:bodyPr>
          <a:lstStyle/>
          <a:p>
            <a:r>
              <a:rPr lang="it-IT" dirty="0"/>
              <a:t>Progettato e implementato da:</a:t>
            </a:r>
          </a:p>
          <a:p>
            <a:r>
              <a:rPr lang="it-IT" dirty="0"/>
              <a:t>Fabrizio Grazioso</a:t>
            </a:r>
          </a:p>
          <a:p>
            <a:r>
              <a:rPr lang="it-IT" dirty="0"/>
              <a:t>Gabriele Cicalese</a:t>
            </a:r>
          </a:p>
          <a:p>
            <a:r>
              <a:rPr lang="it-IT" dirty="0"/>
              <a:t>Alessandro Liguori</a:t>
            </a:r>
          </a:p>
        </p:txBody>
      </p:sp>
      <p:pic>
        <p:nvPicPr>
          <p:cNvPr id="7" name="Immagine 6" descr="Immagine che contiene testo, poster, bottiglia, illustrazione&#10;&#10;Il contenuto generato dall'IA potrebbe non essere corretto.">
            <a:extLst>
              <a:ext uri="{FF2B5EF4-FFF2-40B4-BE49-F238E27FC236}">
                <a16:creationId xmlns:a16="http://schemas.microsoft.com/office/drawing/2014/main" id="{4A3873D9-7427-78E9-9955-5B10BEDF7383}"/>
              </a:ext>
            </a:extLst>
          </p:cNvPr>
          <p:cNvPicPr>
            <a:picLocks noChangeAspect="1"/>
          </p:cNvPicPr>
          <p:nvPr/>
        </p:nvPicPr>
        <p:blipFill>
          <a:blip r:embed="rId2"/>
          <a:stretch>
            <a:fillRect/>
          </a:stretch>
        </p:blipFill>
        <p:spPr>
          <a:xfrm>
            <a:off x="5985293" y="589788"/>
            <a:ext cx="5678424" cy="5678424"/>
          </a:xfrm>
          <a:prstGeom prst="rect">
            <a:avLst/>
          </a:prstGeom>
        </p:spPr>
      </p:pic>
    </p:spTree>
    <p:extLst>
      <p:ext uri="{BB962C8B-B14F-4D97-AF65-F5344CB8AC3E}">
        <p14:creationId xmlns:p14="http://schemas.microsoft.com/office/powerpoint/2010/main" val="262550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BA5A8-EA19-B8EC-D425-A851969FA23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F86F83E-5274-D733-625A-8BC6753076F2}"/>
              </a:ext>
            </a:extLst>
          </p:cNvPr>
          <p:cNvSpPr>
            <a:spLocks noGrp="1"/>
          </p:cNvSpPr>
          <p:nvPr>
            <p:ph type="title"/>
          </p:nvPr>
        </p:nvSpPr>
        <p:spPr>
          <a:xfrm>
            <a:off x="254306" y="440877"/>
            <a:ext cx="5440430" cy="1978346"/>
          </a:xfrm>
        </p:spPr>
        <p:txBody>
          <a:bodyPr vert="horz" lIns="91440" tIns="45720" rIns="91440" bIns="45720" rtlCol="0" anchor="b">
            <a:normAutofit/>
          </a:bodyPr>
          <a:lstStyle/>
          <a:p>
            <a:r>
              <a:rPr lang="en-US" sz="4000" dirty="0"/>
              <a:t>Problem Statement</a:t>
            </a:r>
          </a:p>
        </p:txBody>
      </p:sp>
      <p:pic>
        <p:nvPicPr>
          <p:cNvPr id="5" name="Segnaposto contenuto 4" descr="Immagine che contiene testo, poster, bottiglia, illustrazione&#10;&#10;Il contenuto generato dall'IA potrebbe non essere corretto.">
            <a:extLst>
              <a:ext uri="{FF2B5EF4-FFF2-40B4-BE49-F238E27FC236}">
                <a16:creationId xmlns:a16="http://schemas.microsoft.com/office/drawing/2014/main" id="{57541514-371B-B3E4-A8C8-4CEED9924B3D}"/>
              </a:ext>
            </a:extLst>
          </p:cNvPr>
          <p:cNvPicPr>
            <a:picLocks noGrp="1" noChangeAspect="1"/>
          </p:cNvPicPr>
          <p:nvPr>
            <p:ph idx="1"/>
          </p:nvPr>
        </p:nvPicPr>
        <p:blipFill>
          <a:blip r:embed="rId2"/>
          <a:stretch>
            <a:fillRect/>
          </a:stretch>
        </p:blipFill>
        <p:spPr>
          <a:xfrm>
            <a:off x="5970782" y="589788"/>
            <a:ext cx="5678424" cy="5678424"/>
          </a:xfrm>
          <a:prstGeom prst="rect">
            <a:avLst/>
          </a:prstGeom>
        </p:spPr>
      </p:pic>
    </p:spTree>
    <p:extLst>
      <p:ext uri="{BB962C8B-B14F-4D97-AF65-F5344CB8AC3E}">
        <p14:creationId xmlns:p14="http://schemas.microsoft.com/office/powerpoint/2010/main" val="287099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A0BA505-6D15-0CA7-053F-14A30E75484A}"/>
              </a:ext>
            </a:extLst>
          </p:cNvPr>
          <p:cNvSpPr>
            <a:spLocks noGrp="1"/>
          </p:cNvSpPr>
          <p:nvPr>
            <p:ph type="title"/>
          </p:nvPr>
        </p:nvSpPr>
        <p:spPr>
          <a:xfrm>
            <a:off x="517871" y="565167"/>
            <a:ext cx="4767930" cy="1848734"/>
          </a:xfrm>
        </p:spPr>
        <p:txBody>
          <a:bodyPr>
            <a:normAutofit/>
          </a:bodyPr>
          <a:lstStyle/>
          <a:p>
            <a:r>
              <a:rPr lang="it-IT" dirty="0"/>
              <a:t>L’idea del progetto</a:t>
            </a:r>
          </a:p>
        </p:txBody>
      </p:sp>
      <p:sp>
        <p:nvSpPr>
          <p:cNvPr id="5" name="Rectangle 1">
            <a:extLst>
              <a:ext uri="{FF2B5EF4-FFF2-40B4-BE49-F238E27FC236}">
                <a16:creationId xmlns:a16="http://schemas.microsoft.com/office/drawing/2014/main" id="{4D9F2AB0-10C9-C5B5-07E9-71F47CEE5E7F}"/>
              </a:ext>
            </a:extLst>
          </p:cNvPr>
          <p:cNvSpPr>
            <a:spLocks noGrp="1" noChangeArrowheads="1"/>
          </p:cNvSpPr>
          <p:nvPr>
            <p:ph idx="1"/>
          </p:nvPr>
        </p:nvSpPr>
        <p:spPr bwMode="auto">
          <a:xfrm>
            <a:off x="517871" y="2652423"/>
            <a:ext cx="4767930" cy="27457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it-IT" altLang="it-IT" sz="1300" b="0" i="0" u="none" strike="noStrike" cap="none" normalizeH="0" baseline="0" dirty="0">
                <a:ln>
                  <a:noFill/>
                </a:ln>
                <a:effectLst/>
                <a:latin typeface="Segoe UI" panose="020B0502040204020203" pitchFamily="34" charset="0"/>
              </a:rPr>
              <a:t>Negli ultimi anni il problema dell’inquinamento è diventato sempre più evidente: le emissioni industriali e i processi produttivi intensivi hanno contribuito in maniera significativa al degrado ambientale. Questa situazione ha spinto il mondo a voltarsi verso soluzioni più sostenibili, privilegiando filiere corte e prodotti a </a:t>
            </a:r>
            <a:r>
              <a:rPr kumimoji="0" lang="it-IT" altLang="it-IT" sz="1300" b="1" i="0" u="none" strike="noStrike" cap="none" normalizeH="0" baseline="0" dirty="0">
                <a:ln>
                  <a:noFill/>
                </a:ln>
                <a:effectLst/>
                <a:latin typeface="Segoe UI" panose="020B0502040204020203" pitchFamily="34" charset="0"/>
              </a:rPr>
              <a:t>km0</a:t>
            </a:r>
            <a:r>
              <a:rPr kumimoji="0" lang="it-IT" altLang="it-IT" sz="1300" b="0" i="0" u="none" strike="noStrike" cap="none" normalizeH="0" baseline="0" dirty="0">
                <a:ln>
                  <a:noFill/>
                </a:ln>
                <a:effectLst/>
                <a:latin typeface="Segoe UI" panose="020B0502040204020203" pitchFamily="34" charset="0"/>
              </a:rPr>
              <a:t>, con l’obiettivo di ridurre l’impatto ecologico e promuovere un consumo responsabile.</a:t>
            </a:r>
          </a:p>
          <a:p>
            <a:pPr marL="0" marR="0" lvl="0" indent="0" defTabSz="914400" rtl="0" eaLnBrk="0" fontAlgn="base" latinLnBrk="0" hangingPunct="0">
              <a:lnSpc>
                <a:spcPct val="100000"/>
              </a:lnSpc>
              <a:spcBef>
                <a:spcPct val="0"/>
              </a:spcBef>
              <a:spcAft>
                <a:spcPts val="600"/>
              </a:spcAft>
              <a:buClrTx/>
              <a:buSzTx/>
              <a:buFontTx/>
              <a:buNone/>
              <a:tabLst/>
            </a:pPr>
            <a:r>
              <a:rPr kumimoji="0" lang="it-IT" altLang="it-IT" sz="1300" b="0" i="0" u="none" strike="noStrike" cap="none" normalizeH="0" baseline="0" dirty="0">
                <a:ln>
                  <a:noFill/>
                </a:ln>
                <a:effectLst/>
                <a:latin typeface="Segoe UI" panose="020B0502040204020203" pitchFamily="34" charset="0"/>
              </a:rPr>
              <a:t>Parallelamente, il mercato alimentare sta affrontando una sfida importante: i costi dei prodotti continuano ad aumentare, mentre la qualità percepita tende a diminuire. Questo squilibrio rende ancora più urgente la ricerca di alternative che garantiscano </a:t>
            </a:r>
            <a:r>
              <a:rPr kumimoji="0" lang="it-IT" altLang="it-IT" sz="1300" b="1" i="0" u="none" strike="noStrike" cap="none" normalizeH="0" baseline="0" dirty="0">
                <a:ln>
                  <a:noFill/>
                </a:ln>
                <a:effectLst/>
                <a:latin typeface="Segoe UI" panose="020B0502040204020203" pitchFamily="34" charset="0"/>
              </a:rPr>
              <a:t>qualità, trasparenza e sostenibilità</a:t>
            </a:r>
            <a:r>
              <a:rPr kumimoji="0" lang="it-IT" altLang="it-IT" sz="1300" b="0" i="0" u="none" strike="noStrike" cap="none" normalizeH="0" baseline="0" dirty="0">
                <a:ln>
                  <a:noFill/>
                </a:ln>
                <a:effectLst/>
                <a:latin typeface="Segoe UI" panose="020B0502040204020203" pitchFamily="34" charset="0"/>
              </a:rPr>
              <a:t>, senza gravare eccessivamente sul portafoglio dei consumatori.</a:t>
            </a:r>
            <a:endParaRPr kumimoji="0" lang="it-IT" altLang="it-IT" sz="1300" b="0" i="0" u="none" strike="noStrike" cap="none" normalizeH="0" baseline="0" dirty="0">
              <a:ln>
                <a:noFill/>
              </a:ln>
              <a:effectLst/>
              <a:latin typeface="Arial" panose="020B0604020202020204" pitchFamily="34" charset="0"/>
            </a:endParaRPr>
          </a:p>
        </p:txBody>
      </p:sp>
      <p:pic>
        <p:nvPicPr>
          <p:cNvPr id="4" name="Segnaposto contenuto 3">
            <a:extLst>
              <a:ext uri="{FF2B5EF4-FFF2-40B4-BE49-F238E27FC236}">
                <a16:creationId xmlns:a16="http://schemas.microsoft.com/office/drawing/2014/main" id="{7209A14E-611A-C561-CFCE-7987DD087544}"/>
              </a:ext>
            </a:extLst>
          </p:cNvPr>
          <p:cNvPicPr>
            <a:picLocks noChangeAspect="1"/>
          </p:cNvPicPr>
          <p:nvPr/>
        </p:nvPicPr>
        <p:blipFill>
          <a:blip r:embed="rId2"/>
          <a:srcRect l="17621" r="15630" b="2"/>
          <a:stretch>
            <a:fillRect/>
          </a:stretch>
        </p:blipFill>
        <p:spPr>
          <a:xfrm>
            <a:off x="5980742" y="565167"/>
            <a:ext cx="5654663" cy="5654663"/>
          </a:xfrm>
          <a:prstGeom prst="rect">
            <a:avLst/>
          </a:prstGeom>
        </p:spPr>
      </p:pic>
    </p:spTree>
    <p:extLst>
      <p:ext uri="{BB962C8B-B14F-4D97-AF65-F5344CB8AC3E}">
        <p14:creationId xmlns:p14="http://schemas.microsoft.com/office/powerpoint/2010/main" val="3370206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C30A5B5-4CC6-6816-44D5-01C8AD3D6387}"/>
              </a:ext>
            </a:extLst>
          </p:cNvPr>
          <p:cNvSpPr>
            <a:spLocks noGrp="1"/>
          </p:cNvSpPr>
          <p:nvPr>
            <p:ph type="title"/>
          </p:nvPr>
        </p:nvSpPr>
        <p:spPr>
          <a:xfrm>
            <a:off x="525717" y="787068"/>
            <a:ext cx="4663649" cy="1455091"/>
          </a:xfrm>
        </p:spPr>
        <p:txBody>
          <a:bodyPr>
            <a:normAutofit/>
          </a:bodyPr>
          <a:lstStyle/>
          <a:p>
            <a:r>
              <a:rPr lang="it-IT" dirty="0"/>
              <a:t>L’idea del progetto</a:t>
            </a:r>
          </a:p>
        </p:txBody>
      </p:sp>
      <p:sp>
        <p:nvSpPr>
          <p:cNvPr id="5" name="Rectangle 1">
            <a:extLst>
              <a:ext uri="{FF2B5EF4-FFF2-40B4-BE49-F238E27FC236}">
                <a16:creationId xmlns:a16="http://schemas.microsoft.com/office/drawing/2014/main" id="{7F1B0C8F-FDE6-8B16-4D7B-6C901D05A1C7}"/>
              </a:ext>
            </a:extLst>
          </p:cNvPr>
          <p:cNvSpPr>
            <a:spLocks noGrp="1" noChangeArrowheads="1"/>
          </p:cNvSpPr>
          <p:nvPr>
            <p:ph idx="1"/>
          </p:nvPr>
        </p:nvSpPr>
        <p:spPr bwMode="auto">
          <a:xfrm>
            <a:off x="525717" y="2796427"/>
            <a:ext cx="4663649" cy="32745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it-IT" altLang="it-IT" b="0" i="0" u="none" strike="noStrike" cap="none" normalizeH="0" baseline="0" dirty="0">
                <a:ln>
                  <a:noFill/>
                </a:ln>
                <a:effectLst/>
                <a:latin typeface="Segoe UI" panose="020B0502040204020203" pitchFamily="34" charset="0"/>
              </a:rPr>
              <a:t>Il progetto </a:t>
            </a:r>
            <a:r>
              <a:rPr kumimoji="0" lang="it-IT" altLang="it-IT" b="1" i="0" u="none" strike="noStrike" cap="none" normalizeH="0" baseline="0" dirty="0">
                <a:ln>
                  <a:noFill/>
                </a:ln>
                <a:effectLst/>
                <a:latin typeface="Segoe UI" panose="020B0502040204020203" pitchFamily="34" charset="0"/>
              </a:rPr>
              <a:t>La Cantina</a:t>
            </a:r>
            <a:r>
              <a:rPr kumimoji="0" lang="it-IT" altLang="it-IT" b="0" i="0" u="none" strike="noStrike" cap="none" normalizeH="0" baseline="0" dirty="0">
                <a:ln>
                  <a:noFill/>
                </a:ln>
                <a:effectLst/>
                <a:latin typeface="Segoe UI" panose="020B0502040204020203" pitchFamily="34" charset="0"/>
              </a:rPr>
              <a:t> nasce proprio da questa esigenza: offrire prodotti genuini, provenienti da filiere locali, riducendo l’impatto ambientale e restituendo valore alla qualità, alla tradizione e alla responsabilità verso il pianeta.</a:t>
            </a:r>
            <a:endParaRPr kumimoji="0" lang="it-IT" altLang="it-IT" b="0" i="0" u="none" strike="noStrike" cap="none" normalizeH="0" baseline="0" dirty="0">
              <a:ln>
                <a:noFill/>
              </a:ln>
              <a:effectLst/>
              <a:latin typeface="Arial" panose="020B0604020202020204" pitchFamily="34" charset="0"/>
            </a:endParaRPr>
          </a:p>
        </p:txBody>
      </p:sp>
      <p:pic>
        <p:nvPicPr>
          <p:cNvPr id="4" name="Segnaposto contenuto 3">
            <a:extLst>
              <a:ext uri="{FF2B5EF4-FFF2-40B4-BE49-F238E27FC236}">
                <a16:creationId xmlns:a16="http://schemas.microsoft.com/office/drawing/2014/main" id="{ADB782C7-479A-076A-B515-3C5C18CC8FC3}"/>
              </a:ext>
            </a:extLst>
          </p:cNvPr>
          <p:cNvPicPr>
            <a:picLocks noChangeAspect="1"/>
          </p:cNvPicPr>
          <p:nvPr/>
        </p:nvPicPr>
        <p:blipFill>
          <a:blip r:embed="rId2"/>
          <a:stretch>
            <a:fillRect/>
          </a:stretch>
        </p:blipFill>
        <p:spPr>
          <a:xfrm>
            <a:off x="5953780" y="1791587"/>
            <a:ext cx="5660211" cy="3183868"/>
          </a:xfrm>
          <a:prstGeom prst="rect">
            <a:avLst/>
          </a:prstGeom>
        </p:spPr>
      </p:pic>
    </p:spTree>
    <p:extLst>
      <p:ext uri="{BB962C8B-B14F-4D97-AF65-F5344CB8AC3E}">
        <p14:creationId xmlns:p14="http://schemas.microsoft.com/office/powerpoint/2010/main" val="3155297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2B528E-01AD-ED1B-48B4-DE1C7F4177C9}"/>
              </a:ext>
            </a:extLst>
          </p:cNvPr>
          <p:cNvSpPr>
            <a:spLocks noGrp="1"/>
          </p:cNvSpPr>
          <p:nvPr>
            <p:ph type="title"/>
          </p:nvPr>
        </p:nvSpPr>
        <p:spPr>
          <a:xfrm>
            <a:off x="525717" y="787068"/>
            <a:ext cx="4663649" cy="1455091"/>
          </a:xfrm>
        </p:spPr>
        <p:txBody>
          <a:bodyPr>
            <a:normAutofit/>
          </a:bodyPr>
          <a:lstStyle/>
          <a:p>
            <a:r>
              <a:rPr lang="it-IT" dirty="0"/>
              <a:t>L’idea del progetto</a:t>
            </a:r>
          </a:p>
        </p:txBody>
      </p:sp>
      <p:sp>
        <p:nvSpPr>
          <p:cNvPr id="6" name="Rectangle 1">
            <a:extLst>
              <a:ext uri="{FF2B5EF4-FFF2-40B4-BE49-F238E27FC236}">
                <a16:creationId xmlns:a16="http://schemas.microsoft.com/office/drawing/2014/main" id="{0F47CAC8-DBFD-2284-731C-1AAB0E151A71}"/>
              </a:ext>
            </a:extLst>
          </p:cNvPr>
          <p:cNvSpPr>
            <a:spLocks noGrp="1" noChangeArrowheads="1"/>
          </p:cNvSpPr>
          <p:nvPr>
            <p:ph idx="1"/>
          </p:nvPr>
        </p:nvSpPr>
        <p:spPr bwMode="auto">
          <a:xfrm>
            <a:off x="525717" y="2796427"/>
            <a:ext cx="4663649" cy="32745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a:bodyPr>
          <a:lstStyle/>
          <a:p>
            <a:pPr marL="0" marR="0" lvl="0" indent="0" defTabSz="914400" rtl="0" eaLnBrk="0" fontAlgn="base" latinLnBrk="0" hangingPunct="0">
              <a:spcBef>
                <a:spcPct val="0"/>
              </a:spcBef>
              <a:spcAft>
                <a:spcPts val="600"/>
              </a:spcAft>
              <a:buClrTx/>
              <a:buSzTx/>
              <a:buFontTx/>
              <a:buNone/>
              <a:tabLst/>
            </a:pPr>
            <a:r>
              <a:rPr kumimoji="0" lang="it-IT" altLang="it-IT" b="0" i="0" u="none" strike="noStrike" cap="none" normalizeH="0" baseline="0" dirty="0">
                <a:ln>
                  <a:noFill/>
                </a:ln>
                <a:effectLst/>
                <a:latin typeface="Segoe UI" panose="020B0502040204020203" pitchFamily="34" charset="0"/>
              </a:rPr>
              <a:t>La cantina pone al centro della sua filosofia la valorizzazione delle materie prime provenienti dal territorio campano, selezionando con cura eccellenze locali come le olive di Trentinara, l’uva di Benevento e i limoni di Amalfi. L’obiettivo è offrire prodotti di qualità biologica superiore, frutto di una filiera corta e sostenibile</a:t>
            </a:r>
            <a:r>
              <a:rPr lang="it-IT" altLang="it-IT" dirty="0">
                <a:latin typeface="Segoe UI" panose="020B0502040204020203" pitchFamily="34" charset="0"/>
              </a:rPr>
              <a:t> con particolare attenzione al tracciamento delle filiere produttive</a:t>
            </a:r>
            <a:endParaRPr kumimoji="0" lang="it-IT" altLang="it-IT" b="0" i="0" u="none" strike="noStrike" cap="none" normalizeH="0" baseline="0" dirty="0">
              <a:ln>
                <a:noFill/>
              </a:ln>
              <a:effectLst/>
              <a:latin typeface="Arial" panose="020B0604020202020204" pitchFamily="34" charset="0"/>
            </a:endParaRPr>
          </a:p>
        </p:txBody>
      </p:sp>
      <p:pic>
        <p:nvPicPr>
          <p:cNvPr id="5" name="Segnaposto contenuto 4" descr="Immagine che contiene mappa, atlante, testo&#10;&#10;Il contenuto generato dall'IA potrebbe non essere corretto.">
            <a:extLst>
              <a:ext uri="{FF2B5EF4-FFF2-40B4-BE49-F238E27FC236}">
                <a16:creationId xmlns:a16="http://schemas.microsoft.com/office/drawing/2014/main" id="{0A134D83-236F-A2AB-AC97-DF46F0A44403}"/>
              </a:ext>
            </a:extLst>
          </p:cNvPr>
          <p:cNvPicPr>
            <a:picLocks noChangeAspect="1"/>
          </p:cNvPicPr>
          <p:nvPr/>
        </p:nvPicPr>
        <p:blipFill>
          <a:blip r:embed="rId2"/>
          <a:srcRect r="2" b="2"/>
          <a:stretch>
            <a:fillRect/>
          </a:stretch>
        </p:blipFill>
        <p:spPr>
          <a:xfrm>
            <a:off x="5953780" y="553415"/>
            <a:ext cx="5660211" cy="5660211"/>
          </a:xfrm>
          <a:prstGeom prst="rect">
            <a:avLst/>
          </a:prstGeom>
        </p:spPr>
      </p:pic>
    </p:spTree>
    <p:extLst>
      <p:ext uri="{BB962C8B-B14F-4D97-AF65-F5344CB8AC3E}">
        <p14:creationId xmlns:p14="http://schemas.microsoft.com/office/powerpoint/2010/main" val="912916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9AA5C1-3972-3FEF-1022-4806021E5B86}"/>
              </a:ext>
            </a:extLst>
          </p:cNvPr>
          <p:cNvSpPr>
            <a:spLocks noGrp="1"/>
          </p:cNvSpPr>
          <p:nvPr>
            <p:ph type="title"/>
          </p:nvPr>
        </p:nvSpPr>
        <p:spPr>
          <a:xfrm>
            <a:off x="525717" y="787068"/>
            <a:ext cx="5566263" cy="1455091"/>
          </a:xfrm>
        </p:spPr>
        <p:txBody>
          <a:bodyPr>
            <a:normAutofit/>
          </a:bodyPr>
          <a:lstStyle/>
          <a:p>
            <a:r>
              <a:rPr lang="it-IT" dirty="0"/>
              <a:t>L’idea del progetto</a:t>
            </a:r>
          </a:p>
        </p:txBody>
      </p:sp>
      <p:sp>
        <p:nvSpPr>
          <p:cNvPr id="3" name="Segnaposto contenuto 2">
            <a:extLst>
              <a:ext uri="{FF2B5EF4-FFF2-40B4-BE49-F238E27FC236}">
                <a16:creationId xmlns:a16="http://schemas.microsoft.com/office/drawing/2014/main" id="{16A32E5D-6331-8A37-4002-301DB0FC3260}"/>
              </a:ext>
            </a:extLst>
          </p:cNvPr>
          <p:cNvSpPr>
            <a:spLocks noGrp="1"/>
          </p:cNvSpPr>
          <p:nvPr>
            <p:ph idx="1"/>
          </p:nvPr>
        </p:nvSpPr>
        <p:spPr>
          <a:xfrm>
            <a:off x="525717" y="2796427"/>
            <a:ext cx="5566263" cy="3274503"/>
          </a:xfrm>
        </p:spPr>
        <p:txBody>
          <a:bodyPr>
            <a:normAutofit/>
          </a:bodyPr>
          <a:lstStyle/>
          <a:p>
            <a:pPr eaLnBrk="0" fontAlgn="base" hangingPunct="0">
              <a:spcBef>
                <a:spcPct val="0"/>
              </a:spcBef>
              <a:spcAft>
                <a:spcPct val="0"/>
              </a:spcAft>
            </a:pPr>
            <a:r>
              <a:rPr lang="it-IT" dirty="0"/>
              <a:t>Il gruppo di sviluppo propone così «La Cantina» una piattaforma e-commerce che attraverso </a:t>
            </a:r>
            <a:r>
              <a:rPr lang="it-IT" altLang="it-IT" dirty="0">
                <a:latin typeface="Avenir Book" panose="02000503020000020003" pitchFamily="2" charset="0"/>
              </a:rPr>
              <a:t>propone una gamma di specialità tipiche della regione, tutte lavorate in Campania: olio extravergine di oliva, vino rosso, vino bianco e limoncello. Ogni prodotto racconta la tradizione e l’autenticità del territorio, trasformando la passione per la natura in esperienze di gusto uniche.</a:t>
            </a:r>
          </a:p>
          <a:p>
            <a:endParaRPr lang="it-IT" dirty="0"/>
          </a:p>
        </p:txBody>
      </p:sp>
      <p:pic>
        <p:nvPicPr>
          <p:cNvPr id="6" name="Picture 4" descr="Botti di vino">
            <a:extLst>
              <a:ext uri="{FF2B5EF4-FFF2-40B4-BE49-F238E27FC236}">
                <a16:creationId xmlns:a16="http://schemas.microsoft.com/office/drawing/2014/main" id="{F5729343-CB5F-1C64-DF0D-70C326B3A50C}"/>
              </a:ext>
            </a:extLst>
          </p:cNvPr>
          <p:cNvPicPr>
            <a:picLocks noChangeAspect="1"/>
          </p:cNvPicPr>
          <p:nvPr/>
        </p:nvPicPr>
        <p:blipFill>
          <a:blip r:embed="rId2"/>
          <a:srcRect l="14233" r="30674" b="-1"/>
          <a:stretch>
            <a:fillRect/>
          </a:stretch>
        </p:blipFill>
        <p:spPr>
          <a:xfrm>
            <a:off x="6531789" y="10"/>
            <a:ext cx="5660211" cy="6857990"/>
          </a:xfrm>
          <a:prstGeom prst="rect">
            <a:avLst/>
          </a:prstGeom>
        </p:spPr>
      </p:pic>
    </p:spTree>
    <p:extLst>
      <p:ext uri="{BB962C8B-B14F-4D97-AF65-F5344CB8AC3E}">
        <p14:creationId xmlns:p14="http://schemas.microsoft.com/office/powerpoint/2010/main" val="2710023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354B11-56AC-2873-3F5E-3B136815973D}"/>
              </a:ext>
            </a:extLst>
          </p:cNvPr>
          <p:cNvSpPr>
            <a:spLocks noGrp="1"/>
          </p:cNvSpPr>
          <p:nvPr>
            <p:ph type="title"/>
          </p:nvPr>
        </p:nvSpPr>
        <p:spPr>
          <a:xfrm>
            <a:off x="530352" y="1122363"/>
            <a:ext cx="4887206" cy="1978346"/>
          </a:xfrm>
        </p:spPr>
        <p:txBody>
          <a:bodyPr vert="horz" lIns="91440" tIns="45720" rIns="91440" bIns="45720" rtlCol="0" anchor="b">
            <a:normAutofit/>
          </a:bodyPr>
          <a:lstStyle/>
          <a:p>
            <a:r>
              <a:rPr lang="en-US" sz="4000" dirty="0"/>
              <a:t>Requirement Analysis Document</a:t>
            </a:r>
          </a:p>
        </p:txBody>
      </p:sp>
      <p:pic>
        <p:nvPicPr>
          <p:cNvPr id="5" name="Segnaposto contenuto 4" descr="Immagine che contiene testo, poster, bottiglia, illustrazione&#10;&#10;Il contenuto generato dall'IA potrebbe non essere corretto.">
            <a:extLst>
              <a:ext uri="{FF2B5EF4-FFF2-40B4-BE49-F238E27FC236}">
                <a16:creationId xmlns:a16="http://schemas.microsoft.com/office/drawing/2014/main" id="{26FBADFA-E9DE-1B38-B368-D1D6E8B7C9F3}"/>
              </a:ext>
            </a:extLst>
          </p:cNvPr>
          <p:cNvPicPr>
            <a:picLocks noGrp="1" noChangeAspect="1"/>
          </p:cNvPicPr>
          <p:nvPr>
            <p:ph idx="1"/>
          </p:nvPr>
        </p:nvPicPr>
        <p:blipFill>
          <a:blip r:embed="rId2"/>
          <a:stretch>
            <a:fillRect/>
          </a:stretch>
        </p:blipFill>
        <p:spPr>
          <a:xfrm>
            <a:off x="5970782" y="589788"/>
            <a:ext cx="5678424" cy="5678424"/>
          </a:xfrm>
          <a:prstGeom prst="rect">
            <a:avLst/>
          </a:prstGeom>
        </p:spPr>
      </p:pic>
    </p:spTree>
    <p:extLst>
      <p:ext uri="{BB962C8B-B14F-4D97-AF65-F5344CB8AC3E}">
        <p14:creationId xmlns:p14="http://schemas.microsoft.com/office/powerpoint/2010/main" val="2548989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44A6AB-8A38-1896-FF02-3C1BF29820D3}"/>
              </a:ext>
            </a:extLst>
          </p:cNvPr>
          <p:cNvSpPr>
            <a:spLocks noGrp="1"/>
          </p:cNvSpPr>
          <p:nvPr>
            <p:ph type="title"/>
          </p:nvPr>
        </p:nvSpPr>
        <p:spPr>
          <a:xfrm>
            <a:off x="266679" y="847453"/>
            <a:ext cx="5566263" cy="1455091"/>
          </a:xfrm>
        </p:spPr>
        <p:txBody>
          <a:bodyPr>
            <a:normAutofit/>
          </a:bodyPr>
          <a:lstStyle/>
          <a:p>
            <a:r>
              <a:rPr lang="it-IT" dirty="0"/>
              <a:t>Pattern MVC</a:t>
            </a:r>
          </a:p>
        </p:txBody>
      </p:sp>
      <p:sp>
        <p:nvSpPr>
          <p:cNvPr id="3" name="Segnaposto contenuto 2">
            <a:extLst>
              <a:ext uri="{FF2B5EF4-FFF2-40B4-BE49-F238E27FC236}">
                <a16:creationId xmlns:a16="http://schemas.microsoft.com/office/drawing/2014/main" id="{EE278B5F-5ED9-59FB-CE10-968768F386CE}"/>
              </a:ext>
            </a:extLst>
          </p:cNvPr>
          <p:cNvSpPr>
            <a:spLocks noGrp="1"/>
          </p:cNvSpPr>
          <p:nvPr>
            <p:ph idx="1"/>
          </p:nvPr>
        </p:nvSpPr>
        <p:spPr>
          <a:xfrm>
            <a:off x="266679" y="2698142"/>
            <a:ext cx="6166809" cy="3878461"/>
          </a:xfrm>
        </p:spPr>
        <p:txBody>
          <a:bodyPr>
            <a:normAutofit/>
          </a:bodyPr>
          <a:lstStyle/>
          <a:p>
            <a:pPr>
              <a:lnSpc>
                <a:spcPct val="100000"/>
              </a:lnSpc>
            </a:pPr>
            <a:r>
              <a:rPr lang="it-IT" sz="1100" dirty="0"/>
              <a:t>La web </a:t>
            </a:r>
            <a:r>
              <a:rPr lang="it-IT" sz="1100" dirty="0" err="1"/>
              <a:t>application</a:t>
            </a:r>
            <a:r>
              <a:rPr lang="it-IT" sz="1100" dirty="0"/>
              <a:t> è stata sviluppata utilizzando la piattaforma </a:t>
            </a:r>
            <a:r>
              <a:rPr lang="it-IT" sz="1100" b="1" dirty="0"/>
              <a:t>Java EE</a:t>
            </a:r>
            <a:r>
              <a:rPr lang="it-IT" sz="1100" dirty="0"/>
              <a:t> e le </a:t>
            </a:r>
            <a:r>
              <a:rPr lang="it-IT" sz="1100" b="1" dirty="0"/>
              <a:t>Java </a:t>
            </a:r>
            <a:r>
              <a:rPr lang="it-IT" sz="1100" b="1" dirty="0" err="1"/>
              <a:t>Servlet</a:t>
            </a:r>
            <a:r>
              <a:rPr lang="it-IT" sz="1100" dirty="0"/>
              <a:t>. L’interazione tra l’utente e il sistema avviene attraverso pagine </a:t>
            </a:r>
            <a:r>
              <a:rPr lang="it-IT" sz="1100" b="1" dirty="0"/>
              <a:t>JSP</a:t>
            </a:r>
            <a:r>
              <a:rPr lang="it-IT" sz="1100" dirty="0"/>
              <a:t> (Java Server Pages), le quali, mediante l’invocazione di </a:t>
            </a:r>
            <a:r>
              <a:rPr lang="it-IT" sz="1100" b="1" dirty="0" err="1"/>
              <a:t>Servlet</a:t>
            </a:r>
            <a:r>
              <a:rPr lang="it-IT" sz="1100" dirty="0"/>
              <a:t>, gestiscono la manipolazione dei dati attraverso l’uso di metodi definiti nelle classi </a:t>
            </a:r>
            <a:r>
              <a:rPr lang="it-IT" sz="1100" b="1" dirty="0"/>
              <a:t>DAO</a:t>
            </a:r>
            <a:r>
              <a:rPr lang="it-IT" sz="1100" dirty="0"/>
              <a:t> (Data Access Object). Le risposte generate dal sistema vengono quindi restituite all’utente tramite le stesse pagine JSP.</a:t>
            </a:r>
          </a:p>
          <a:p>
            <a:pPr>
              <a:lnSpc>
                <a:spcPct val="100000"/>
              </a:lnSpc>
            </a:pPr>
            <a:br>
              <a:rPr lang="it-IT" sz="1100" dirty="0"/>
            </a:br>
            <a:endParaRPr lang="it-IT" sz="1100" dirty="0"/>
          </a:p>
          <a:p>
            <a:pPr>
              <a:lnSpc>
                <a:spcPct val="100000"/>
              </a:lnSpc>
            </a:pPr>
            <a:r>
              <a:rPr lang="it-IT" sz="1100" dirty="0"/>
              <a:t>Il sistema adotta il </a:t>
            </a:r>
            <a:r>
              <a:rPr lang="it-IT" sz="1100" b="1" dirty="0"/>
              <a:t>pattern architetturale MVC (Model-</a:t>
            </a:r>
            <a:r>
              <a:rPr lang="it-IT" sz="1100" b="1" dirty="0" err="1"/>
              <a:t>View</a:t>
            </a:r>
            <a:r>
              <a:rPr lang="it-IT" sz="1100" b="1" dirty="0"/>
              <a:t>-Controller)</a:t>
            </a:r>
            <a:r>
              <a:rPr lang="it-IT" sz="1100" dirty="0"/>
              <a:t>, in cui:</a:t>
            </a:r>
          </a:p>
          <a:p>
            <a:pPr>
              <a:lnSpc>
                <a:spcPct val="100000"/>
              </a:lnSpc>
            </a:pPr>
            <a:r>
              <a:rPr lang="it-IT" sz="1100" b="1" dirty="0" err="1"/>
              <a:t>View</a:t>
            </a:r>
            <a:r>
              <a:rPr lang="it-IT" sz="1100" dirty="0"/>
              <a:t>: rappresentata dalle pagine JSP, responsabili della presentazione dei dati all’utente;</a:t>
            </a:r>
          </a:p>
          <a:p>
            <a:pPr>
              <a:lnSpc>
                <a:spcPct val="100000"/>
              </a:lnSpc>
            </a:pPr>
            <a:r>
              <a:rPr lang="it-IT" sz="1100" b="1" dirty="0"/>
              <a:t>Controller</a:t>
            </a:r>
            <a:r>
              <a:rPr lang="it-IT" sz="1100" dirty="0"/>
              <a:t>: costituito dalle </a:t>
            </a:r>
            <a:r>
              <a:rPr lang="it-IT" sz="1100" dirty="0" err="1"/>
              <a:t>Servlet</a:t>
            </a:r>
            <a:r>
              <a:rPr lang="it-IT" sz="1100" dirty="0"/>
              <a:t> HTTP, incaricate di gestire le richieste degli utenti e coordinare l’interazione tra </a:t>
            </a:r>
            <a:r>
              <a:rPr lang="it-IT" sz="1100" dirty="0" err="1"/>
              <a:t>View</a:t>
            </a:r>
            <a:r>
              <a:rPr lang="it-IT" sz="1100" dirty="0"/>
              <a:t> e Model;</a:t>
            </a:r>
          </a:p>
          <a:p>
            <a:pPr>
              <a:lnSpc>
                <a:spcPct val="100000"/>
              </a:lnSpc>
            </a:pPr>
            <a:r>
              <a:rPr lang="it-IT" sz="1100" b="1" dirty="0"/>
              <a:t>Model</a:t>
            </a:r>
            <a:r>
              <a:rPr lang="it-IT" sz="1100" dirty="0"/>
              <a:t>: composto dagli oggetti di dominio e dalle classi DAO, responsabili della logica di accesso e gestione dei dati.</a:t>
            </a:r>
          </a:p>
        </p:txBody>
      </p:sp>
      <p:pic>
        <p:nvPicPr>
          <p:cNvPr id="5" name="Picture 4">
            <a:extLst>
              <a:ext uri="{FF2B5EF4-FFF2-40B4-BE49-F238E27FC236}">
                <a16:creationId xmlns:a16="http://schemas.microsoft.com/office/drawing/2014/main" id="{43AADC45-9EE8-548B-238A-DAE2C34CAB95}"/>
              </a:ext>
            </a:extLst>
          </p:cNvPr>
          <p:cNvPicPr>
            <a:picLocks noChangeAspect="1"/>
          </p:cNvPicPr>
          <p:nvPr/>
        </p:nvPicPr>
        <p:blipFill>
          <a:blip r:embed="rId2"/>
          <a:srcRect l="10065" r="43509"/>
          <a:stretch>
            <a:fillRect/>
          </a:stretch>
        </p:blipFill>
        <p:spPr>
          <a:xfrm>
            <a:off x="6531789" y="10"/>
            <a:ext cx="5660211" cy="6857990"/>
          </a:xfrm>
          <a:prstGeom prst="rect">
            <a:avLst/>
          </a:prstGeom>
        </p:spPr>
      </p:pic>
    </p:spTree>
    <p:extLst>
      <p:ext uri="{BB962C8B-B14F-4D97-AF65-F5344CB8AC3E}">
        <p14:creationId xmlns:p14="http://schemas.microsoft.com/office/powerpoint/2010/main" val="162729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A4C71A2-DEA1-F0A5-C243-BEA889C41B72}"/>
              </a:ext>
            </a:extLst>
          </p:cNvPr>
          <p:cNvSpPr>
            <a:spLocks noGrp="1"/>
          </p:cNvSpPr>
          <p:nvPr>
            <p:ph type="title"/>
          </p:nvPr>
        </p:nvSpPr>
        <p:spPr>
          <a:xfrm>
            <a:off x="525717" y="787068"/>
            <a:ext cx="7602283" cy="1455091"/>
          </a:xfrm>
        </p:spPr>
        <p:txBody>
          <a:bodyPr>
            <a:normAutofit/>
          </a:bodyPr>
          <a:lstStyle/>
          <a:p>
            <a:r>
              <a:rPr lang="it-IT" dirty="0"/>
              <a:t>I protagonisti: attori e scenari d’uso</a:t>
            </a:r>
          </a:p>
        </p:txBody>
      </p:sp>
      <p:sp>
        <p:nvSpPr>
          <p:cNvPr id="3" name="Segnaposto contenuto 2">
            <a:extLst>
              <a:ext uri="{FF2B5EF4-FFF2-40B4-BE49-F238E27FC236}">
                <a16:creationId xmlns:a16="http://schemas.microsoft.com/office/drawing/2014/main" id="{E5A22A79-6C88-35EF-244B-DEABF22838D6}"/>
              </a:ext>
            </a:extLst>
          </p:cNvPr>
          <p:cNvSpPr>
            <a:spLocks noGrp="1"/>
          </p:cNvSpPr>
          <p:nvPr>
            <p:ph idx="1"/>
          </p:nvPr>
        </p:nvSpPr>
        <p:spPr>
          <a:xfrm>
            <a:off x="525717" y="2796427"/>
            <a:ext cx="7602283" cy="3274503"/>
          </a:xfrm>
        </p:spPr>
        <p:txBody>
          <a:bodyPr>
            <a:normAutofit/>
          </a:bodyPr>
          <a:lstStyle/>
          <a:p>
            <a:r>
              <a:rPr lang="it-IT" b="1" dirty="0"/>
              <a:t>Cliente (Utente)</a:t>
            </a:r>
          </a:p>
          <a:p>
            <a:r>
              <a:rPr lang="it-IT" dirty="0"/>
              <a:t>Naviga il catalogo, esplora i dettagli dei prodotti (provenienza, lavorazione), aggiunge articoli al carrello, si registra, effettua il checkout e monitora lo stato dei propri ordini.</a:t>
            </a:r>
          </a:p>
          <a:p>
            <a:r>
              <a:rPr lang="it-IT" b="1" dirty="0"/>
              <a:t>Amministratore</a:t>
            </a:r>
          </a:p>
          <a:p>
            <a:r>
              <a:rPr lang="it-IT" dirty="0"/>
              <a:t>Accede a un'area riservata per gestire l'intero ciclo di vita della piattaforma: aggiunge o rimuove prodotti, aggiorna stock e prezzi, e supervisiona gli ordini effettuati dai clienti.</a:t>
            </a:r>
          </a:p>
          <a:p>
            <a:endParaRPr lang="it-IT" dirty="0"/>
          </a:p>
        </p:txBody>
      </p:sp>
    </p:spTree>
    <p:extLst>
      <p:ext uri="{BB962C8B-B14F-4D97-AF65-F5344CB8AC3E}">
        <p14:creationId xmlns:p14="http://schemas.microsoft.com/office/powerpoint/2010/main" val="1971796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2484D9F-3706-4FDE-100F-8D7A8D3C033C}"/>
              </a:ext>
            </a:extLst>
          </p:cNvPr>
          <p:cNvSpPr>
            <a:spLocks noGrp="1"/>
          </p:cNvSpPr>
          <p:nvPr>
            <p:ph type="title"/>
          </p:nvPr>
        </p:nvSpPr>
        <p:spPr>
          <a:xfrm>
            <a:off x="525717" y="787068"/>
            <a:ext cx="5566263" cy="1455091"/>
          </a:xfrm>
        </p:spPr>
        <p:txBody>
          <a:bodyPr>
            <a:normAutofit/>
          </a:bodyPr>
          <a:lstStyle/>
          <a:p>
            <a:r>
              <a:rPr lang="it-IT" dirty="0"/>
              <a:t>Requisiti Funzionali e Scenari</a:t>
            </a:r>
          </a:p>
        </p:txBody>
      </p:sp>
      <p:sp>
        <p:nvSpPr>
          <p:cNvPr id="3" name="Segnaposto contenuto 2">
            <a:extLst>
              <a:ext uri="{FF2B5EF4-FFF2-40B4-BE49-F238E27FC236}">
                <a16:creationId xmlns:a16="http://schemas.microsoft.com/office/drawing/2014/main" id="{985FEBFF-104A-9231-CD60-4AC417C5D748}"/>
              </a:ext>
            </a:extLst>
          </p:cNvPr>
          <p:cNvSpPr>
            <a:spLocks noGrp="1"/>
          </p:cNvSpPr>
          <p:nvPr>
            <p:ph idx="1"/>
          </p:nvPr>
        </p:nvSpPr>
        <p:spPr>
          <a:xfrm>
            <a:off x="525717" y="2796427"/>
            <a:ext cx="5566263" cy="3274503"/>
          </a:xfrm>
        </p:spPr>
        <p:txBody>
          <a:bodyPr>
            <a:normAutofit lnSpcReduction="10000"/>
          </a:bodyPr>
          <a:lstStyle/>
          <a:p>
            <a:r>
              <a:rPr lang="it-IT" dirty="0"/>
              <a:t>Una volta effettuato l’accesso alla piattaforma l’utente può consultare liberamente il catalogo dei prodotti, visualizzando descrizioni dettagliate che includono provenienza, lavorazione, materie prime e informazioni dell’azienda fornitrice potendo anche filtrare per categoria i prodotti visualizzati.</a:t>
            </a:r>
          </a:p>
          <a:p>
            <a:r>
              <a:rPr lang="it-IT" dirty="0"/>
              <a:t>L’obbiettivo è garantire la trasparenza e conoscenza approfondita dell’acquisto.</a:t>
            </a:r>
          </a:p>
        </p:txBody>
      </p:sp>
      <p:pic>
        <p:nvPicPr>
          <p:cNvPr id="5" name="Picture 4">
            <a:extLst>
              <a:ext uri="{FF2B5EF4-FFF2-40B4-BE49-F238E27FC236}">
                <a16:creationId xmlns:a16="http://schemas.microsoft.com/office/drawing/2014/main" id="{7CD81542-E827-74F1-7A51-27D83F1777B6}"/>
              </a:ext>
            </a:extLst>
          </p:cNvPr>
          <p:cNvPicPr>
            <a:picLocks noChangeAspect="1"/>
          </p:cNvPicPr>
          <p:nvPr/>
        </p:nvPicPr>
        <p:blipFill>
          <a:blip r:embed="rId2"/>
          <a:srcRect l="24509" r="29065"/>
          <a:stretch>
            <a:fillRect/>
          </a:stretch>
        </p:blipFill>
        <p:spPr>
          <a:xfrm>
            <a:off x="6531789" y="10"/>
            <a:ext cx="5660211" cy="6857990"/>
          </a:xfrm>
          <a:prstGeom prst="rect">
            <a:avLst/>
          </a:prstGeom>
        </p:spPr>
      </p:pic>
    </p:spTree>
    <p:extLst>
      <p:ext uri="{BB962C8B-B14F-4D97-AF65-F5344CB8AC3E}">
        <p14:creationId xmlns:p14="http://schemas.microsoft.com/office/powerpoint/2010/main" val="2274851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AE549-0B21-AE9C-F19D-FD3599F24E91}"/>
              </a:ext>
            </a:extLst>
          </p:cNvPr>
          <p:cNvSpPr>
            <a:spLocks noGrp="1"/>
          </p:cNvSpPr>
          <p:nvPr>
            <p:ph type="title"/>
          </p:nvPr>
        </p:nvSpPr>
        <p:spPr>
          <a:xfrm>
            <a:off x="399080" y="1673488"/>
            <a:ext cx="3781856" cy="4359964"/>
          </a:xfrm>
        </p:spPr>
        <p:txBody>
          <a:bodyPr anchor="t">
            <a:normAutofit/>
          </a:bodyPr>
          <a:lstStyle/>
          <a:p>
            <a:r>
              <a:rPr lang="it-IT" dirty="0"/>
              <a:t>Scenari</a:t>
            </a:r>
          </a:p>
        </p:txBody>
      </p:sp>
      <p:sp>
        <p:nvSpPr>
          <p:cNvPr id="3" name="Segnaposto contenuto 2">
            <a:extLst>
              <a:ext uri="{FF2B5EF4-FFF2-40B4-BE49-F238E27FC236}">
                <a16:creationId xmlns:a16="http://schemas.microsoft.com/office/drawing/2014/main" id="{28C7F65C-A8C7-C754-E7A1-90BCD03066DF}"/>
              </a:ext>
            </a:extLst>
          </p:cNvPr>
          <p:cNvSpPr>
            <a:spLocks noGrp="1"/>
          </p:cNvSpPr>
          <p:nvPr>
            <p:ph idx="1"/>
          </p:nvPr>
        </p:nvSpPr>
        <p:spPr>
          <a:xfrm>
            <a:off x="3234906" y="1046634"/>
            <a:ext cx="7313376" cy="4986818"/>
          </a:xfrm>
        </p:spPr>
        <p:txBody>
          <a:bodyPr>
            <a:normAutofit/>
          </a:bodyPr>
          <a:lstStyle/>
          <a:p>
            <a:r>
              <a:rPr lang="it-IT" dirty="0"/>
              <a:t>L’utente può procedere ad aggiungere i prodotti al carrello ed una volta selezionata la quantità desiderata per ogni articolo procede ad effettuare una registrazione/login completando l’ordine. Dopo l’acquisto è possibile consultare lo storico delle transazioni per monitorare lo stato di avanzamento degli ordini. </a:t>
            </a:r>
          </a:p>
        </p:txBody>
      </p:sp>
    </p:spTree>
    <p:extLst>
      <p:ext uri="{BB962C8B-B14F-4D97-AF65-F5344CB8AC3E}">
        <p14:creationId xmlns:p14="http://schemas.microsoft.com/office/powerpoint/2010/main" val="3737844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F8EC647-A86C-1ECB-76CB-DF1D113BE6C6}"/>
              </a:ext>
            </a:extLst>
          </p:cNvPr>
          <p:cNvSpPr>
            <a:spLocks noGrp="1"/>
          </p:cNvSpPr>
          <p:nvPr>
            <p:ph type="title"/>
          </p:nvPr>
        </p:nvSpPr>
        <p:spPr>
          <a:xfrm>
            <a:off x="390454" y="1673488"/>
            <a:ext cx="3781856" cy="4359964"/>
          </a:xfrm>
        </p:spPr>
        <p:txBody>
          <a:bodyPr anchor="t">
            <a:normAutofit/>
          </a:bodyPr>
          <a:lstStyle/>
          <a:p>
            <a:r>
              <a:rPr lang="it-IT" dirty="0"/>
              <a:t>Scenari</a:t>
            </a:r>
          </a:p>
        </p:txBody>
      </p:sp>
      <p:sp>
        <p:nvSpPr>
          <p:cNvPr id="3" name="Segnaposto contenuto 2">
            <a:extLst>
              <a:ext uri="{FF2B5EF4-FFF2-40B4-BE49-F238E27FC236}">
                <a16:creationId xmlns:a16="http://schemas.microsoft.com/office/drawing/2014/main" id="{15C0B23E-37FE-8B58-B295-758A089CADFF}"/>
              </a:ext>
            </a:extLst>
          </p:cNvPr>
          <p:cNvSpPr>
            <a:spLocks noGrp="1"/>
          </p:cNvSpPr>
          <p:nvPr>
            <p:ph idx="1"/>
          </p:nvPr>
        </p:nvSpPr>
        <p:spPr>
          <a:xfrm>
            <a:off x="3114136" y="1460702"/>
            <a:ext cx="7442772" cy="4572750"/>
          </a:xfrm>
        </p:spPr>
        <p:txBody>
          <a:bodyPr>
            <a:normAutofit/>
          </a:bodyPr>
          <a:lstStyle/>
          <a:p>
            <a:r>
              <a:rPr lang="it-IT" dirty="0"/>
              <a:t>L’amministratore della piattaforma accede ad un area a lui riservata per gestire il catalogo e monitorare le attività degli utenti. Può aggiungere o rimuovere prodotti, aggiornare lo stock e prezzi, consultare ordini e modificare il loro stato.</a:t>
            </a:r>
          </a:p>
        </p:txBody>
      </p:sp>
    </p:spTree>
    <p:extLst>
      <p:ext uri="{BB962C8B-B14F-4D97-AF65-F5344CB8AC3E}">
        <p14:creationId xmlns:p14="http://schemas.microsoft.com/office/powerpoint/2010/main" val="640516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15F5E1-A63C-8012-D1C8-F2A7536F3C73}"/>
              </a:ext>
            </a:extLst>
          </p:cNvPr>
          <p:cNvSpPr>
            <a:spLocks noGrp="1"/>
          </p:cNvSpPr>
          <p:nvPr>
            <p:ph type="title"/>
          </p:nvPr>
        </p:nvSpPr>
        <p:spPr>
          <a:xfrm>
            <a:off x="525717" y="696952"/>
            <a:ext cx="10077196" cy="821794"/>
          </a:xfrm>
        </p:spPr>
        <p:txBody>
          <a:bodyPr>
            <a:normAutofit/>
          </a:bodyPr>
          <a:lstStyle/>
          <a:p>
            <a:r>
              <a:rPr lang="it-IT" dirty="0"/>
              <a:t>Requisiti funzionali Utente</a:t>
            </a:r>
          </a:p>
        </p:txBody>
      </p:sp>
      <p:graphicFrame>
        <p:nvGraphicFramePr>
          <p:cNvPr id="5" name="Segnaposto contenuto 2">
            <a:extLst>
              <a:ext uri="{FF2B5EF4-FFF2-40B4-BE49-F238E27FC236}">
                <a16:creationId xmlns:a16="http://schemas.microsoft.com/office/drawing/2014/main" id="{2647A690-2947-C7C7-DED5-2807C9240A02}"/>
              </a:ext>
            </a:extLst>
          </p:cNvPr>
          <p:cNvGraphicFramePr>
            <a:graphicFrameLocks noGrp="1"/>
          </p:cNvGraphicFramePr>
          <p:nvPr>
            <p:ph idx="1"/>
            <p:extLst>
              <p:ext uri="{D42A27DB-BD31-4B8C-83A1-F6EECF244321}">
                <p14:modId xmlns:p14="http://schemas.microsoft.com/office/powerpoint/2010/main" val="2883289197"/>
              </p:ext>
            </p:extLst>
          </p:nvPr>
        </p:nvGraphicFramePr>
        <p:xfrm>
          <a:off x="525462" y="1804163"/>
          <a:ext cx="11004385" cy="4407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4341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472E82-3BE1-5BAE-7B81-0101584D19DE}"/>
              </a:ext>
            </a:extLst>
          </p:cNvPr>
          <p:cNvSpPr>
            <a:spLocks noGrp="1"/>
          </p:cNvSpPr>
          <p:nvPr>
            <p:ph type="title"/>
          </p:nvPr>
        </p:nvSpPr>
        <p:spPr/>
        <p:txBody>
          <a:bodyPr>
            <a:normAutofit/>
          </a:bodyPr>
          <a:lstStyle/>
          <a:p>
            <a:r>
              <a:rPr lang="it-IT" dirty="0"/>
              <a:t>Requisiti funzionali Amministratore</a:t>
            </a:r>
          </a:p>
        </p:txBody>
      </p:sp>
      <p:graphicFrame>
        <p:nvGraphicFramePr>
          <p:cNvPr id="5" name="Segnaposto contenuto 2">
            <a:extLst>
              <a:ext uri="{FF2B5EF4-FFF2-40B4-BE49-F238E27FC236}">
                <a16:creationId xmlns:a16="http://schemas.microsoft.com/office/drawing/2014/main" id="{670DC9DE-BA5B-CF65-C944-24138AAF231E}"/>
              </a:ext>
            </a:extLst>
          </p:cNvPr>
          <p:cNvGraphicFramePr>
            <a:graphicFrameLocks noGrp="1"/>
          </p:cNvGraphicFramePr>
          <p:nvPr>
            <p:ph idx="1"/>
            <p:extLst>
              <p:ext uri="{D42A27DB-BD31-4B8C-83A1-F6EECF244321}">
                <p14:modId xmlns:p14="http://schemas.microsoft.com/office/powerpoint/2010/main" val="1384500280"/>
              </p:ext>
            </p:extLst>
          </p:nvPr>
        </p:nvGraphicFramePr>
        <p:xfrm>
          <a:off x="525463" y="2522538"/>
          <a:ext cx="10077450" cy="3548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7258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8ABA58-C685-3B39-E8E4-E93D6B126FD2}"/>
              </a:ext>
            </a:extLst>
          </p:cNvPr>
          <p:cNvSpPr>
            <a:spLocks noGrp="1"/>
          </p:cNvSpPr>
          <p:nvPr>
            <p:ph type="title"/>
          </p:nvPr>
        </p:nvSpPr>
        <p:spPr>
          <a:xfrm>
            <a:off x="525718" y="775402"/>
            <a:ext cx="5512288" cy="3926561"/>
          </a:xfrm>
        </p:spPr>
        <p:txBody>
          <a:bodyPr anchor="t">
            <a:normAutofit/>
          </a:bodyPr>
          <a:lstStyle/>
          <a:p>
            <a:r>
              <a:rPr lang="it-IT" dirty="0"/>
              <a:t>Requisiti Non funzionali</a:t>
            </a:r>
          </a:p>
        </p:txBody>
      </p:sp>
      <p:sp>
        <p:nvSpPr>
          <p:cNvPr id="4" name="Rectangle 1">
            <a:extLst>
              <a:ext uri="{FF2B5EF4-FFF2-40B4-BE49-F238E27FC236}">
                <a16:creationId xmlns:a16="http://schemas.microsoft.com/office/drawing/2014/main" id="{EC4E8ED6-83B7-082E-6504-DF7B758F0D72}"/>
              </a:ext>
            </a:extLst>
          </p:cNvPr>
          <p:cNvSpPr>
            <a:spLocks noGrp="1" noChangeArrowheads="1"/>
          </p:cNvSpPr>
          <p:nvPr>
            <p:ph idx="1"/>
          </p:nvPr>
        </p:nvSpPr>
        <p:spPr bwMode="auto">
          <a:xfrm>
            <a:off x="4576020" y="789030"/>
            <a:ext cx="7074233"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600" b="1" i="0" u="none" strike="noStrike" cap="none" normalizeH="0" baseline="0">
                <a:ln>
                  <a:noFill/>
                </a:ln>
                <a:solidFill>
                  <a:srgbClr val="000000"/>
                </a:solidFill>
                <a:effectLst/>
              </a:rPr>
              <a:t>Usability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01:</a:t>
            </a:r>
            <a:r>
              <a:rPr kumimoji="0" lang="it-IT" altLang="it-IT" sz="1000" b="0" i="0" u="none" strike="noStrike" cap="none" normalizeH="0" baseline="0">
                <a:ln>
                  <a:noFill/>
                </a:ln>
                <a:solidFill>
                  <a:srgbClr val="000000"/>
                </a:solidFill>
                <a:effectLst/>
              </a:rPr>
              <a:t> Ogni schermata deve essere intuitiva e priva di ambiguità, garantendo una navigazione semplice e chiara.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02:</a:t>
            </a:r>
            <a:r>
              <a:rPr kumimoji="0" lang="it-IT" altLang="it-IT" sz="1000" b="0" i="0" u="none" strike="noStrike" cap="none" normalizeH="0" baseline="0">
                <a:ln>
                  <a:noFill/>
                </a:ln>
                <a:solidFill>
                  <a:srgbClr val="000000"/>
                </a:solidFill>
                <a:effectLst/>
              </a:rPr>
              <a:t> I campi di input devono fornire messaggi di errore chiari in caso di dati non validi.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03:</a:t>
            </a:r>
            <a:r>
              <a:rPr kumimoji="0" lang="it-IT" altLang="it-IT" sz="1000" b="0" i="0" u="none" strike="noStrike" cap="none" normalizeH="0" baseline="0">
                <a:ln>
                  <a:noFill/>
                </a:ln>
                <a:solidFill>
                  <a:srgbClr val="000000"/>
                </a:solidFill>
                <a:effectLst/>
              </a:rPr>
              <a:t> La barra di navigazione (navbar) deve essere accessibile da qualsiasi pagina, eccetto la pagina di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04:</a:t>
            </a:r>
            <a:r>
              <a:rPr kumimoji="0" lang="it-IT" altLang="it-IT" sz="1000" b="0" i="0" u="none" strike="noStrike" cap="none" normalizeH="0" baseline="0">
                <a:ln>
                  <a:noFill/>
                </a:ln>
                <a:solidFill>
                  <a:srgbClr val="000000"/>
                </a:solidFill>
                <a:effectLst/>
              </a:rPr>
              <a:t> Il carrello deve essere raggiungibile dalla navbar in ogni situazione.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600" b="1" i="0" u="none" strike="noStrike" cap="none" normalizeH="0" baseline="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600" b="1" i="0" u="none" strike="noStrike" cap="none" normalizeH="0" baseline="0">
                <a:ln>
                  <a:noFill/>
                </a:ln>
                <a:solidFill>
                  <a:srgbClr val="000000"/>
                </a:solidFill>
                <a:effectLst/>
              </a:rPr>
              <a:t>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05:</a:t>
            </a:r>
            <a:r>
              <a:rPr kumimoji="0" lang="it-IT" altLang="it-IT" sz="1000" b="0" i="0" u="none" strike="noStrike" cap="none" normalizeH="0" baseline="0">
                <a:ln>
                  <a:noFill/>
                </a:ln>
                <a:solidFill>
                  <a:srgbClr val="000000"/>
                </a:solidFill>
                <a:effectLst/>
              </a:rPr>
              <a:t> Il sistema deve gestire correttamente dati errati con metodi appropriati.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06:</a:t>
            </a:r>
            <a:r>
              <a:rPr kumimoji="0" lang="it-IT" altLang="it-IT" sz="1000" b="0" i="0" u="none" strike="noStrike" cap="none" normalizeH="0" baseline="0">
                <a:ln>
                  <a:noFill/>
                </a:ln>
                <a:solidFill>
                  <a:srgbClr val="000000"/>
                </a:solidFill>
                <a:effectLst/>
              </a:rPr>
              <a:t> Deve essere previsto un sistema di backup regolare nel tempo.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07:</a:t>
            </a:r>
            <a:r>
              <a:rPr kumimoji="0" lang="it-IT" altLang="it-IT" sz="1000" b="0" i="0" u="none" strike="noStrike" cap="none" normalizeH="0" baseline="0">
                <a:ln>
                  <a:noFill/>
                </a:ln>
                <a:solidFill>
                  <a:srgbClr val="000000"/>
                </a:solidFill>
                <a:effectLst/>
              </a:rPr>
              <a:t> Il sistema deve garantire la coerenza dei dati persistenti nel database.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600" b="1" i="0" u="none" strike="noStrike" cap="none" normalizeH="0" baseline="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600" b="1" i="0" u="none" strike="noStrike" cap="none" normalizeH="0" baseline="0">
                <a:ln>
                  <a:noFill/>
                </a:ln>
                <a:solidFill>
                  <a:srgbClr val="000000"/>
                </a:solidFill>
                <a:effectLst/>
              </a:rPr>
              <a:t>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08:</a:t>
            </a:r>
            <a:r>
              <a:rPr kumimoji="0" lang="it-IT" altLang="it-IT" sz="1000" b="0" i="0" u="none" strike="noStrike" cap="none" normalizeH="0" baseline="0">
                <a:ln>
                  <a:noFill/>
                </a:ln>
                <a:solidFill>
                  <a:srgbClr val="000000"/>
                </a:solidFill>
                <a:effectLst/>
              </a:rPr>
              <a:t> Tempo di risposta ≤ 2-3 secondi.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000" b="1" i="0" u="none" strike="noStrike" cap="none" normalizeH="0" baseline="0">
                <a:ln>
                  <a:noFill/>
                </a:ln>
                <a:solidFill>
                  <a:srgbClr val="000000"/>
                </a:solidFill>
                <a:effectLst/>
              </a:rPr>
              <a:t>NFR 09:</a:t>
            </a:r>
            <a:r>
              <a:rPr kumimoji="0" lang="it-IT" altLang="it-IT" sz="1000" b="0" i="0" u="none" strike="noStrike" cap="none" normalizeH="0" baseline="0">
                <a:ln>
                  <a:noFill/>
                </a:ln>
                <a:solidFill>
                  <a:srgbClr val="000000"/>
                </a:solidFill>
                <a:effectLst/>
              </a:rPr>
              <a:t> Ricerca con tempo medio di attesa &lt; 1 secondo.</a:t>
            </a:r>
          </a:p>
          <a:p>
            <a:pPr lvl="0" eaLnBrk="0" fontAlgn="base" hangingPunct="0">
              <a:lnSpc>
                <a:spcPct val="100000"/>
              </a:lnSpc>
              <a:spcBef>
                <a:spcPct val="0"/>
              </a:spcBef>
              <a:spcAft>
                <a:spcPct val="0"/>
              </a:spcAft>
            </a:pPr>
            <a:r>
              <a:rPr kumimoji="0" lang="it-IT" altLang="it-IT" sz="1000" b="1" i="0" u="none" strike="noStrike" cap="none" normalizeH="0" baseline="0">
                <a:ln>
                  <a:noFill/>
                </a:ln>
                <a:solidFill>
                  <a:srgbClr val="000000"/>
                </a:solidFill>
                <a:effectLst/>
              </a:rPr>
              <a:t>NFR 10:</a:t>
            </a:r>
            <a:r>
              <a:rPr kumimoji="0" lang="it-IT" altLang="it-IT" sz="1000" b="0" i="0" u="none" strike="noStrike" cap="none" normalizeH="0" baseline="0">
                <a:ln>
                  <a:noFill/>
                </a:ln>
                <a:solidFill>
                  <a:srgbClr val="000000"/>
                </a:solidFill>
                <a:effectLst/>
              </a:rPr>
              <a:t> Capacità di gestire 500+ utenti connessi contemporaneamente.</a:t>
            </a:r>
            <a:r>
              <a:rPr lang="it-IT" altLang="it-IT" sz="1000" b="1">
                <a:solidFill>
                  <a:srgbClr val="000000"/>
                </a:solidFill>
                <a:latin typeface="Segoe UI" panose="020B0502040204020203" pitchFamily="34" charset="0"/>
              </a:rPr>
              <a:t> </a:t>
            </a:r>
          </a:p>
          <a:p>
            <a:pPr lvl="0" eaLnBrk="0" fontAlgn="base" hangingPunct="0">
              <a:lnSpc>
                <a:spcPct val="100000"/>
              </a:lnSpc>
              <a:spcBef>
                <a:spcPct val="0"/>
              </a:spcBef>
              <a:spcAft>
                <a:spcPct val="0"/>
              </a:spcAft>
            </a:pPr>
            <a:endParaRPr lang="it-IT" altLang="it-IT" sz="1000" b="1">
              <a:solidFill>
                <a:srgbClr val="000000"/>
              </a:solidFill>
              <a:latin typeface="Segoe UI" panose="020B0502040204020203" pitchFamily="34" charset="0"/>
            </a:endParaRPr>
          </a:p>
          <a:p>
            <a:pPr lvl="0" eaLnBrk="0" fontAlgn="base" hangingPunct="0">
              <a:lnSpc>
                <a:spcPct val="100000"/>
              </a:lnSpc>
              <a:spcBef>
                <a:spcPct val="0"/>
              </a:spcBef>
              <a:spcAft>
                <a:spcPct val="0"/>
              </a:spcAft>
            </a:pPr>
            <a:r>
              <a:rPr lang="it-IT" altLang="it-IT" sz="1600" b="1">
                <a:solidFill>
                  <a:srgbClr val="000000"/>
                </a:solidFill>
              </a:rPr>
              <a:t>Supportability</a:t>
            </a:r>
          </a:p>
          <a:p>
            <a:pPr lvl="0" eaLnBrk="0" fontAlgn="base" hangingPunct="0">
              <a:lnSpc>
                <a:spcPct val="100000"/>
              </a:lnSpc>
              <a:spcBef>
                <a:spcPct val="0"/>
              </a:spcBef>
              <a:spcAft>
                <a:spcPct val="0"/>
              </a:spcAft>
              <a:buFontTx/>
              <a:buChar char="•"/>
            </a:pPr>
            <a:r>
              <a:rPr lang="it-IT" altLang="it-IT" sz="1000" b="1">
                <a:solidFill>
                  <a:srgbClr val="000000"/>
                </a:solidFill>
              </a:rPr>
              <a:t>NFR 11:</a:t>
            </a:r>
            <a:r>
              <a:rPr lang="it-IT" altLang="it-IT" sz="1000">
                <a:solidFill>
                  <a:srgbClr val="000000"/>
                </a:solidFill>
              </a:rPr>
              <a:t> Architettura a layer (MVC + DAO) per facilitare manutenzione e sostituzione componenti.</a:t>
            </a:r>
          </a:p>
          <a:p>
            <a:pPr lvl="0" eaLnBrk="0" fontAlgn="base" hangingPunct="0">
              <a:lnSpc>
                <a:spcPct val="100000"/>
              </a:lnSpc>
              <a:spcBef>
                <a:spcPct val="0"/>
              </a:spcBef>
              <a:spcAft>
                <a:spcPct val="0"/>
              </a:spcAft>
              <a:buFontTx/>
              <a:buChar char="•"/>
            </a:pPr>
            <a:r>
              <a:rPr lang="it-IT" altLang="it-IT" sz="1000" b="1">
                <a:solidFill>
                  <a:srgbClr val="000000"/>
                </a:solidFill>
              </a:rPr>
              <a:t>NFR 12:</a:t>
            </a:r>
            <a:r>
              <a:rPr lang="it-IT" altLang="it-IT" sz="1000">
                <a:solidFill>
                  <a:srgbClr val="000000"/>
                </a:solidFill>
              </a:rPr>
              <a:t> Difese contro attacchi informatici comuni.</a:t>
            </a:r>
          </a:p>
          <a:p>
            <a:pPr lvl="0" eaLnBrk="0" fontAlgn="base" hangingPunct="0">
              <a:lnSpc>
                <a:spcPct val="100000"/>
              </a:lnSpc>
              <a:spcBef>
                <a:spcPct val="0"/>
              </a:spcBef>
              <a:spcAft>
                <a:spcPct val="0"/>
              </a:spcAft>
            </a:pPr>
            <a:endParaRPr lang="it-IT" altLang="it-IT" sz="1600" b="1">
              <a:solidFill>
                <a:srgbClr val="000000"/>
              </a:solidFill>
            </a:endParaRPr>
          </a:p>
          <a:p>
            <a:pPr lvl="0" eaLnBrk="0" fontAlgn="base" hangingPunct="0">
              <a:lnSpc>
                <a:spcPct val="100000"/>
              </a:lnSpc>
              <a:spcBef>
                <a:spcPct val="0"/>
              </a:spcBef>
              <a:spcAft>
                <a:spcPct val="0"/>
              </a:spcAft>
            </a:pPr>
            <a:r>
              <a:rPr lang="it-IT" altLang="it-IT" sz="1600" b="1">
                <a:solidFill>
                  <a:srgbClr val="000000"/>
                </a:solidFill>
              </a:rPr>
              <a:t>Implementation</a:t>
            </a:r>
          </a:p>
          <a:p>
            <a:pPr lvl="0" eaLnBrk="0" fontAlgn="base" hangingPunct="0">
              <a:lnSpc>
                <a:spcPct val="100000"/>
              </a:lnSpc>
              <a:spcBef>
                <a:spcPct val="0"/>
              </a:spcBef>
              <a:spcAft>
                <a:spcPct val="0"/>
              </a:spcAft>
              <a:buFontTx/>
              <a:buChar char="•"/>
            </a:pPr>
            <a:r>
              <a:rPr lang="it-IT" altLang="it-IT" sz="1000" b="1">
                <a:solidFill>
                  <a:srgbClr val="000000"/>
                </a:solidFill>
              </a:rPr>
              <a:t>NFR 13:</a:t>
            </a:r>
            <a:r>
              <a:rPr lang="it-IT" altLang="it-IT" sz="1000">
                <a:solidFill>
                  <a:srgbClr val="000000"/>
                </a:solidFill>
              </a:rPr>
              <a:t> Tecnologie utilizzate: Java Servlet/JSP, CSS, JDBC, MySQL, Apache Tomcat.</a:t>
            </a:r>
          </a:p>
          <a:p>
            <a:pPr lvl="0" eaLnBrk="0" fontAlgn="base" hangingPunct="0">
              <a:lnSpc>
                <a:spcPct val="100000"/>
              </a:lnSpc>
              <a:spcBef>
                <a:spcPct val="0"/>
              </a:spcBef>
              <a:spcAft>
                <a:spcPct val="0"/>
              </a:spcAft>
            </a:pPr>
            <a:r>
              <a:rPr lang="it-IT" altLang="it-IT" sz="1000" b="1">
                <a:solidFill>
                  <a:srgbClr val="000000"/>
                </a:solidFill>
              </a:rPr>
              <a:t>Interface</a:t>
            </a:r>
          </a:p>
          <a:p>
            <a:pPr lvl="0" eaLnBrk="0" fontAlgn="base" hangingPunct="0">
              <a:lnSpc>
                <a:spcPct val="100000"/>
              </a:lnSpc>
              <a:spcBef>
                <a:spcPct val="0"/>
              </a:spcBef>
              <a:spcAft>
                <a:spcPct val="0"/>
              </a:spcAft>
              <a:buFontTx/>
              <a:buChar char="•"/>
            </a:pPr>
            <a:r>
              <a:rPr lang="it-IT" altLang="it-IT" sz="1000" b="1">
                <a:solidFill>
                  <a:srgbClr val="000000"/>
                </a:solidFill>
              </a:rPr>
              <a:t>NFR 14:</a:t>
            </a:r>
            <a:r>
              <a:rPr lang="it-IT" altLang="it-IT" sz="1000">
                <a:solidFill>
                  <a:srgbClr val="000000"/>
                </a:solidFill>
              </a:rPr>
              <a:t> Compatibilità con i principali browser, supportando le versioni più recenti.</a:t>
            </a:r>
          </a:p>
          <a:p>
            <a:pPr lvl="0" eaLnBrk="0" fontAlgn="base" hangingPunct="0">
              <a:lnSpc>
                <a:spcPct val="100000"/>
              </a:lnSpc>
              <a:spcBef>
                <a:spcPct val="0"/>
              </a:spcBef>
              <a:spcAft>
                <a:spcPct val="0"/>
              </a:spcAft>
              <a:buFontTx/>
              <a:buChar char="•"/>
            </a:pPr>
            <a:r>
              <a:rPr lang="it-IT" altLang="it-IT" sz="1000" b="1">
                <a:solidFill>
                  <a:srgbClr val="000000"/>
                </a:solidFill>
              </a:rPr>
              <a:t>NFR 15:</a:t>
            </a:r>
            <a:r>
              <a:rPr lang="it-IT" altLang="it-IT" sz="1000">
                <a:solidFill>
                  <a:srgbClr val="000000"/>
                </a:solidFill>
              </a:rPr>
              <a:t> Interfaccia coerente basata su principi UI/UX per facilitare la navigazione.</a:t>
            </a:r>
          </a:p>
          <a:p>
            <a:pPr lvl="0" eaLnBrk="0" fontAlgn="base" hangingPunct="0">
              <a:lnSpc>
                <a:spcPct val="100000"/>
              </a:lnSpc>
              <a:spcBef>
                <a:spcPct val="0"/>
              </a:spcBef>
              <a:spcAft>
                <a:spcPct val="0"/>
              </a:spcAft>
            </a:pPr>
            <a:endParaRPr lang="it-IT" altLang="it-IT" sz="1600" b="1">
              <a:solidFill>
                <a:srgbClr val="000000"/>
              </a:solidFill>
            </a:endParaRPr>
          </a:p>
          <a:p>
            <a:pPr lvl="0" eaLnBrk="0" fontAlgn="base" hangingPunct="0">
              <a:lnSpc>
                <a:spcPct val="100000"/>
              </a:lnSpc>
              <a:spcBef>
                <a:spcPct val="0"/>
              </a:spcBef>
              <a:spcAft>
                <a:spcPct val="0"/>
              </a:spcAft>
            </a:pPr>
            <a:r>
              <a:rPr lang="it-IT" altLang="it-IT" sz="1600" b="1">
                <a:solidFill>
                  <a:srgbClr val="000000"/>
                </a:solidFill>
              </a:rPr>
              <a:t>Packaging</a:t>
            </a:r>
          </a:p>
          <a:p>
            <a:pPr lvl="0" eaLnBrk="0" fontAlgn="base" hangingPunct="0">
              <a:lnSpc>
                <a:spcPct val="100000"/>
              </a:lnSpc>
              <a:spcBef>
                <a:spcPct val="0"/>
              </a:spcBef>
              <a:spcAft>
                <a:spcPct val="0"/>
              </a:spcAft>
              <a:buFontTx/>
              <a:buChar char="•"/>
            </a:pPr>
            <a:r>
              <a:rPr lang="it-IT" altLang="it-IT" sz="1000" b="1">
                <a:solidFill>
                  <a:srgbClr val="000000"/>
                </a:solidFill>
              </a:rPr>
              <a:t>NFR 16:</a:t>
            </a:r>
            <a:r>
              <a:rPr lang="it-IT" altLang="it-IT" sz="1000">
                <a:solidFill>
                  <a:srgbClr val="000000"/>
                </a:solidFill>
              </a:rPr>
              <a:t> Distribuzione sotto forma di archivio .war tramite Apache Tomcat.</a:t>
            </a:r>
          </a:p>
          <a:p>
            <a:pPr lvl="0" eaLnBrk="0" fontAlgn="base" hangingPunct="0">
              <a:lnSpc>
                <a:spcPct val="100000"/>
              </a:lnSpc>
              <a:spcBef>
                <a:spcPct val="0"/>
              </a:spcBef>
              <a:spcAft>
                <a:spcPct val="0"/>
              </a:spcAft>
            </a:pPr>
            <a:r>
              <a:rPr lang="it-IT" altLang="it-IT" sz="1000" b="1">
                <a:solidFill>
                  <a:srgbClr val="000000"/>
                </a:solidFill>
              </a:rPr>
              <a:t>Legal</a:t>
            </a:r>
          </a:p>
          <a:p>
            <a:pPr lvl="0" eaLnBrk="0" fontAlgn="base" hangingPunct="0">
              <a:lnSpc>
                <a:spcPct val="100000"/>
              </a:lnSpc>
              <a:spcBef>
                <a:spcPct val="0"/>
              </a:spcBef>
              <a:spcAft>
                <a:spcPct val="0"/>
              </a:spcAft>
              <a:buFontTx/>
              <a:buChar char="•"/>
            </a:pPr>
            <a:r>
              <a:rPr lang="it-IT" altLang="it-IT" sz="1000" b="1">
                <a:solidFill>
                  <a:srgbClr val="000000"/>
                </a:solidFill>
              </a:rPr>
              <a:t>NFR 17:</a:t>
            </a:r>
            <a:r>
              <a:rPr lang="it-IT" altLang="it-IT" sz="1000">
                <a:solidFill>
                  <a:srgbClr val="000000"/>
                </a:solidFill>
              </a:rPr>
              <a:t> Conformità alle normative sulla privacy più recenti (es. GDPR).</a:t>
            </a:r>
            <a:endParaRPr kumimoji="0" lang="it-IT" altLang="it-IT" sz="1000" b="0" i="0" u="none" strike="noStrike" cap="none" normalizeH="0" baseline="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it-IT" altLang="it-IT" sz="1000">
              <a:solidFill>
                <a:srgbClr val="000000"/>
              </a:solidFill>
            </a:endParaRPr>
          </a:p>
          <a:p>
            <a:pPr marL="0" marR="0" lvl="0" indent="0" algn="l" defTabSz="914400" rtl="0" eaLnBrk="0" fontAlgn="base" latinLnBrk="0" hangingPunct="0">
              <a:lnSpc>
                <a:spcPct val="100000"/>
              </a:lnSpc>
              <a:spcBef>
                <a:spcPct val="0"/>
              </a:spcBef>
              <a:spcAft>
                <a:spcPct val="0"/>
              </a:spcAft>
              <a:buClrTx/>
              <a:buSzTx/>
              <a:tabLst/>
            </a:pPr>
            <a:endParaRPr kumimoji="0" lang="it-IT" altLang="it-IT" sz="1000" b="0" i="0" u="none" strike="noStrike" cap="none" normalizeH="0" baseline="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7067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C497D2-101C-9498-3449-62A6DC69E1F7}"/>
              </a:ext>
            </a:extLst>
          </p:cNvPr>
          <p:cNvSpPr>
            <a:spLocks noGrp="1"/>
          </p:cNvSpPr>
          <p:nvPr>
            <p:ph type="title"/>
          </p:nvPr>
        </p:nvSpPr>
        <p:spPr>
          <a:xfrm>
            <a:off x="416333" y="1673488"/>
            <a:ext cx="3781856" cy="4359964"/>
          </a:xfrm>
        </p:spPr>
        <p:txBody>
          <a:bodyPr anchor="t">
            <a:normAutofit/>
          </a:bodyPr>
          <a:lstStyle/>
          <a:p>
            <a:r>
              <a:rPr lang="it-IT" dirty="0"/>
              <a:t>Use Cases</a:t>
            </a:r>
          </a:p>
        </p:txBody>
      </p:sp>
      <p:sp>
        <p:nvSpPr>
          <p:cNvPr id="3" name="Segnaposto contenuto 2">
            <a:extLst>
              <a:ext uri="{FF2B5EF4-FFF2-40B4-BE49-F238E27FC236}">
                <a16:creationId xmlns:a16="http://schemas.microsoft.com/office/drawing/2014/main" id="{F69D227E-39CB-CAB7-D36B-9F47677DE76D}"/>
              </a:ext>
            </a:extLst>
          </p:cNvPr>
          <p:cNvSpPr>
            <a:spLocks noGrp="1"/>
          </p:cNvSpPr>
          <p:nvPr>
            <p:ph idx="1"/>
          </p:nvPr>
        </p:nvSpPr>
        <p:spPr>
          <a:xfrm>
            <a:off x="4399472" y="1155940"/>
            <a:ext cx="6191942" cy="4728025"/>
          </a:xfrm>
        </p:spPr>
        <p:txBody>
          <a:bodyPr>
            <a:normAutofit/>
          </a:bodyPr>
          <a:lstStyle/>
          <a:p>
            <a:r>
              <a:rPr lang="it-IT" dirty="0"/>
              <a:t>UC1: Autenticazione</a:t>
            </a:r>
          </a:p>
          <a:p>
            <a:r>
              <a:rPr lang="it-IT" dirty="0"/>
              <a:t>UC2: Registrazione</a:t>
            </a:r>
          </a:p>
          <a:p>
            <a:r>
              <a:rPr lang="it-IT" dirty="0"/>
              <a:t>UC3: Acquisto diretto</a:t>
            </a:r>
          </a:p>
          <a:p>
            <a:r>
              <a:rPr lang="it-IT" dirty="0"/>
              <a:t>UC4: Acquisto da carrello</a:t>
            </a:r>
          </a:p>
          <a:p>
            <a:r>
              <a:rPr lang="it-IT" dirty="0"/>
              <a:t>UC5: Modifiche stock prodotti</a:t>
            </a:r>
          </a:p>
          <a:p>
            <a:r>
              <a:rPr lang="it-IT" dirty="0"/>
              <a:t>UC6: Modifica prezzo prodotti</a:t>
            </a:r>
          </a:p>
          <a:p>
            <a:r>
              <a:rPr lang="it-IT" dirty="0"/>
              <a:t>UC7: Aggiunta di un prodotto</a:t>
            </a:r>
          </a:p>
          <a:p>
            <a:r>
              <a:rPr lang="it-IT" dirty="0"/>
              <a:t>UC8: Eliminazione prodotto</a:t>
            </a:r>
          </a:p>
          <a:p>
            <a:r>
              <a:rPr lang="it-IT" dirty="0"/>
              <a:t>UC9: Modifica stato ordine e informazioni di spedizione</a:t>
            </a:r>
          </a:p>
        </p:txBody>
      </p:sp>
    </p:spTree>
    <p:extLst>
      <p:ext uri="{BB962C8B-B14F-4D97-AF65-F5344CB8AC3E}">
        <p14:creationId xmlns:p14="http://schemas.microsoft.com/office/powerpoint/2010/main" val="3155269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BCEDE5-C4D3-325F-D141-6FC1AFD0451D}"/>
              </a:ext>
            </a:extLst>
          </p:cNvPr>
          <p:cNvSpPr>
            <a:spLocks noGrp="1"/>
          </p:cNvSpPr>
          <p:nvPr>
            <p:ph type="title"/>
          </p:nvPr>
        </p:nvSpPr>
        <p:spPr/>
        <p:txBody>
          <a:bodyPr/>
          <a:lstStyle/>
          <a:p>
            <a:r>
              <a:rPr lang="it-IT" dirty="0"/>
              <a:t>Autenticazione</a:t>
            </a:r>
          </a:p>
        </p:txBody>
      </p:sp>
      <p:sp>
        <p:nvSpPr>
          <p:cNvPr id="3" name="Segnaposto contenuto 2">
            <a:extLst>
              <a:ext uri="{FF2B5EF4-FFF2-40B4-BE49-F238E27FC236}">
                <a16:creationId xmlns:a16="http://schemas.microsoft.com/office/drawing/2014/main" id="{CC37C100-C30E-E5F1-3233-A10B39385DAD}"/>
              </a:ext>
            </a:extLst>
          </p:cNvPr>
          <p:cNvSpPr>
            <a:spLocks noGrp="1"/>
          </p:cNvSpPr>
          <p:nvPr>
            <p:ph idx="1"/>
          </p:nvPr>
        </p:nvSpPr>
        <p:spPr/>
        <p:txBody>
          <a:bodyPr/>
          <a:lstStyle/>
          <a:p>
            <a:r>
              <a:rPr lang="it-IT" dirty="0"/>
              <a:t>Gli utenti e gli amministratori possono accedere al sito inserendo le proprie credenziali, ossia e-mail e password. Il sistema verifica che l’e-mail sia scritta correttamente e che le credenziali siano presenti nel database. In caso di successo, l’utente viene reindirizzato alla propria home page, mentre un amministratore viene portato alla propria dashboard, dove può gestire operazioni riservate. Se l’e-mail o la password non sono corrette, il sistema segnala l’errore senza ricaricare la pagina, così l’utente può correggere i dati inseriti.</a:t>
            </a:r>
          </a:p>
          <a:p>
            <a:endParaRPr lang="it-IT" dirty="0"/>
          </a:p>
        </p:txBody>
      </p:sp>
    </p:spTree>
    <p:extLst>
      <p:ext uri="{BB962C8B-B14F-4D97-AF65-F5344CB8AC3E}">
        <p14:creationId xmlns:p14="http://schemas.microsoft.com/office/powerpoint/2010/main" val="630161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010318-C83E-203E-4E8B-5CBAF5026F8B}"/>
              </a:ext>
            </a:extLst>
          </p:cNvPr>
          <p:cNvSpPr>
            <a:spLocks noGrp="1"/>
          </p:cNvSpPr>
          <p:nvPr>
            <p:ph type="title"/>
          </p:nvPr>
        </p:nvSpPr>
        <p:spPr/>
        <p:txBody>
          <a:bodyPr/>
          <a:lstStyle/>
          <a:p>
            <a:r>
              <a:rPr lang="it-IT" dirty="0"/>
              <a:t>Registrazione</a:t>
            </a:r>
          </a:p>
        </p:txBody>
      </p:sp>
      <p:sp>
        <p:nvSpPr>
          <p:cNvPr id="3" name="Segnaposto contenuto 2">
            <a:extLst>
              <a:ext uri="{FF2B5EF4-FFF2-40B4-BE49-F238E27FC236}">
                <a16:creationId xmlns:a16="http://schemas.microsoft.com/office/drawing/2014/main" id="{B5303DB1-72EA-E327-6993-0EADA86C088D}"/>
              </a:ext>
            </a:extLst>
          </p:cNvPr>
          <p:cNvSpPr>
            <a:spLocks noGrp="1"/>
          </p:cNvSpPr>
          <p:nvPr>
            <p:ph idx="1"/>
          </p:nvPr>
        </p:nvSpPr>
        <p:spPr/>
        <p:txBody>
          <a:bodyPr/>
          <a:lstStyle/>
          <a:p>
            <a:r>
              <a:rPr lang="it-IT" dirty="0"/>
              <a:t>Chi non possiede ancora un account può registrarsi. L’utente compila un form con tutti i dati richiesti, come e-mail, password e altre informazioni personali. Il sistema verifica la correttezza dei dati e controlla che l’e-mail non sia già presente nel database. Se tutto è corretto, l’utente viene inserito nel sistema e autenticato automaticamente, venendo reindirizzato alla home page. In caso di errori nei campi o se l’e-mail è già registrata, il sistema segnala il problema e consente all’utente di correggerlo senza perdere i dati già inseriti.</a:t>
            </a:r>
          </a:p>
          <a:p>
            <a:endParaRPr lang="it-IT" dirty="0"/>
          </a:p>
        </p:txBody>
      </p:sp>
    </p:spTree>
    <p:extLst>
      <p:ext uri="{BB962C8B-B14F-4D97-AF65-F5344CB8AC3E}">
        <p14:creationId xmlns:p14="http://schemas.microsoft.com/office/powerpoint/2010/main" val="3247980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8A5C5E-C944-82BA-1251-E227F5AB12BD}"/>
              </a:ext>
            </a:extLst>
          </p:cNvPr>
          <p:cNvSpPr>
            <a:spLocks noGrp="1"/>
          </p:cNvSpPr>
          <p:nvPr>
            <p:ph type="title"/>
          </p:nvPr>
        </p:nvSpPr>
        <p:spPr/>
        <p:txBody>
          <a:bodyPr/>
          <a:lstStyle/>
          <a:p>
            <a:r>
              <a:rPr lang="it-IT" dirty="0"/>
              <a:t>Acquisto diretto</a:t>
            </a:r>
          </a:p>
        </p:txBody>
      </p:sp>
      <p:sp>
        <p:nvSpPr>
          <p:cNvPr id="3" name="Segnaposto contenuto 2">
            <a:extLst>
              <a:ext uri="{FF2B5EF4-FFF2-40B4-BE49-F238E27FC236}">
                <a16:creationId xmlns:a16="http://schemas.microsoft.com/office/drawing/2014/main" id="{C0C42B35-334A-6E64-F9E7-F7C526C3E261}"/>
              </a:ext>
            </a:extLst>
          </p:cNvPr>
          <p:cNvSpPr>
            <a:spLocks noGrp="1"/>
          </p:cNvSpPr>
          <p:nvPr>
            <p:ph idx="1"/>
          </p:nvPr>
        </p:nvSpPr>
        <p:spPr/>
        <p:txBody>
          <a:bodyPr/>
          <a:lstStyle/>
          <a:p>
            <a:r>
              <a:rPr lang="it-IT" dirty="0"/>
              <a:t>Gli utenti possono acquistare un prodotto direttamente dalla pagina del prodotto stesso. Prima di procedere, il sistema verifica che l’utente sia autenticato. L’utente inserisce poi le informazioni di spedizione e pagamento in un form. Se i dati sono corretti, il sistema registra l’acquisto, aggiorna lo stock del prodotto e porta l’utente alla pagina dei propri ordini, dove può vedere l’acquisto appena effettuato. Se l’utente non è autenticato, viene invitato a fare il login; se i dati inseriti nel form sono errati, il sistema evidenzia l’errore senza ricaricare la pagina.</a:t>
            </a:r>
          </a:p>
          <a:p>
            <a:endParaRPr lang="it-IT" dirty="0"/>
          </a:p>
        </p:txBody>
      </p:sp>
    </p:spTree>
    <p:extLst>
      <p:ext uri="{BB962C8B-B14F-4D97-AF65-F5344CB8AC3E}">
        <p14:creationId xmlns:p14="http://schemas.microsoft.com/office/powerpoint/2010/main" val="1200494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37AE34-310E-C79D-08EC-B2879A358345}"/>
              </a:ext>
            </a:extLst>
          </p:cNvPr>
          <p:cNvSpPr>
            <a:spLocks noGrp="1"/>
          </p:cNvSpPr>
          <p:nvPr>
            <p:ph type="title"/>
          </p:nvPr>
        </p:nvSpPr>
        <p:spPr/>
        <p:txBody>
          <a:bodyPr/>
          <a:lstStyle/>
          <a:p>
            <a:r>
              <a:rPr lang="it-IT" dirty="0"/>
              <a:t>Acquisto da carrello</a:t>
            </a:r>
          </a:p>
        </p:txBody>
      </p:sp>
      <p:sp>
        <p:nvSpPr>
          <p:cNvPr id="3" name="Segnaposto contenuto 2">
            <a:extLst>
              <a:ext uri="{FF2B5EF4-FFF2-40B4-BE49-F238E27FC236}">
                <a16:creationId xmlns:a16="http://schemas.microsoft.com/office/drawing/2014/main" id="{E9A89DC6-F8E8-F397-086E-5F6760AD468A}"/>
              </a:ext>
            </a:extLst>
          </p:cNvPr>
          <p:cNvSpPr>
            <a:spLocks noGrp="1"/>
          </p:cNvSpPr>
          <p:nvPr>
            <p:ph idx="1"/>
          </p:nvPr>
        </p:nvSpPr>
        <p:spPr/>
        <p:txBody>
          <a:bodyPr/>
          <a:lstStyle/>
          <a:p>
            <a:r>
              <a:rPr lang="it-IT" dirty="0"/>
              <a:t>Quando un utente aggiunge più prodotti al carrello, può procedere all’acquisto complessivo. Dopo aver selezionato le quantità disponibili per ciascun prodotto, l’utente verifica il totale e compila il form di spedizione e pagamento. Il sistema controlla l’autenticazione e la correttezza dei dati inseriti, registra l’ordine e aggiorna lo stock dei prodotti acquistati. Anche in questo caso, se l’utente non è autenticato, viene richiesto il login senza perdere i prodotti nel carrello, e se ci sono errori nel form, vengono evidenziati per poterli correggere.</a:t>
            </a:r>
          </a:p>
          <a:p>
            <a:endParaRPr lang="it-IT" dirty="0"/>
          </a:p>
        </p:txBody>
      </p:sp>
    </p:spTree>
    <p:extLst>
      <p:ext uri="{BB962C8B-B14F-4D97-AF65-F5344CB8AC3E}">
        <p14:creationId xmlns:p14="http://schemas.microsoft.com/office/powerpoint/2010/main" val="1410749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7E3CB1-BDFE-8FF1-5337-1D7E74899F0F}"/>
              </a:ext>
            </a:extLst>
          </p:cNvPr>
          <p:cNvSpPr>
            <a:spLocks noGrp="1"/>
          </p:cNvSpPr>
          <p:nvPr>
            <p:ph type="title"/>
          </p:nvPr>
        </p:nvSpPr>
        <p:spPr/>
        <p:txBody>
          <a:bodyPr/>
          <a:lstStyle/>
          <a:p>
            <a:r>
              <a:rPr lang="it-IT" dirty="0"/>
              <a:t>Gestione Stock dei Prodotti</a:t>
            </a:r>
          </a:p>
        </p:txBody>
      </p:sp>
      <p:sp>
        <p:nvSpPr>
          <p:cNvPr id="3" name="Segnaposto contenuto 2">
            <a:extLst>
              <a:ext uri="{FF2B5EF4-FFF2-40B4-BE49-F238E27FC236}">
                <a16:creationId xmlns:a16="http://schemas.microsoft.com/office/drawing/2014/main" id="{D9A66348-3B87-42CC-72E5-B67BDFA4C35D}"/>
              </a:ext>
            </a:extLst>
          </p:cNvPr>
          <p:cNvSpPr>
            <a:spLocks noGrp="1"/>
          </p:cNvSpPr>
          <p:nvPr>
            <p:ph idx="1"/>
          </p:nvPr>
        </p:nvSpPr>
        <p:spPr/>
        <p:txBody>
          <a:bodyPr/>
          <a:lstStyle/>
          <a:p>
            <a:r>
              <a:rPr lang="it-IT" dirty="0"/>
              <a:t>Gli amministratori, una volta autenticati, possono modificare lo stock dei prodotti disponibili. Possono aumentare o diminuire le quantità di ciascun prodotto. Il sistema controlla la validità delle quantità inserite, aggiorna il database e mostra immediatamente lo stock aggiornato. Se viene inserita una quantità non consentita, il sistema segnala l’errore e permette all’amministratore di correggerlo.</a:t>
            </a:r>
          </a:p>
          <a:p>
            <a:endParaRPr lang="it-IT" dirty="0"/>
          </a:p>
        </p:txBody>
      </p:sp>
    </p:spTree>
    <p:extLst>
      <p:ext uri="{BB962C8B-B14F-4D97-AF65-F5344CB8AC3E}">
        <p14:creationId xmlns:p14="http://schemas.microsoft.com/office/powerpoint/2010/main" val="2843945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225C3FC-C7D3-8523-85A7-914211056C38}"/>
              </a:ext>
            </a:extLst>
          </p:cNvPr>
          <p:cNvSpPr>
            <a:spLocks noGrp="1"/>
          </p:cNvSpPr>
          <p:nvPr>
            <p:ph type="title"/>
          </p:nvPr>
        </p:nvSpPr>
        <p:spPr/>
        <p:txBody>
          <a:bodyPr/>
          <a:lstStyle/>
          <a:p>
            <a:r>
              <a:rPr lang="it-IT" dirty="0"/>
              <a:t>Modifica dei Prezzi</a:t>
            </a:r>
          </a:p>
        </p:txBody>
      </p:sp>
      <p:sp>
        <p:nvSpPr>
          <p:cNvPr id="3" name="Segnaposto contenuto 2">
            <a:extLst>
              <a:ext uri="{FF2B5EF4-FFF2-40B4-BE49-F238E27FC236}">
                <a16:creationId xmlns:a16="http://schemas.microsoft.com/office/drawing/2014/main" id="{3C91ED22-F499-2227-A297-5A98EA5AD79A}"/>
              </a:ext>
            </a:extLst>
          </p:cNvPr>
          <p:cNvSpPr>
            <a:spLocks noGrp="1"/>
          </p:cNvSpPr>
          <p:nvPr>
            <p:ph idx="1"/>
          </p:nvPr>
        </p:nvSpPr>
        <p:spPr/>
        <p:txBody>
          <a:bodyPr/>
          <a:lstStyle/>
          <a:p>
            <a:r>
              <a:rPr lang="it-IT" dirty="0"/>
              <a:t>Gli amministratori possono aggiornare i prezzi dei prodotti. Dopo aver selezionato il prodotto e inserito il nuovo prezzo, il sistema verifica che sia valido, aggiorna il database e mostra immediatamente il prezzo aggiornato nella pagina. In caso di valori non validi, viene segnalato l’errore e l’amministratore può correggerlo.</a:t>
            </a:r>
          </a:p>
          <a:p>
            <a:endParaRPr lang="it-IT" dirty="0"/>
          </a:p>
        </p:txBody>
      </p:sp>
    </p:spTree>
    <p:extLst>
      <p:ext uri="{BB962C8B-B14F-4D97-AF65-F5344CB8AC3E}">
        <p14:creationId xmlns:p14="http://schemas.microsoft.com/office/powerpoint/2010/main" val="1249725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F2DB94-51AB-B4AD-55C4-F999C47583BE}"/>
              </a:ext>
            </a:extLst>
          </p:cNvPr>
          <p:cNvSpPr>
            <a:spLocks noGrp="1"/>
          </p:cNvSpPr>
          <p:nvPr>
            <p:ph type="title"/>
          </p:nvPr>
        </p:nvSpPr>
        <p:spPr/>
        <p:txBody>
          <a:bodyPr/>
          <a:lstStyle/>
          <a:p>
            <a:r>
              <a:rPr lang="it-IT" dirty="0"/>
              <a:t>Aggiunta di nuovi prodotti</a:t>
            </a:r>
          </a:p>
        </p:txBody>
      </p:sp>
      <p:sp>
        <p:nvSpPr>
          <p:cNvPr id="3" name="Segnaposto contenuto 2">
            <a:extLst>
              <a:ext uri="{FF2B5EF4-FFF2-40B4-BE49-F238E27FC236}">
                <a16:creationId xmlns:a16="http://schemas.microsoft.com/office/drawing/2014/main" id="{A03ABCE7-529D-DE1D-2A0C-403AF5A7E5F9}"/>
              </a:ext>
            </a:extLst>
          </p:cNvPr>
          <p:cNvSpPr>
            <a:spLocks noGrp="1"/>
          </p:cNvSpPr>
          <p:nvPr>
            <p:ph idx="1"/>
          </p:nvPr>
        </p:nvSpPr>
        <p:spPr/>
        <p:txBody>
          <a:bodyPr/>
          <a:lstStyle/>
          <a:p>
            <a:r>
              <a:rPr lang="it-IT" dirty="0"/>
              <a:t>Gli amministratori possono inserire nuovi prodotti nel catalogo compilando un form con tutte le informazioni necessarie, come nome, descrizione, prezzo e quantità disponibile. Il sistema verifica che tutti i dati siano corretti prima di aggiungere il prodotto al database e mostra la pagina aggiornata con il nuovo prodotto. Se alcuni campi sono mancanti o errati, il sistema li evidenzia e permette di correggerli senza ricaricare l’intera pagina.</a:t>
            </a:r>
          </a:p>
          <a:p>
            <a:endParaRPr lang="it-IT" dirty="0"/>
          </a:p>
        </p:txBody>
      </p:sp>
    </p:spTree>
    <p:extLst>
      <p:ext uri="{BB962C8B-B14F-4D97-AF65-F5344CB8AC3E}">
        <p14:creationId xmlns:p14="http://schemas.microsoft.com/office/powerpoint/2010/main" val="2961730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D6143A0-6C81-3A6E-3DDB-C683479BE3FD}"/>
              </a:ext>
            </a:extLst>
          </p:cNvPr>
          <p:cNvSpPr>
            <a:spLocks noGrp="1"/>
          </p:cNvSpPr>
          <p:nvPr>
            <p:ph type="title"/>
          </p:nvPr>
        </p:nvSpPr>
        <p:spPr/>
        <p:txBody>
          <a:bodyPr/>
          <a:lstStyle/>
          <a:p>
            <a:r>
              <a:rPr lang="it-IT" dirty="0"/>
              <a:t>Eliminazione di prodotti</a:t>
            </a:r>
          </a:p>
        </p:txBody>
      </p:sp>
      <p:sp>
        <p:nvSpPr>
          <p:cNvPr id="3" name="Segnaposto contenuto 2">
            <a:extLst>
              <a:ext uri="{FF2B5EF4-FFF2-40B4-BE49-F238E27FC236}">
                <a16:creationId xmlns:a16="http://schemas.microsoft.com/office/drawing/2014/main" id="{C93DB388-903A-7978-B235-E4FAC3FE8A2A}"/>
              </a:ext>
            </a:extLst>
          </p:cNvPr>
          <p:cNvSpPr>
            <a:spLocks noGrp="1"/>
          </p:cNvSpPr>
          <p:nvPr>
            <p:ph idx="1"/>
          </p:nvPr>
        </p:nvSpPr>
        <p:spPr/>
        <p:txBody>
          <a:bodyPr/>
          <a:lstStyle/>
          <a:p>
            <a:r>
              <a:rPr lang="it-IT" dirty="0"/>
              <a:t>Gli amministratori possono rimuovere un prodotto dal catalogo. Tuttavia, per evitare problemi di consistenza nel database, il prodotto non viene eliminato fisicamente, ma il suo stato viene impostato su “disattivo”. In questo modo il prodotto non sarà più acquistabile dagli utenti, ma i dati rimangono salvati per eventuali controlli o statistiche</a:t>
            </a:r>
          </a:p>
          <a:p>
            <a:endParaRPr lang="it-IT" dirty="0"/>
          </a:p>
        </p:txBody>
      </p:sp>
    </p:spTree>
    <p:extLst>
      <p:ext uri="{BB962C8B-B14F-4D97-AF65-F5344CB8AC3E}">
        <p14:creationId xmlns:p14="http://schemas.microsoft.com/office/powerpoint/2010/main" val="2280680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C65303-C625-7414-0E7A-ED869B0E2CCD}"/>
              </a:ext>
            </a:extLst>
          </p:cNvPr>
          <p:cNvSpPr>
            <a:spLocks noGrp="1"/>
          </p:cNvSpPr>
          <p:nvPr>
            <p:ph type="title"/>
          </p:nvPr>
        </p:nvSpPr>
        <p:spPr/>
        <p:txBody>
          <a:bodyPr/>
          <a:lstStyle/>
          <a:p>
            <a:r>
              <a:rPr lang="it-IT" dirty="0"/>
              <a:t>Gestione ordini e spedizione</a:t>
            </a:r>
          </a:p>
        </p:txBody>
      </p:sp>
      <p:sp>
        <p:nvSpPr>
          <p:cNvPr id="3" name="Segnaposto contenuto 2">
            <a:extLst>
              <a:ext uri="{FF2B5EF4-FFF2-40B4-BE49-F238E27FC236}">
                <a16:creationId xmlns:a16="http://schemas.microsoft.com/office/drawing/2014/main" id="{F5B3857E-644A-976F-64FA-E16726551F9E}"/>
              </a:ext>
            </a:extLst>
          </p:cNvPr>
          <p:cNvSpPr>
            <a:spLocks noGrp="1"/>
          </p:cNvSpPr>
          <p:nvPr>
            <p:ph idx="1"/>
          </p:nvPr>
        </p:nvSpPr>
        <p:spPr/>
        <p:txBody>
          <a:bodyPr/>
          <a:lstStyle/>
          <a:p>
            <a:r>
              <a:rPr lang="it-IT" dirty="0"/>
              <a:t>Sia gli amministratori che gli utenti possono aggiornare alcune informazioni sugli ordini. Gli utenti possono modificare i dati di spedizione, mentre gli amministratori possono aggiornare lo stato dell’ordine e le informazioni di spedizione. Il sistema verifica la correttezza dei dati inseriti, aggiorna il database e mostra immediatamente le modifiche. In caso di errori nei campi, il sistema segnala l’errore e permette di correggerlo senza ricaricare la pagina.</a:t>
            </a:r>
          </a:p>
          <a:p>
            <a:endParaRPr lang="it-IT" dirty="0"/>
          </a:p>
        </p:txBody>
      </p:sp>
    </p:spTree>
    <p:extLst>
      <p:ext uri="{BB962C8B-B14F-4D97-AF65-F5344CB8AC3E}">
        <p14:creationId xmlns:p14="http://schemas.microsoft.com/office/powerpoint/2010/main" val="765836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0B6CC5-8BCD-9200-0550-08349801459F}"/>
              </a:ext>
            </a:extLst>
          </p:cNvPr>
          <p:cNvSpPr>
            <a:spLocks noGrp="1"/>
          </p:cNvSpPr>
          <p:nvPr>
            <p:ph type="title"/>
          </p:nvPr>
        </p:nvSpPr>
        <p:spPr>
          <a:xfrm>
            <a:off x="530352" y="589788"/>
            <a:ext cx="4922638" cy="2510921"/>
          </a:xfrm>
        </p:spPr>
        <p:txBody>
          <a:bodyPr vert="horz" lIns="91440" tIns="45720" rIns="91440" bIns="45720" rtlCol="0" anchor="b">
            <a:normAutofit/>
          </a:bodyPr>
          <a:lstStyle/>
          <a:p>
            <a:pPr>
              <a:lnSpc>
                <a:spcPct val="90000"/>
              </a:lnSpc>
            </a:pPr>
            <a:r>
              <a:rPr lang="en-US" sz="4000"/>
              <a:t>Use Cases in comune</a:t>
            </a:r>
            <a:br>
              <a:rPr lang="en-US" sz="4000"/>
            </a:br>
            <a:r>
              <a:rPr lang="en-US" sz="4000"/>
              <a:t>tra utente e amministratore</a:t>
            </a:r>
          </a:p>
        </p:txBody>
      </p:sp>
      <p:pic>
        <p:nvPicPr>
          <p:cNvPr id="5" name="Segnaposto contenuto 4" descr="Immagine che contiene diagramma, linea, Parallelo&#10;&#10;Il contenuto generato dall'IA potrebbe non essere corretto.">
            <a:extLst>
              <a:ext uri="{FF2B5EF4-FFF2-40B4-BE49-F238E27FC236}">
                <a16:creationId xmlns:a16="http://schemas.microsoft.com/office/drawing/2014/main" id="{7D28A7AD-3EAB-3D13-549D-92EF8CDE4548}"/>
              </a:ext>
            </a:extLst>
          </p:cNvPr>
          <p:cNvPicPr>
            <a:picLocks noGrp="1" noChangeAspect="1"/>
          </p:cNvPicPr>
          <p:nvPr>
            <p:ph idx="1"/>
          </p:nvPr>
        </p:nvPicPr>
        <p:blipFill>
          <a:blip r:embed="rId2"/>
          <a:stretch>
            <a:fillRect/>
          </a:stretch>
        </p:blipFill>
        <p:spPr>
          <a:xfrm>
            <a:off x="5978511" y="1493724"/>
            <a:ext cx="5691988" cy="3870551"/>
          </a:xfrm>
          <a:prstGeom prst="rect">
            <a:avLst/>
          </a:prstGeom>
        </p:spPr>
      </p:pic>
    </p:spTree>
    <p:extLst>
      <p:ext uri="{BB962C8B-B14F-4D97-AF65-F5344CB8AC3E}">
        <p14:creationId xmlns:p14="http://schemas.microsoft.com/office/powerpoint/2010/main" val="3973577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41A4764-2148-8129-2E24-76D8AC023C57}"/>
              </a:ext>
            </a:extLst>
          </p:cNvPr>
          <p:cNvSpPr>
            <a:spLocks noGrp="1"/>
          </p:cNvSpPr>
          <p:nvPr>
            <p:ph type="title"/>
          </p:nvPr>
        </p:nvSpPr>
        <p:spPr>
          <a:xfrm>
            <a:off x="547009" y="1414733"/>
            <a:ext cx="4884481" cy="1004490"/>
          </a:xfrm>
        </p:spPr>
        <p:txBody>
          <a:bodyPr vert="horz" lIns="91440" tIns="45720" rIns="91440" bIns="45720" rtlCol="0" anchor="b">
            <a:normAutofit/>
          </a:bodyPr>
          <a:lstStyle/>
          <a:p>
            <a:r>
              <a:rPr lang="en-US" sz="4000" dirty="0"/>
              <a:t>Use Cases </a:t>
            </a:r>
            <a:r>
              <a:rPr lang="en-US" sz="4000" dirty="0" err="1"/>
              <a:t>Utente</a:t>
            </a:r>
            <a:endParaRPr lang="en-US" sz="4000" dirty="0"/>
          </a:p>
        </p:txBody>
      </p:sp>
      <p:pic>
        <p:nvPicPr>
          <p:cNvPr id="5" name="Segnaposto contenuto 4" descr="Immagine che contiene diagramma, linea, cerchio, schermata&#10;&#10;Il contenuto generato dall'IA potrebbe non essere corretto.">
            <a:extLst>
              <a:ext uri="{FF2B5EF4-FFF2-40B4-BE49-F238E27FC236}">
                <a16:creationId xmlns:a16="http://schemas.microsoft.com/office/drawing/2014/main" id="{D12174F2-23F0-C9FC-E264-1E0551894C74}"/>
              </a:ext>
            </a:extLst>
          </p:cNvPr>
          <p:cNvPicPr>
            <a:picLocks noGrp="1" noChangeAspect="1"/>
          </p:cNvPicPr>
          <p:nvPr>
            <p:ph idx="1"/>
          </p:nvPr>
        </p:nvPicPr>
        <p:blipFill>
          <a:blip r:embed="rId2"/>
          <a:stretch>
            <a:fillRect/>
          </a:stretch>
        </p:blipFill>
        <p:spPr>
          <a:xfrm>
            <a:off x="5961842" y="1596185"/>
            <a:ext cx="5683149" cy="3665629"/>
          </a:xfrm>
          <a:prstGeom prst="rect">
            <a:avLst/>
          </a:prstGeom>
        </p:spPr>
      </p:pic>
    </p:spTree>
    <p:extLst>
      <p:ext uri="{BB962C8B-B14F-4D97-AF65-F5344CB8AC3E}">
        <p14:creationId xmlns:p14="http://schemas.microsoft.com/office/powerpoint/2010/main" val="283592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769295-A427-B60F-15F6-B23B27719175}"/>
              </a:ext>
            </a:extLst>
          </p:cNvPr>
          <p:cNvSpPr>
            <a:spLocks noGrp="1"/>
          </p:cNvSpPr>
          <p:nvPr>
            <p:ph type="title"/>
          </p:nvPr>
        </p:nvSpPr>
        <p:spPr>
          <a:xfrm>
            <a:off x="323319" y="1777041"/>
            <a:ext cx="7164410" cy="1116634"/>
          </a:xfrm>
        </p:spPr>
        <p:txBody>
          <a:bodyPr vert="horz" lIns="91440" tIns="45720" rIns="91440" bIns="45720" rtlCol="0" anchor="b">
            <a:normAutofit fontScale="90000"/>
          </a:bodyPr>
          <a:lstStyle/>
          <a:p>
            <a:r>
              <a:rPr lang="en-US" sz="4000" dirty="0"/>
              <a:t>Use Cases </a:t>
            </a:r>
            <a:br>
              <a:rPr lang="en-US" sz="4000" dirty="0"/>
            </a:br>
            <a:r>
              <a:rPr lang="en-US" sz="4000" dirty="0" err="1"/>
              <a:t>Amministratore</a:t>
            </a:r>
            <a:endParaRPr lang="en-US" sz="4000" dirty="0"/>
          </a:p>
        </p:txBody>
      </p:sp>
      <p:pic>
        <p:nvPicPr>
          <p:cNvPr id="5" name="Segnaposto contenuto 4" descr="Immagine che contiene diagramma, linea, cerchio, schizzo&#10;&#10;Il contenuto generato dall'IA potrebbe non essere corretto.">
            <a:extLst>
              <a:ext uri="{FF2B5EF4-FFF2-40B4-BE49-F238E27FC236}">
                <a16:creationId xmlns:a16="http://schemas.microsoft.com/office/drawing/2014/main" id="{B4EEFC94-92F8-F201-E7D2-989FDDB05DD1}"/>
              </a:ext>
            </a:extLst>
          </p:cNvPr>
          <p:cNvPicPr>
            <a:picLocks noGrp="1" noChangeAspect="1"/>
          </p:cNvPicPr>
          <p:nvPr>
            <p:ph idx="1"/>
          </p:nvPr>
        </p:nvPicPr>
        <p:blipFill>
          <a:blip r:embed="rId2"/>
          <a:stretch>
            <a:fillRect/>
          </a:stretch>
        </p:blipFill>
        <p:spPr>
          <a:xfrm>
            <a:off x="5978511" y="2055808"/>
            <a:ext cx="5691988" cy="2746383"/>
          </a:xfrm>
          <a:prstGeom prst="rect">
            <a:avLst/>
          </a:prstGeom>
        </p:spPr>
      </p:pic>
    </p:spTree>
    <p:extLst>
      <p:ext uri="{BB962C8B-B14F-4D97-AF65-F5344CB8AC3E}">
        <p14:creationId xmlns:p14="http://schemas.microsoft.com/office/powerpoint/2010/main" val="1664906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7A37E9D-CB98-A8BA-43D7-AEEF5A2B7F6D}"/>
              </a:ext>
            </a:extLst>
          </p:cNvPr>
          <p:cNvSpPr>
            <a:spLocks noGrp="1"/>
          </p:cNvSpPr>
          <p:nvPr>
            <p:ph type="title"/>
          </p:nvPr>
        </p:nvSpPr>
        <p:spPr>
          <a:xfrm>
            <a:off x="525717" y="787068"/>
            <a:ext cx="4950173" cy="1455091"/>
          </a:xfrm>
        </p:spPr>
        <p:txBody>
          <a:bodyPr>
            <a:normAutofit/>
          </a:bodyPr>
          <a:lstStyle/>
          <a:p>
            <a:r>
              <a:rPr lang="it-IT" dirty="0"/>
              <a:t>Class </a:t>
            </a:r>
            <a:r>
              <a:rPr lang="it-IT"/>
              <a:t>Diagram</a:t>
            </a:r>
            <a:endParaRPr lang="it-IT" dirty="0"/>
          </a:p>
        </p:txBody>
      </p:sp>
      <p:sp>
        <p:nvSpPr>
          <p:cNvPr id="3" name="Segnaposto contenuto 2">
            <a:extLst>
              <a:ext uri="{FF2B5EF4-FFF2-40B4-BE49-F238E27FC236}">
                <a16:creationId xmlns:a16="http://schemas.microsoft.com/office/drawing/2014/main" id="{9DE5CE0E-1221-9541-C36A-44A7FD819577}"/>
              </a:ext>
            </a:extLst>
          </p:cNvPr>
          <p:cNvSpPr>
            <a:spLocks noGrp="1"/>
          </p:cNvSpPr>
          <p:nvPr>
            <p:ph idx="1"/>
          </p:nvPr>
        </p:nvSpPr>
        <p:spPr>
          <a:xfrm>
            <a:off x="525717" y="2796427"/>
            <a:ext cx="4950173" cy="3274503"/>
          </a:xfrm>
        </p:spPr>
        <p:txBody>
          <a:bodyPr>
            <a:normAutofit/>
          </a:bodyPr>
          <a:lstStyle/>
          <a:p>
            <a:pPr>
              <a:lnSpc>
                <a:spcPct val="100000"/>
              </a:lnSpc>
            </a:pPr>
            <a:r>
              <a:rPr lang="it-IT" sz="1600" dirty="0"/>
              <a:t>Le classi della web </a:t>
            </a:r>
            <a:r>
              <a:rPr lang="it-IT" sz="1600" dirty="0" err="1"/>
              <a:t>application</a:t>
            </a:r>
            <a:r>
              <a:rPr lang="it-IT" sz="1600" dirty="0"/>
              <a:t> comprendono: </a:t>
            </a:r>
            <a:r>
              <a:rPr lang="it-IT" sz="1600" b="1" dirty="0"/>
              <a:t>Prodotto, Carrello, Ordine, </a:t>
            </a:r>
            <a:r>
              <a:rPr lang="it-IT" sz="1600" b="1" dirty="0" err="1"/>
              <a:t>RigaOrdine</a:t>
            </a:r>
            <a:r>
              <a:rPr lang="it-IT" sz="1600" b="1" dirty="0"/>
              <a:t>, Utente</a:t>
            </a:r>
            <a:r>
              <a:rPr lang="it-IT" sz="1600" dirty="0"/>
              <a:t> e </a:t>
            </a:r>
            <a:r>
              <a:rPr lang="it-IT" sz="1600" b="1" dirty="0"/>
              <a:t>Fornitore</a:t>
            </a:r>
            <a:r>
              <a:rPr lang="it-IT" sz="1600" dirty="0"/>
              <a:t>. La maggior parte di esse rappresenta </a:t>
            </a:r>
            <a:r>
              <a:rPr lang="it-IT" sz="1600" b="1" dirty="0"/>
              <a:t>oggetti di dominio</a:t>
            </a:r>
            <a:r>
              <a:rPr lang="it-IT" sz="1600" dirty="0"/>
              <a:t> che corrispondono a entità effettivamente presenti nel database. L’unica eccezione è costituita dalla classe </a:t>
            </a:r>
            <a:r>
              <a:rPr lang="it-IT" sz="1600" b="1" dirty="0"/>
              <a:t>Carrello</a:t>
            </a:r>
            <a:r>
              <a:rPr lang="it-IT" sz="1600" dirty="0"/>
              <a:t>, la quale viene gestita come un </a:t>
            </a:r>
            <a:r>
              <a:rPr lang="it-IT" sz="1600" b="1" dirty="0" err="1"/>
              <a:t>ArrayList</a:t>
            </a:r>
            <a:r>
              <a:rPr lang="it-IT" sz="1600" dirty="0"/>
              <a:t> all’interno della sessione HTTP dell’utente. Questa scelta consente di ridurre il numero di aggiornamenti diretti al database, prevenendo potenziali problemi di consistenza e migliorando le prestazioni complessive del sistema.</a:t>
            </a:r>
          </a:p>
          <a:p>
            <a:pPr>
              <a:lnSpc>
                <a:spcPct val="100000"/>
              </a:lnSpc>
            </a:pPr>
            <a:endParaRPr lang="it-IT" sz="1600" dirty="0"/>
          </a:p>
        </p:txBody>
      </p:sp>
      <p:pic>
        <p:nvPicPr>
          <p:cNvPr id="5" name="Picture 4" descr="Carrello acquisti con pacchetti">
            <a:extLst>
              <a:ext uri="{FF2B5EF4-FFF2-40B4-BE49-F238E27FC236}">
                <a16:creationId xmlns:a16="http://schemas.microsoft.com/office/drawing/2014/main" id="{F93959AD-5B26-4F4D-53C6-3AD37EB39EB1}"/>
              </a:ext>
            </a:extLst>
          </p:cNvPr>
          <p:cNvPicPr>
            <a:picLocks noChangeAspect="1"/>
          </p:cNvPicPr>
          <p:nvPr/>
        </p:nvPicPr>
        <p:blipFill>
          <a:blip r:embed="rId2"/>
          <a:srcRect l="28117" r="5960" b="1"/>
          <a:stretch>
            <a:fillRect/>
          </a:stretch>
        </p:blipFill>
        <p:spPr>
          <a:xfrm>
            <a:off x="6002404" y="564012"/>
            <a:ext cx="5606888" cy="5677185"/>
          </a:xfrm>
          <a:prstGeom prst="rect">
            <a:avLst/>
          </a:prstGeom>
        </p:spPr>
      </p:pic>
    </p:spTree>
    <p:extLst>
      <p:ext uri="{BB962C8B-B14F-4D97-AF65-F5344CB8AC3E}">
        <p14:creationId xmlns:p14="http://schemas.microsoft.com/office/powerpoint/2010/main" val="1456224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93E22D1-0993-2EC1-EF2C-F2C40CB6DE12}"/>
              </a:ext>
            </a:extLst>
          </p:cNvPr>
          <p:cNvSpPr>
            <a:spLocks noGrp="1"/>
          </p:cNvSpPr>
          <p:nvPr>
            <p:ph type="title"/>
          </p:nvPr>
        </p:nvSpPr>
        <p:spPr>
          <a:xfrm>
            <a:off x="430826" y="1559594"/>
            <a:ext cx="10077196" cy="821794"/>
          </a:xfrm>
        </p:spPr>
        <p:txBody>
          <a:bodyPr>
            <a:normAutofit/>
          </a:bodyPr>
          <a:lstStyle/>
          <a:p>
            <a:r>
              <a:rPr lang="it-IT" dirty="0"/>
              <a:t>Class </a:t>
            </a:r>
            <a:r>
              <a:rPr lang="it-IT" dirty="0" err="1"/>
              <a:t>Diagram</a:t>
            </a:r>
            <a:endParaRPr lang="it-IT" dirty="0"/>
          </a:p>
        </p:txBody>
      </p:sp>
      <p:graphicFrame>
        <p:nvGraphicFramePr>
          <p:cNvPr id="5" name="Segnaposto contenuto 2">
            <a:extLst>
              <a:ext uri="{FF2B5EF4-FFF2-40B4-BE49-F238E27FC236}">
                <a16:creationId xmlns:a16="http://schemas.microsoft.com/office/drawing/2014/main" id="{9BBAB9A9-C7C3-798A-0004-BF55E6C50316}"/>
              </a:ext>
            </a:extLst>
          </p:cNvPr>
          <p:cNvGraphicFramePr>
            <a:graphicFrameLocks noGrp="1"/>
          </p:cNvGraphicFramePr>
          <p:nvPr>
            <p:ph idx="1"/>
            <p:extLst>
              <p:ext uri="{D42A27DB-BD31-4B8C-83A1-F6EECF244321}">
                <p14:modId xmlns:p14="http://schemas.microsoft.com/office/powerpoint/2010/main" val="1248030657"/>
              </p:ext>
            </p:extLst>
          </p:nvPr>
        </p:nvGraphicFramePr>
        <p:xfrm>
          <a:off x="525462" y="1804163"/>
          <a:ext cx="11004385" cy="4407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9662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descr="Immagine che contiene testo, diagramma, Piano, Disegno tecnico&#10;&#10;Il contenuto generato dall'IA potrebbe non essere corretto.">
            <a:extLst>
              <a:ext uri="{FF2B5EF4-FFF2-40B4-BE49-F238E27FC236}">
                <a16:creationId xmlns:a16="http://schemas.microsoft.com/office/drawing/2014/main" id="{19DE3F1B-9F9D-DD37-F2BC-7DC3EC26C6AD}"/>
              </a:ext>
            </a:extLst>
          </p:cNvPr>
          <p:cNvPicPr>
            <a:picLocks noGrp="1" noChangeAspect="1"/>
          </p:cNvPicPr>
          <p:nvPr>
            <p:ph idx="1"/>
          </p:nvPr>
        </p:nvPicPr>
        <p:blipFill>
          <a:blip r:embed="rId2"/>
          <a:stretch>
            <a:fillRect/>
          </a:stretch>
        </p:blipFill>
        <p:spPr>
          <a:xfrm>
            <a:off x="3744643" y="237952"/>
            <a:ext cx="4393225" cy="6382096"/>
          </a:xfrm>
        </p:spPr>
      </p:pic>
    </p:spTree>
    <p:extLst>
      <p:ext uri="{BB962C8B-B14F-4D97-AF65-F5344CB8AC3E}">
        <p14:creationId xmlns:p14="http://schemas.microsoft.com/office/powerpoint/2010/main" val="2363375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90202F-BD11-5B2C-DC2E-A4C61400B29C}"/>
              </a:ext>
            </a:extLst>
          </p:cNvPr>
          <p:cNvSpPr>
            <a:spLocks noGrp="1"/>
          </p:cNvSpPr>
          <p:nvPr>
            <p:ph type="title"/>
          </p:nvPr>
        </p:nvSpPr>
        <p:spPr/>
        <p:txBody>
          <a:bodyPr/>
          <a:lstStyle/>
          <a:p>
            <a:r>
              <a:rPr lang="it-IT" dirty="0" err="1"/>
              <a:t>Sequence</a:t>
            </a:r>
            <a:r>
              <a:rPr lang="it-IT" dirty="0"/>
              <a:t> </a:t>
            </a:r>
            <a:r>
              <a:rPr lang="it-IT" dirty="0" err="1"/>
              <a:t>Diagrams</a:t>
            </a:r>
            <a:r>
              <a:rPr lang="it-IT" dirty="0"/>
              <a:t> e </a:t>
            </a:r>
            <a:r>
              <a:rPr lang="it-IT" dirty="0" err="1"/>
              <a:t>Activty</a:t>
            </a:r>
            <a:r>
              <a:rPr lang="it-IT" dirty="0"/>
              <a:t> </a:t>
            </a:r>
            <a:r>
              <a:rPr lang="it-IT" dirty="0" err="1"/>
              <a:t>Diagrams</a:t>
            </a:r>
            <a:endParaRPr lang="it-IT" dirty="0"/>
          </a:p>
        </p:txBody>
      </p:sp>
      <p:sp>
        <p:nvSpPr>
          <p:cNvPr id="3" name="Segnaposto contenuto 2">
            <a:extLst>
              <a:ext uri="{FF2B5EF4-FFF2-40B4-BE49-F238E27FC236}">
                <a16:creationId xmlns:a16="http://schemas.microsoft.com/office/drawing/2014/main" id="{9A57ED23-DD06-7EBB-8B4F-FF9869EB7F40}"/>
              </a:ext>
            </a:extLst>
          </p:cNvPr>
          <p:cNvSpPr>
            <a:spLocks noGrp="1"/>
          </p:cNvSpPr>
          <p:nvPr>
            <p:ph idx="1"/>
          </p:nvPr>
        </p:nvSpPr>
        <p:spPr/>
        <p:txBody>
          <a:bodyPr/>
          <a:lstStyle/>
          <a:p>
            <a:r>
              <a:rPr lang="it-IT" dirty="0"/>
              <a:t>Per ciascun caso d’uso è stato progettato il relativo </a:t>
            </a:r>
            <a:r>
              <a:rPr lang="it-IT" b="1" dirty="0"/>
              <a:t>diagramma di sequenza</a:t>
            </a:r>
            <a:r>
              <a:rPr lang="it-IT" dirty="0"/>
              <a:t>, che evidenzia in maniera chiara le interazioni tra gli oggetti coinvolti e il flusso delle operazioni necessarie al completamento del caso d’uso. Di seguito viene presentato uno dei </a:t>
            </a:r>
            <a:r>
              <a:rPr lang="it-IT" b="1" dirty="0"/>
              <a:t>diagrammi di sequenza più significativi</a:t>
            </a:r>
            <a:r>
              <a:rPr lang="it-IT" dirty="0"/>
              <a:t>, rappresentativo delle dinamiche principali del sistema</a:t>
            </a:r>
          </a:p>
          <a:p>
            <a:endParaRPr lang="it-IT" dirty="0"/>
          </a:p>
        </p:txBody>
      </p:sp>
    </p:spTree>
    <p:extLst>
      <p:ext uri="{BB962C8B-B14F-4D97-AF65-F5344CB8AC3E}">
        <p14:creationId xmlns:p14="http://schemas.microsoft.com/office/powerpoint/2010/main" val="770739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Segnaposto contenuto 4" descr="Immagine che contiene ricevuta, diagramma, testo, linea&#10;&#10;Il contenuto generato dall'IA potrebbe non essere corretto.">
            <a:extLst>
              <a:ext uri="{FF2B5EF4-FFF2-40B4-BE49-F238E27FC236}">
                <a16:creationId xmlns:a16="http://schemas.microsoft.com/office/drawing/2014/main" id="{7014BAAA-BFF7-9B4F-BFF8-204CE154F27A}"/>
              </a:ext>
            </a:extLst>
          </p:cNvPr>
          <p:cNvPicPr>
            <a:picLocks noGrp="1" noChangeAspect="1"/>
          </p:cNvPicPr>
          <p:nvPr>
            <p:ph idx="1"/>
          </p:nvPr>
        </p:nvPicPr>
        <p:blipFill>
          <a:blip r:embed="rId2"/>
          <a:srcRect r="1333" b="-1"/>
          <a:stretch>
            <a:fillRect/>
          </a:stretch>
        </p:blipFill>
        <p:spPr>
          <a:xfrm>
            <a:off x="530973" y="518898"/>
            <a:ext cx="11129649" cy="5837451"/>
          </a:xfrm>
          <a:prstGeom prst="rect">
            <a:avLst/>
          </a:prstGeom>
        </p:spPr>
      </p:pic>
    </p:spTree>
    <p:extLst>
      <p:ext uri="{BB962C8B-B14F-4D97-AF65-F5344CB8AC3E}">
        <p14:creationId xmlns:p14="http://schemas.microsoft.com/office/powerpoint/2010/main" val="1642859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538FC37-3A37-BC20-0632-D9F603D13D6D}"/>
              </a:ext>
            </a:extLst>
          </p:cNvPr>
          <p:cNvSpPr>
            <a:spLocks noGrp="1"/>
          </p:cNvSpPr>
          <p:nvPr>
            <p:ph type="title"/>
          </p:nvPr>
        </p:nvSpPr>
        <p:spPr/>
        <p:txBody>
          <a:bodyPr/>
          <a:lstStyle/>
          <a:p>
            <a:r>
              <a:rPr lang="it-IT" dirty="0"/>
              <a:t>State </a:t>
            </a:r>
            <a:r>
              <a:rPr lang="it-IT" dirty="0" err="1"/>
              <a:t>Diagrams</a:t>
            </a:r>
            <a:r>
              <a:rPr lang="it-IT" dirty="0"/>
              <a:t> e Activity </a:t>
            </a:r>
            <a:r>
              <a:rPr lang="it-IT" dirty="0" err="1"/>
              <a:t>Diagrams</a:t>
            </a:r>
            <a:endParaRPr lang="it-IT" dirty="0"/>
          </a:p>
        </p:txBody>
      </p:sp>
      <p:sp>
        <p:nvSpPr>
          <p:cNvPr id="3" name="Segnaposto contenuto 2">
            <a:extLst>
              <a:ext uri="{FF2B5EF4-FFF2-40B4-BE49-F238E27FC236}">
                <a16:creationId xmlns:a16="http://schemas.microsoft.com/office/drawing/2014/main" id="{2CC49009-914E-62ED-AB06-C1E6D747D811}"/>
              </a:ext>
            </a:extLst>
          </p:cNvPr>
          <p:cNvSpPr>
            <a:spLocks noGrp="1"/>
          </p:cNvSpPr>
          <p:nvPr>
            <p:ph idx="1"/>
          </p:nvPr>
        </p:nvSpPr>
        <p:spPr/>
        <p:txBody>
          <a:bodyPr>
            <a:normAutofit fontScale="92500" lnSpcReduction="10000"/>
          </a:bodyPr>
          <a:lstStyle/>
          <a:p>
            <a:r>
              <a:rPr lang="it-IT" dirty="0"/>
              <a:t>Analogamente, per ciascun caso d’uso sono stati realizzati i relativi </a:t>
            </a:r>
            <a:r>
              <a:rPr lang="it-IT" b="1" dirty="0"/>
              <a:t>diagrammi di stato (State </a:t>
            </a:r>
            <a:r>
              <a:rPr lang="it-IT" b="1" dirty="0" err="1"/>
              <a:t>Diagram</a:t>
            </a:r>
            <a:r>
              <a:rPr lang="it-IT" b="1" dirty="0"/>
              <a:t>)</a:t>
            </a:r>
            <a:r>
              <a:rPr lang="it-IT" dirty="0"/>
              <a:t> e </a:t>
            </a:r>
            <a:r>
              <a:rPr lang="it-IT" b="1" dirty="0"/>
              <a:t>diagrammi di attività (Activity </a:t>
            </a:r>
            <a:r>
              <a:rPr lang="it-IT" b="1" dirty="0" err="1"/>
              <a:t>Diagram</a:t>
            </a:r>
            <a:r>
              <a:rPr lang="it-IT" b="1" dirty="0"/>
              <a:t>)</a:t>
            </a:r>
            <a:r>
              <a:rPr lang="it-IT" dirty="0"/>
              <a:t>, al fine di rappresentare rispettivamente gli stati degli oggetti durante il ciclo di vita e il flusso delle operazioni all’interno dei processi. Questi diagrammi consentono di comprendere con maggiore chiarezza il comportamento dinamico del sistema e le sequenze operative tra gli attori e le componenti del software.</a:t>
            </a:r>
          </a:p>
          <a:p>
            <a:br>
              <a:rPr lang="it-IT" dirty="0"/>
            </a:br>
            <a:endParaRPr lang="it-IT" dirty="0"/>
          </a:p>
          <a:p>
            <a:r>
              <a:rPr lang="it-IT" dirty="0"/>
              <a:t>Di seguito vengono presentati alcuni </a:t>
            </a:r>
            <a:r>
              <a:rPr lang="it-IT" b="1" dirty="0"/>
              <a:t>esempi significativi</a:t>
            </a:r>
            <a:r>
              <a:rPr lang="it-IT" dirty="0"/>
              <a:t> di diagrammi di stato e di attività, scelti per illustrare le principali dinamiche del sistema e i percorsi più rilevanti all’interno dell’e-commerce </a:t>
            </a:r>
            <a:r>
              <a:rPr lang="it-IT" dirty="0" err="1"/>
              <a:t>LaCantina</a:t>
            </a:r>
            <a:r>
              <a:rPr lang="it-IT" dirty="0"/>
              <a:t>.</a:t>
            </a:r>
          </a:p>
          <a:p>
            <a:endParaRPr lang="it-IT" dirty="0"/>
          </a:p>
        </p:txBody>
      </p:sp>
    </p:spTree>
    <p:extLst>
      <p:ext uri="{BB962C8B-B14F-4D97-AF65-F5344CB8AC3E}">
        <p14:creationId xmlns:p14="http://schemas.microsoft.com/office/powerpoint/2010/main" val="1967410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Segnaposto contenuto 4" descr="Immagine che contiene testo, diagramma, schermata, linea&#10;&#10;Il contenuto generato dall'IA potrebbe non essere corretto.">
            <a:extLst>
              <a:ext uri="{FF2B5EF4-FFF2-40B4-BE49-F238E27FC236}">
                <a16:creationId xmlns:a16="http://schemas.microsoft.com/office/drawing/2014/main" id="{9712D741-49AA-7742-EDC2-2B80E1D492A3}"/>
              </a:ext>
            </a:extLst>
          </p:cNvPr>
          <p:cNvPicPr>
            <a:picLocks noChangeAspect="1"/>
          </p:cNvPicPr>
          <p:nvPr/>
        </p:nvPicPr>
        <p:blipFill>
          <a:blip r:embed="rId2"/>
          <a:stretch>
            <a:fillRect/>
          </a:stretch>
        </p:blipFill>
        <p:spPr>
          <a:xfrm>
            <a:off x="1651389" y="1444695"/>
            <a:ext cx="8762422" cy="3526875"/>
          </a:xfrm>
          <a:prstGeom prst="rect">
            <a:avLst/>
          </a:prstGeom>
        </p:spPr>
      </p:pic>
    </p:spTree>
    <p:extLst>
      <p:ext uri="{BB962C8B-B14F-4D97-AF65-F5344CB8AC3E}">
        <p14:creationId xmlns:p14="http://schemas.microsoft.com/office/powerpoint/2010/main" val="1067737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descr="Immagine che contiene schizzo, diagramma, disegno, Disegno tecnico&#10;&#10;Il contenuto generato dall'IA potrebbe non essere corretto.">
            <a:extLst>
              <a:ext uri="{FF2B5EF4-FFF2-40B4-BE49-F238E27FC236}">
                <a16:creationId xmlns:a16="http://schemas.microsoft.com/office/drawing/2014/main" id="{D3908C81-62D1-BAE4-355F-D671BF1EEE21}"/>
              </a:ext>
            </a:extLst>
          </p:cNvPr>
          <p:cNvPicPr>
            <a:picLocks noGrp="1" noChangeAspect="1"/>
          </p:cNvPicPr>
          <p:nvPr>
            <p:ph idx="1"/>
          </p:nvPr>
        </p:nvPicPr>
        <p:blipFill>
          <a:blip r:embed="rId2"/>
          <a:stretch>
            <a:fillRect/>
          </a:stretch>
        </p:blipFill>
        <p:spPr>
          <a:xfrm>
            <a:off x="3305685" y="683880"/>
            <a:ext cx="5836116" cy="6058680"/>
          </a:xfrm>
          <a:prstGeom prst="rect">
            <a:avLst/>
          </a:prstGeom>
        </p:spPr>
      </p:pic>
      <p:sp>
        <p:nvSpPr>
          <p:cNvPr id="5" name="CasellaDiTesto 4">
            <a:extLst>
              <a:ext uri="{FF2B5EF4-FFF2-40B4-BE49-F238E27FC236}">
                <a16:creationId xmlns:a16="http://schemas.microsoft.com/office/drawing/2014/main" id="{35B56276-18A3-A866-4128-EE2520DDB868}"/>
              </a:ext>
            </a:extLst>
          </p:cNvPr>
          <p:cNvSpPr txBox="1"/>
          <p:nvPr/>
        </p:nvSpPr>
        <p:spPr>
          <a:xfrm>
            <a:off x="4423933" y="222837"/>
            <a:ext cx="2971776" cy="369332"/>
          </a:xfrm>
          <a:prstGeom prst="rect">
            <a:avLst/>
          </a:prstGeom>
          <a:noFill/>
        </p:spPr>
        <p:txBody>
          <a:bodyPr wrap="none" rtlCol="0">
            <a:spAutoFit/>
          </a:bodyPr>
          <a:lstStyle/>
          <a:p>
            <a:r>
              <a:rPr lang="it-IT" dirty="0"/>
              <a:t>ACQUISTO DA CARRELLO</a:t>
            </a:r>
          </a:p>
        </p:txBody>
      </p:sp>
    </p:spTree>
    <p:extLst>
      <p:ext uri="{BB962C8B-B14F-4D97-AF65-F5344CB8AC3E}">
        <p14:creationId xmlns:p14="http://schemas.microsoft.com/office/powerpoint/2010/main" val="11524169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B8C510-C33A-F151-76D5-23D26B3E3525}"/>
              </a:ext>
            </a:extLst>
          </p:cNvPr>
          <p:cNvSpPr>
            <a:spLocks noGrp="1"/>
          </p:cNvSpPr>
          <p:nvPr>
            <p:ph type="title"/>
          </p:nvPr>
        </p:nvSpPr>
        <p:spPr/>
        <p:txBody>
          <a:bodyPr/>
          <a:lstStyle/>
          <a:p>
            <a:r>
              <a:rPr lang="it-IT" dirty="0" err="1"/>
              <a:t>Navigational</a:t>
            </a:r>
            <a:r>
              <a:rPr lang="it-IT" dirty="0"/>
              <a:t> </a:t>
            </a:r>
            <a:r>
              <a:rPr lang="it-IT" dirty="0" err="1"/>
              <a:t>Path</a:t>
            </a:r>
            <a:endParaRPr lang="it-IT" dirty="0"/>
          </a:p>
        </p:txBody>
      </p:sp>
      <p:sp>
        <p:nvSpPr>
          <p:cNvPr id="3" name="Segnaposto contenuto 2">
            <a:extLst>
              <a:ext uri="{FF2B5EF4-FFF2-40B4-BE49-F238E27FC236}">
                <a16:creationId xmlns:a16="http://schemas.microsoft.com/office/drawing/2014/main" id="{FBB2BD9B-22A0-9BED-9B8C-3E9AA121691E}"/>
              </a:ext>
            </a:extLst>
          </p:cNvPr>
          <p:cNvSpPr>
            <a:spLocks noGrp="1"/>
          </p:cNvSpPr>
          <p:nvPr>
            <p:ph idx="1"/>
          </p:nvPr>
        </p:nvSpPr>
        <p:spPr/>
        <p:txBody>
          <a:bodyPr>
            <a:normAutofit fontScale="92500" lnSpcReduction="10000"/>
          </a:bodyPr>
          <a:lstStyle/>
          <a:p>
            <a:r>
              <a:rPr lang="it-IT" dirty="0"/>
              <a:t>I </a:t>
            </a:r>
            <a:r>
              <a:rPr lang="it-IT" b="1" dirty="0" err="1"/>
              <a:t>navigational</a:t>
            </a:r>
            <a:r>
              <a:rPr lang="it-IT" b="1" dirty="0"/>
              <a:t> </a:t>
            </a:r>
            <a:r>
              <a:rPr lang="it-IT" b="1" dirty="0" err="1"/>
              <a:t>path</a:t>
            </a:r>
            <a:r>
              <a:rPr lang="it-IT" dirty="0"/>
              <a:t> rappresentano i percorsi di navigazione all’interno della web </a:t>
            </a:r>
            <a:r>
              <a:rPr lang="it-IT" dirty="0" err="1"/>
              <a:t>application</a:t>
            </a:r>
            <a:r>
              <a:rPr lang="it-IT" dirty="0"/>
              <a:t> e descrivono le modalità con cui gli utenti possono spostarsi tra le diverse pagine del sistema in base al proprio ruolo e alle funzionalità disponibili. Essi consentono di modellare la struttura di navigazione dell’applicazione, evidenziando le relazioni tra le pagine e i flussi di accesso consentiti.</a:t>
            </a:r>
          </a:p>
          <a:p>
            <a:br>
              <a:rPr lang="it-IT" dirty="0"/>
            </a:br>
            <a:endParaRPr lang="it-IT" dirty="0"/>
          </a:p>
          <a:p>
            <a:r>
              <a:rPr lang="it-IT" dirty="0"/>
              <a:t>Nel sistema sono stati definiti </a:t>
            </a:r>
            <a:r>
              <a:rPr lang="it-IT" b="1" dirty="0"/>
              <a:t>due distinti </a:t>
            </a:r>
            <a:r>
              <a:rPr lang="it-IT" b="1" dirty="0" err="1"/>
              <a:t>navigational</a:t>
            </a:r>
            <a:r>
              <a:rPr lang="it-IT" b="1" dirty="0"/>
              <a:t> </a:t>
            </a:r>
            <a:r>
              <a:rPr lang="it-IT" b="1" dirty="0" err="1"/>
              <a:t>path</a:t>
            </a:r>
            <a:r>
              <a:rPr lang="it-IT" dirty="0"/>
              <a:t>, uno dedicato agli </a:t>
            </a:r>
            <a:r>
              <a:rPr lang="it-IT" b="1" dirty="0"/>
              <a:t>utenti</a:t>
            </a:r>
            <a:r>
              <a:rPr lang="it-IT" dirty="0"/>
              <a:t> e uno riservato agli </a:t>
            </a:r>
            <a:r>
              <a:rPr lang="it-IT" b="1" dirty="0"/>
              <a:t>amministratori</a:t>
            </a:r>
            <a:r>
              <a:rPr lang="it-IT" dirty="0"/>
              <a:t>. Questa distinzione permette di separare in modo chiaro le funzionalità accessibili ai due attori, garantendo che ciascuno possa visualizzare e utilizzare esclusivamente le pagine di propria competenza.</a:t>
            </a:r>
          </a:p>
          <a:p>
            <a:endParaRPr lang="it-IT" dirty="0"/>
          </a:p>
        </p:txBody>
      </p:sp>
    </p:spTree>
    <p:extLst>
      <p:ext uri="{BB962C8B-B14F-4D97-AF65-F5344CB8AC3E}">
        <p14:creationId xmlns:p14="http://schemas.microsoft.com/office/powerpoint/2010/main" val="4052983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descr="Immagine che contiene testo, linea, diagramma, Parallelo&#10;&#10;Il contenuto generato dall'IA potrebbe non essere corretto.">
            <a:extLst>
              <a:ext uri="{FF2B5EF4-FFF2-40B4-BE49-F238E27FC236}">
                <a16:creationId xmlns:a16="http://schemas.microsoft.com/office/drawing/2014/main" id="{83EA4B12-63B6-741F-E8C9-B73D597F62E3}"/>
              </a:ext>
            </a:extLst>
          </p:cNvPr>
          <p:cNvPicPr>
            <a:picLocks noGrp="1" noChangeAspect="1"/>
          </p:cNvPicPr>
          <p:nvPr>
            <p:ph idx="1"/>
          </p:nvPr>
        </p:nvPicPr>
        <p:blipFill>
          <a:blip r:embed="rId2"/>
          <a:stretch>
            <a:fillRect/>
          </a:stretch>
        </p:blipFill>
        <p:spPr>
          <a:xfrm>
            <a:off x="2190861" y="835337"/>
            <a:ext cx="7810278" cy="5804270"/>
          </a:xfrm>
        </p:spPr>
      </p:pic>
      <p:sp>
        <p:nvSpPr>
          <p:cNvPr id="6" name="CasellaDiTesto 5">
            <a:extLst>
              <a:ext uri="{FF2B5EF4-FFF2-40B4-BE49-F238E27FC236}">
                <a16:creationId xmlns:a16="http://schemas.microsoft.com/office/drawing/2014/main" id="{E4B6D6FA-F9EE-FE00-F96B-C5DA1D5A61F8}"/>
              </a:ext>
            </a:extLst>
          </p:cNvPr>
          <p:cNvSpPr txBox="1"/>
          <p:nvPr/>
        </p:nvSpPr>
        <p:spPr>
          <a:xfrm>
            <a:off x="5566047" y="319489"/>
            <a:ext cx="1059906" cy="369332"/>
          </a:xfrm>
          <a:prstGeom prst="rect">
            <a:avLst/>
          </a:prstGeom>
          <a:noFill/>
        </p:spPr>
        <p:txBody>
          <a:bodyPr wrap="none" rtlCol="0">
            <a:spAutoFit/>
          </a:bodyPr>
          <a:lstStyle/>
          <a:p>
            <a:r>
              <a:rPr lang="it-IT" dirty="0"/>
              <a:t>UTENTE</a:t>
            </a:r>
          </a:p>
        </p:txBody>
      </p:sp>
    </p:spTree>
    <p:extLst>
      <p:ext uri="{BB962C8B-B14F-4D97-AF65-F5344CB8AC3E}">
        <p14:creationId xmlns:p14="http://schemas.microsoft.com/office/powerpoint/2010/main" val="2518925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descr="Immagine che contiene testo, ricevuta, linea, diagramma&#10;&#10;Il contenuto generato dall'IA potrebbe non essere corretto.">
            <a:extLst>
              <a:ext uri="{FF2B5EF4-FFF2-40B4-BE49-F238E27FC236}">
                <a16:creationId xmlns:a16="http://schemas.microsoft.com/office/drawing/2014/main" id="{FF9F7EFA-7976-0ACC-9502-8239DA738C04}"/>
              </a:ext>
            </a:extLst>
          </p:cNvPr>
          <p:cNvPicPr>
            <a:picLocks noGrp="1" noChangeAspect="1"/>
          </p:cNvPicPr>
          <p:nvPr>
            <p:ph idx="1"/>
          </p:nvPr>
        </p:nvPicPr>
        <p:blipFill>
          <a:blip r:embed="rId2"/>
          <a:stretch>
            <a:fillRect/>
          </a:stretch>
        </p:blipFill>
        <p:spPr>
          <a:xfrm>
            <a:off x="597693" y="1465319"/>
            <a:ext cx="10996614" cy="3927362"/>
          </a:xfrm>
        </p:spPr>
      </p:pic>
      <p:sp>
        <p:nvSpPr>
          <p:cNvPr id="6" name="CasellaDiTesto 5">
            <a:extLst>
              <a:ext uri="{FF2B5EF4-FFF2-40B4-BE49-F238E27FC236}">
                <a16:creationId xmlns:a16="http://schemas.microsoft.com/office/drawing/2014/main" id="{E4E3124B-3D51-5A31-A5CC-291A98F13115}"/>
              </a:ext>
            </a:extLst>
          </p:cNvPr>
          <p:cNvSpPr txBox="1"/>
          <p:nvPr/>
        </p:nvSpPr>
        <p:spPr>
          <a:xfrm>
            <a:off x="5137533" y="705080"/>
            <a:ext cx="962123" cy="369332"/>
          </a:xfrm>
          <a:prstGeom prst="rect">
            <a:avLst/>
          </a:prstGeom>
          <a:noFill/>
        </p:spPr>
        <p:txBody>
          <a:bodyPr wrap="none" rtlCol="0">
            <a:spAutoFit/>
          </a:bodyPr>
          <a:lstStyle/>
          <a:p>
            <a:r>
              <a:rPr lang="it-IT" dirty="0"/>
              <a:t>ADMIN</a:t>
            </a:r>
          </a:p>
        </p:txBody>
      </p:sp>
    </p:spTree>
    <p:extLst>
      <p:ext uri="{BB962C8B-B14F-4D97-AF65-F5344CB8AC3E}">
        <p14:creationId xmlns:p14="http://schemas.microsoft.com/office/powerpoint/2010/main" val="10183944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3" name="Group 1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4" name="Freeform: Shape 1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5"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6"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7"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2" name="Rectangle 3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6" name="Immagine 5" descr="Immagine che contiene natura, acqua, aria aperta, schermata&#10;&#10;Il contenuto generato dall'IA potrebbe non essere corretto.">
            <a:extLst>
              <a:ext uri="{FF2B5EF4-FFF2-40B4-BE49-F238E27FC236}">
                <a16:creationId xmlns:a16="http://schemas.microsoft.com/office/drawing/2014/main" id="{B92E4F7E-6FCD-46BF-60FD-8F0CADBF536C}"/>
              </a:ext>
            </a:extLst>
          </p:cNvPr>
          <p:cNvPicPr>
            <a:picLocks noChangeAspect="1"/>
          </p:cNvPicPr>
          <p:nvPr/>
        </p:nvPicPr>
        <p:blipFill>
          <a:blip r:embed="rId2"/>
          <a:srcRect r="1834" b="1"/>
          <a:stretch>
            <a:fillRect/>
          </a:stretch>
        </p:blipFill>
        <p:spPr>
          <a:xfrm>
            <a:off x="20" y="10"/>
            <a:ext cx="12185156" cy="6857990"/>
          </a:xfrm>
          <a:prstGeom prst="rect">
            <a:avLst/>
          </a:prstGeom>
        </p:spPr>
      </p:pic>
      <p:sp>
        <p:nvSpPr>
          <p:cNvPr id="34" name="Rectangle 33">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140DF66-12D1-11DD-36EA-3C371BD77A02}"/>
              </a:ext>
            </a:extLst>
          </p:cNvPr>
          <p:cNvSpPr>
            <a:spLocks noGrp="1"/>
          </p:cNvSpPr>
          <p:nvPr>
            <p:ph type="title"/>
          </p:nvPr>
        </p:nvSpPr>
        <p:spPr>
          <a:xfrm>
            <a:off x="530352" y="799521"/>
            <a:ext cx="5565648" cy="2179601"/>
          </a:xfrm>
        </p:spPr>
        <p:txBody>
          <a:bodyPr vert="horz" lIns="91440" tIns="45720" rIns="91440" bIns="45720" rtlCol="0" anchor="b">
            <a:normAutofit/>
          </a:bodyPr>
          <a:lstStyle/>
          <a:p>
            <a:r>
              <a:rPr lang="en-US" sz="4400">
                <a:solidFill>
                  <a:srgbClr val="FFFFFF"/>
                </a:solidFill>
              </a:rPr>
              <a:t>Screen Mockup Home Page</a:t>
            </a:r>
          </a:p>
        </p:txBody>
      </p:sp>
      <p:sp>
        <p:nvSpPr>
          <p:cNvPr id="4" name="CasellaDiTesto 3">
            <a:extLst>
              <a:ext uri="{FF2B5EF4-FFF2-40B4-BE49-F238E27FC236}">
                <a16:creationId xmlns:a16="http://schemas.microsoft.com/office/drawing/2014/main" id="{5C5C4719-B29B-9024-7BF7-44B884D3B3FB}"/>
              </a:ext>
            </a:extLst>
          </p:cNvPr>
          <p:cNvSpPr txBox="1"/>
          <p:nvPr/>
        </p:nvSpPr>
        <p:spPr>
          <a:xfrm>
            <a:off x="530352" y="3624760"/>
            <a:ext cx="5565648" cy="1633040"/>
          </a:xfrm>
          <a:prstGeom prst="rect">
            <a:avLst/>
          </a:prstGeom>
        </p:spPr>
        <p:txBody>
          <a:bodyPr vert="horz" lIns="91440" tIns="45720" rIns="91440" bIns="45720" rtlCol="0">
            <a:normAutofit/>
          </a:bodyPr>
          <a:lstStyle/>
          <a:p>
            <a:pPr defTabSz="914400">
              <a:lnSpc>
                <a:spcPct val="110000"/>
              </a:lnSpc>
              <a:spcBef>
                <a:spcPts val="1000"/>
              </a:spcBef>
            </a:pPr>
            <a:r>
              <a:rPr lang="en-US" sz="2000" dirty="0">
                <a:solidFill>
                  <a:srgbClr val="FFFFFF"/>
                </a:solidFill>
              </a:rPr>
              <a:t>(breve video in loop</a:t>
            </a:r>
          </a:p>
          <a:p>
            <a:pPr defTabSz="914400">
              <a:lnSpc>
                <a:spcPct val="110000"/>
              </a:lnSpc>
              <a:spcBef>
                <a:spcPts val="1000"/>
              </a:spcBef>
            </a:pPr>
            <a:r>
              <a:rPr lang="en-US" sz="2000" dirty="0">
                <a:solidFill>
                  <a:srgbClr val="FFFFFF"/>
                </a:solidFill>
              </a:rPr>
              <a:t> della </a:t>
            </a:r>
            <a:r>
              <a:rPr lang="en-US" sz="2000" dirty="0" err="1">
                <a:solidFill>
                  <a:srgbClr val="FFFFFF"/>
                </a:solidFill>
              </a:rPr>
              <a:t>costiera</a:t>
            </a:r>
            <a:r>
              <a:rPr lang="en-US" sz="2000" dirty="0">
                <a:solidFill>
                  <a:srgbClr val="FFFFFF"/>
                </a:solidFill>
              </a:rPr>
              <a:t> </a:t>
            </a:r>
            <a:r>
              <a:rPr lang="en-US" sz="2000" dirty="0" err="1">
                <a:solidFill>
                  <a:srgbClr val="FFFFFF"/>
                </a:solidFill>
              </a:rPr>
              <a:t>amalfitana</a:t>
            </a:r>
            <a:r>
              <a:rPr lang="en-US" sz="2000" dirty="0">
                <a:solidFill>
                  <a:srgbClr val="FFFFFF"/>
                </a:solidFill>
              </a:rPr>
              <a:t>)</a:t>
            </a:r>
          </a:p>
        </p:txBody>
      </p:sp>
      <p:grpSp>
        <p:nvGrpSpPr>
          <p:cNvPr id="36"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8"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9"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06077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26E3396-8AE9-B105-C3F5-522052F466E3}"/>
            </a:ext>
          </a:extLst>
        </p:cNvPr>
        <p:cNvGrpSpPr/>
        <p:nvPr/>
      </p:nvGrpSpPr>
      <p:grpSpPr>
        <a:xfrm>
          <a:off x="0" y="0"/>
          <a:ext cx="0" cy="0"/>
          <a:chOff x="0" y="0"/>
          <a:chExt cx="0" cy="0"/>
        </a:xfrm>
      </p:grpSpPr>
      <p:sp>
        <p:nvSpPr>
          <p:cNvPr id="56" name="Freeform: Shape 9">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7" name="Group 11">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8" name="Freeform: Shape 12">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9" name="Freeform: Shape 13">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0" name="Freeform: Shape 14">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1"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62"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63"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64" name="Freeform: Shape 18">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5" name="Freeform: Shape 2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6"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67"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68"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69"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70"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71"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72" name="Rectangle 30">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Immagine 4" descr="Immagine che contiene testo, schermata, bottiglia, design&#10;&#10;Il contenuto generato dall'IA potrebbe non essere corretto.">
            <a:extLst>
              <a:ext uri="{FF2B5EF4-FFF2-40B4-BE49-F238E27FC236}">
                <a16:creationId xmlns:a16="http://schemas.microsoft.com/office/drawing/2014/main" id="{5EE26B19-9D25-6FC2-53B3-3D495EA0069B}"/>
              </a:ext>
            </a:extLst>
          </p:cNvPr>
          <p:cNvPicPr>
            <a:picLocks noChangeAspect="1"/>
          </p:cNvPicPr>
          <p:nvPr/>
        </p:nvPicPr>
        <p:blipFill>
          <a:blip r:embed="rId2"/>
          <a:srcRect t="2119"/>
          <a:stretch>
            <a:fillRect/>
          </a:stretch>
        </p:blipFill>
        <p:spPr>
          <a:xfrm>
            <a:off x="20" y="10"/>
            <a:ext cx="12185156" cy="6857990"/>
          </a:xfrm>
          <a:prstGeom prst="rect">
            <a:avLst/>
          </a:prstGeom>
        </p:spPr>
      </p:pic>
      <p:sp>
        <p:nvSpPr>
          <p:cNvPr id="73" name="Rectangle 32">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CAF1C8E-4018-1E62-34D7-5D42B3DB231F}"/>
              </a:ext>
            </a:extLst>
          </p:cNvPr>
          <p:cNvSpPr>
            <a:spLocks noGrp="1"/>
          </p:cNvSpPr>
          <p:nvPr>
            <p:ph type="title"/>
          </p:nvPr>
        </p:nvSpPr>
        <p:spPr>
          <a:xfrm>
            <a:off x="530352" y="799521"/>
            <a:ext cx="5565648" cy="2179601"/>
          </a:xfrm>
        </p:spPr>
        <p:txBody>
          <a:bodyPr vert="horz" lIns="91440" tIns="45720" rIns="91440" bIns="45720" rtlCol="0" anchor="b">
            <a:normAutofit/>
          </a:bodyPr>
          <a:lstStyle/>
          <a:p>
            <a:r>
              <a:rPr lang="en-US" sz="4400">
                <a:solidFill>
                  <a:srgbClr val="FFFFFF"/>
                </a:solidFill>
              </a:rPr>
              <a:t>Screen Mockup Shop</a:t>
            </a:r>
          </a:p>
        </p:txBody>
      </p:sp>
      <p:grpSp>
        <p:nvGrpSpPr>
          <p:cNvPr id="74"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6"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75"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76"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77"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78"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17481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3" name="Freeform: Shape 12">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4" name="Freeform: Shape 13">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7"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Freeform: Shape 2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4"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6"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7"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1" name="Rectangle 30">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Segnaposto contenuto 4" descr="Immagine che contiene testo, Pagina Web, software, schermata&#10;&#10;Il contenuto generato dall'IA potrebbe non essere corretto.">
            <a:extLst>
              <a:ext uri="{FF2B5EF4-FFF2-40B4-BE49-F238E27FC236}">
                <a16:creationId xmlns:a16="http://schemas.microsoft.com/office/drawing/2014/main" id="{61926E07-F18D-CB80-2D39-2724AD0F324F}"/>
              </a:ext>
            </a:extLst>
          </p:cNvPr>
          <p:cNvPicPr>
            <a:picLocks noGrp="1" noChangeAspect="1"/>
          </p:cNvPicPr>
          <p:nvPr>
            <p:ph idx="1"/>
          </p:nvPr>
        </p:nvPicPr>
        <p:blipFill>
          <a:blip r:embed="rId2"/>
          <a:srcRect b="2119"/>
          <a:stretch>
            <a:fillRect/>
          </a:stretch>
        </p:blipFill>
        <p:spPr>
          <a:xfrm>
            <a:off x="20" y="-226646"/>
            <a:ext cx="12185156" cy="7084646"/>
          </a:xfrm>
          <a:prstGeom prst="rect">
            <a:avLst/>
          </a:prstGeom>
        </p:spPr>
      </p:pic>
      <p:sp>
        <p:nvSpPr>
          <p:cNvPr id="33" name="Rectangle 32">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D4D6629-EB64-8FC0-AF45-398440D50505}"/>
              </a:ext>
            </a:extLst>
          </p:cNvPr>
          <p:cNvSpPr>
            <a:spLocks noGrp="1"/>
          </p:cNvSpPr>
          <p:nvPr>
            <p:ph type="title"/>
          </p:nvPr>
        </p:nvSpPr>
        <p:spPr>
          <a:xfrm>
            <a:off x="530352" y="799521"/>
            <a:ext cx="5565648" cy="2179601"/>
          </a:xfrm>
        </p:spPr>
        <p:txBody>
          <a:bodyPr vert="horz" lIns="91440" tIns="45720" rIns="91440" bIns="45720" rtlCol="0" anchor="b">
            <a:normAutofit/>
          </a:bodyPr>
          <a:lstStyle/>
          <a:p>
            <a:r>
              <a:rPr lang="en-US" sz="4400">
                <a:solidFill>
                  <a:srgbClr val="FFFFFF"/>
                </a:solidFill>
              </a:rPr>
              <a:t>Screen Mockup Carrello</a:t>
            </a:r>
          </a:p>
        </p:txBody>
      </p:sp>
      <p:grpSp>
        <p:nvGrpSpPr>
          <p:cNvPr id="35"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6"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7"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8"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969006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3" name="Freeform: Shape 12">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4" name="Freeform: Shape 13">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7"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Freeform: Shape 2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4"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6"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7"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1" name="Rectangle 30">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Segnaposto contenuto 4" descr="Immagine che contiene testo, software, Pagina Web, schermata&#10;&#10;Il contenuto generato dall'IA potrebbe non essere corretto.">
            <a:extLst>
              <a:ext uri="{FF2B5EF4-FFF2-40B4-BE49-F238E27FC236}">
                <a16:creationId xmlns:a16="http://schemas.microsoft.com/office/drawing/2014/main" id="{19B6CB73-EB9A-602A-B6EA-E781E839DEF1}"/>
              </a:ext>
            </a:extLst>
          </p:cNvPr>
          <p:cNvPicPr>
            <a:picLocks noGrp="1" noChangeAspect="1"/>
          </p:cNvPicPr>
          <p:nvPr>
            <p:ph idx="1"/>
          </p:nvPr>
        </p:nvPicPr>
        <p:blipFill>
          <a:blip r:embed="rId2"/>
          <a:srcRect b="16928"/>
          <a:stretch>
            <a:fillRect/>
          </a:stretch>
        </p:blipFill>
        <p:spPr>
          <a:xfrm>
            <a:off x="20" y="10"/>
            <a:ext cx="12185156" cy="6857990"/>
          </a:xfrm>
          <a:prstGeom prst="rect">
            <a:avLst/>
          </a:prstGeom>
        </p:spPr>
      </p:pic>
      <p:sp>
        <p:nvSpPr>
          <p:cNvPr id="33" name="Rectangle 32">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783C23C-1549-D813-EF63-D9C7948AED28}"/>
              </a:ext>
            </a:extLst>
          </p:cNvPr>
          <p:cNvSpPr>
            <a:spLocks noGrp="1"/>
          </p:cNvSpPr>
          <p:nvPr>
            <p:ph type="title"/>
          </p:nvPr>
        </p:nvSpPr>
        <p:spPr>
          <a:xfrm>
            <a:off x="530352" y="799521"/>
            <a:ext cx="4621394" cy="2427400"/>
          </a:xfrm>
        </p:spPr>
        <p:txBody>
          <a:bodyPr vert="horz" lIns="91440" tIns="45720" rIns="91440" bIns="45720" rtlCol="0" anchor="b">
            <a:normAutofit/>
          </a:bodyPr>
          <a:lstStyle/>
          <a:p>
            <a:r>
              <a:rPr lang="en-US" sz="4400" dirty="0">
                <a:solidFill>
                  <a:srgbClr val="FFFFFF"/>
                </a:solidFill>
              </a:rPr>
              <a:t>Screen </a:t>
            </a:r>
            <a:br>
              <a:rPr lang="en-US" sz="4400" dirty="0">
                <a:solidFill>
                  <a:srgbClr val="FFFFFF"/>
                </a:solidFill>
              </a:rPr>
            </a:br>
            <a:r>
              <a:rPr lang="en-US" sz="4400" dirty="0">
                <a:solidFill>
                  <a:srgbClr val="FFFFFF"/>
                </a:solidFill>
              </a:rPr>
              <a:t>Mockup </a:t>
            </a:r>
            <a:br>
              <a:rPr lang="en-US" sz="4400" dirty="0">
                <a:solidFill>
                  <a:srgbClr val="FFFFFF"/>
                </a:solidFill>
              </a:rPr>
            </a:br>
            <a:r>
              <a:rPr lang="en-US" sz="1600" dirty="0">
                <a:solidFill>
                  <a:srgbClr val="FFFFFF"/>
                </a:solidFill>
              </a:rPr>
              <a:t>Acquisto Carrello</a:t>
            </a:r>
          </a:p>
        </p:txBody>
      </p:sp>
      <p:grpSp>
        <p:nvGrpSpPr>
          <p:cNvPr id="35"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6"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7"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8"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528227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3" name="Freeform: Shape 12">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4" name="Freeform: Shape 13">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7"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Freeform: Shape 2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4"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6"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7"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1" name="Rectangle 30">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Segnaposto contenuto 4" descr="Immagine che contiene testo, schermata, software, Pagina Web&#10;&#10;Il contenuto generato dall'IA potrebbe non essere corretto.">
            <a:extLst>
              <a:ext uri="{FF2B5EF4-FFF2-40B4-BE49-F238E27FC236}">
                <a16:creationId xmlns:a16="http://schemas.microsoft.com/office/drawing/2014/main" id="{946495A9-A168-B356-23E9-85EF6ECDE91D}"/>
              </a:ext>
            </a:extLst>
          </p:cNvPr>
          <p:cNvPicPr>
            <a:picLocks noGrp="1" noChangeAspect="1"/>
          </p:cNvPicPr>
          <p:nvPr>
            <p:ph idx="1"/>
          </p:nvPr>
        </p:nvPicPr>
        <p:blipFill>
          <a:blip r:embed="rId2"/>
          <a:srcRect t="2119"/>
          <a:stretch>
            <a:fillRect/>
          </a:stretch>
        </p:blipFill>
        <p:spPr>
          <a:xfrm>
            <a:off x="20" y="10"/>
            <a:ext cx="12185156" cy="6857990"/>
          </a:xfrm>
          <a:prstGeom prst="rect">
            <a:avLst/>
          </a:prstGeom>
        </p:spPr>
      </p:pic>
      <p:sp>
        <p:nvSpPr>
          <p:cNvPr id="33" name="Rectangle 32">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FEB4CB1-5928-59A9-02EB-7AF9D56D1739}"/>
              </a:ext>
            </a:extLst>
          </p:cNvPr>
          <p:cNvSpPr>
            <a:spLocks noGrp="1"/>
          </p:cNvSpPr>
          <p:nvPr>
            <p:ph type="title"/>
          </p:nvPr>
        </p:nvSpPr>
        <p:spPr>
          <a:xfrm>
            <a:off x="530352" y="799521"/>
            <a:ext cx="3064051" cy="2179601"/>
          </a:xfrm>
        </p:spPr>
        <p:txBody>
          <a:bodyPr vert="horz" lIns="91440" tIns="45720" rIns="91440" bIns="45720" rtlCol="0" anchor="b">
            <a:normAutofit fontScale="90000"/>
          </a:bodyPr>
          <a:lstStyle/>
          <a:p>
            <a:r>
              <a:rPr lang="en-US" sz="4400" dirty="0">
                <a:solidFill>
                  <a:srgbClr val="FFFFFF"/>
                </a:solidFill>
              </a:rPr>
              <a:t>Screen Mockup </a:t>
            </a:r>
            <a:r>
              <a:rPr lang="en-US" sz="4400" dirty="0" err="1">
                <a:solidFill>
                  <a:srgbClr val="FFFFFF"/>
                </a:solidFill>
              </a:rPr>
              <a:t>Dettagli</a:t>
            </a:r>
            <a:r>
              <a:rPr lang="en-US" sz="4400" dirty="0">
                <a:solidFill>
                  <a:srgbClr val="FFFFFF"/>
                </a:solidFill>
              </a:rPr>
              <a:t> </a:t>
            </a:r>
            <a:r>
              <a:rPr lang="en-US" sz="4400" dirty="0" err="1">
                <a:solidFill>
                  <a:srgbClr val="FFFFFF"/>
                </a:solidFill>
              </a:rPr>
              <a:t>Ordine</a:t>
            </a:r>
            <a:endParaRPr lang="en-US" sz="4400" dirty="0">
              <a:solidFill>
                <a:srgbClr val="FFFFFF"/>
              </a:solidFill>
            </a:endParaRPr>
          </a:p>
        </p:txBody>
      </p:sp>
      <p:grpSp>
        <p:nvGrpSpPr>
          <p:cNvPr id="35"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6"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7"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8"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809234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98CB3-8D3D-D84A-F033-56808F8F58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A9A402A-6C1C-DD53-EB32-7D8896E67DF8}"/>
              </a:ext>
            </a:extLst>
          </p:cNvPr>
          <p:cNvSpPr>
            <a:spLocks noGrp="1"/>
          </p:cNvSpPr>
          <p:nvPr>
            <p:ph type="title"/>
          </p:nvPr>
        </p:nvSpPr>
        <p:spPr>
          <a:xfrm>
            <a:off x="530352" y="1122363"/>
            <a:ext cx="4887206" cy="1978346"/>
          </a:xfrm>
        </p:spPr>
        <p:txBody>
          <a:bodyPr vert="horz" lIns="91440" tIns="45720" rIns="91440" bIns="45720" rtlCol="0" anchor="b">
            <a:normAutofit/>
          </a:bodyPr>
          <a:lstStyle/>
          <a:p>
            <a:r>
              <a:rPr lang="en-US" sz="4000" dirty="0"/>
              <a:t>System Design Document</a:t>
            </a:r>
          </a:p>
        </p:txBody>
      </p:sp>
      <p:pic>
        <p:nvPicPr>
          <p:cNvPr id="5" name="Segnaposto contenuto 4" descr="Immagine che contiene testo, poster, bottiglia, illustrazione&#10;&#10;Il contenuto generato dall'IA potrebbe non essere corretto.">
            <a:extLst>
              <a:ext uri="{FF2B5EF4-FFF2-40B4-BE49-F238E27FC236}">
                <a16:creationId xmlns:a16="http://schemas.microsoft.com/office/drawing/2014/main" id="{6EB25072-6DAE-5241-33A2-2D7F6318EF92}"/>
              </a:ext>
            </a:extLst>
          </p:cNvPr>
          <p:cNvPicPr>
            <a:picLocks noGrp="1" noChangeAspect="1"/>
          </p:cNvPicPr>
          <p:nvPr>
            <p:ph idx="1"/>
          </p:nvPr>
        </p:nvPicPr>
        <p:blipFill>
          <a:blip r:embed="rId2"/>
          <a:stretch>
            <a:fillRect/>
          </a:stretch>
        </p:blipFill>
        <p:spPr>
          <a:xfrm>
            <a:off x="5970782" y="589788"/>
            <a:ext cx="5678424" cy="5678424"/>
          </a:xfrm>
          <a:prstGeom prst="rect">
            <a:avLst/>
          </a:prstGeom>
        </p:spPr>
      </p:pic>
    </p:spTree>
    <p:extLst>
      <p:ext uri="{BB962C8B-B14F-4D97-AF65-F5344CB8AC3E}">
        <p14:creationId xmlns:p14="http://schemas.microsoft.com/office/powerpoint/2010/main" val="5740928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3F1014-7FDB-884C-4BD3-6A35A5DAE22C}"/>
              </a:ext>
            </a:extLst>
          </p:cNvPr>
          <p:cNvSpPr>
            <a:spLocks noGrp="1"/>
          </p:cNvSpPr>
          <p:nvPr>
            <p:ph type="title"/>
          </p:nvPr>
        </p:nvSpPr>
        <p:spPr>
          <a:xfrm>
            <a:off x="525717" y="787068"/>
            <a:ext cx="4663649" cy="1455091"/>
          </a:xfrm>
        </p:spPr>
        <p:txBody>
          <a:bodyPr>
            <a:normAutofit/>
          </a:bodyPr>
          <a:lstStyle/>
          <a:p>
            <a:r>
              <a:rPr lang="it-IT"/>
              <a:t>Subsystem Decomposition</a:t>
            </a:r>
            <a:endParaRPr lang="it-IT" dirty="0"/>
          </a:p>
        </p:txBody>
      </p:sp>
      <p:pic>
        <p:nvPicPr>
          <p:cNvPr id="4" name="Segnaposto contenuto 3" descr="Immagine che contiene diagramma, linea, Piano, Disegno tecnico&#10;&#10;Il contenuto generato dall'IA potrebbe non essere corretto.">
            <a:extLst>
              <a:ext uri="{FF2B5EF4-FFF2-40B4-BE49-F238E27FC236}">
                <a16:creationId xmlns:a16="http://schemas.microsoft.com/office/drawing/2014/main" id="{E238D41D-476A-6B7E-5EB3-CC5B548D0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8847" y="552793"/>
            <a:ext cx="5350076" cy="5661456"/>
          </a:xfrm>
          <a:prstGeom prst="rect">
            <a:avLst/>
          </a:prstGeom>
        </p:spPr>
      </p:pic>
    </p:spTree>
    <p:extLst>
      <p:ext uri="{BB962C8B-B14F-4D97-AF65-F5344CB8AC3E}">
        <p14:creationId xmlns:p14="http://schemas.microsoft.com/office/powerpoint/2010/main" val="1928878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D39D55-C973-39DE-5AB2-512FA8775C06}"/>
              </a:ext>
            </a:extLst>
          </p:cNvPr>
          <p:cNvSpPr>
            <a:spLocks noGrp="1"/>
          </p:cNvSpPr>
          <p:nvPr>
            <p:ph type="title"/>
          </p:nvPr>
        </p:nvSpPr>
        <p:spPr/>
        <p:txBody>
          <a:bodyPr/>
          <a:lstStyle/>
          <a:p>
            <a:r>
              <a:rPr lang="it-IT" dirty="0" err="1"/>
              <a:t>UserManagement</a:t>
            </a:r>
            <a:endParaRPr lang="it-IT" dirty="0"/>
          </a:p>
        </p:txBody>
      </p:sp>
      <p:sp>
        <p:nvSpPr>
          <p:cNvPr id="3" name="Segnaposto contenuto 2">
            <a:extLst>
              <a:ext uri="{FF2B5EF4-FFF2-40B4-BE49-F238E27FC236}">
                <a16:creationId xmlns:a16="http://schemas.microsoft.com/office/drawing/2014/main" id="{ED6A33C8-CA75-778B-2711-A421FC443719}"/>
              </a:ext>
            </a:extLst>
          </p:cNvPr>
          <p:cNvSpPr>
            <a:spLocks noGrp="1"/>
          </p:cNvSpPr>
          <p:nvPr>
            <p:ph idx="1"/>
          </p:nvPr>
        </p:nvSpPr>
        <p:spPr/>
        <p:txBody>
          <a:bodyPr/>
          <a:lstStyle/>
          <a:p>
            <a:pPr lvl="0" fontAlgn="base"/>
            <a:r>
              <a:rPr lang="it-IT" dirty="0"/>
              <a:t>Gestisce l'intero ciclo di vita dell'identità utente, incluse l'autenticazione, la registrazione e la gestione delle sessioni. Il modulo distingue i ruoli </a:t>
            </a:r>
          </a:p>
          <a:p>
            <a:r>
              <a:rPr lang="it-IT" dirty="0"/>
              <a:t>(utente/amministratore) ed è progettato per isolare completamente la logica delle credenziali e della sicurezza dal resto dell'applicazione. </a:t>
            </a:r>
          </a:p>
          <a:p>
            <a:endParaRPr lang="it-IT" u="sng" dirty="0"/>
          </a:p>
        </p:txBody>
      </p:sp>
    </p:spTree>
    <p:extLst>
      <p:ext uri="{BB962C8B-B14F-4D97-AF65-F5344CB8AC3E}">
        <p14:creationId xmlns:p14="http://schemas.microsoft.com/office/powerpoint/2010/main" val="1418355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E60093-F9E5-E1BE-6B27-4785B66D7F2D}"/>
              </a:ext>
            </a:extLst>
          </p:cNvPr>
          <p:cNvSpPr>
            <a:spLocks noGrp="1"/>
          </p:cNvSpPr>
          <p:nvPr>
            <p:ph type="title"/>
          </p:nvPr>
        </p:nvSpPr>
        <p:spPr/>
        <p:txBody>
          <a:bodyPr/>
          <a:lstStyle/>
          <a:p>
            <a:r>
              <a:rPr lang="it-IT" b="1" dirty="0" err="1"/>
              <a:t>CatalogManagement</a:t>
            </a:r>
            <a:endParaRPr lang="it-IT" dirty="0"/>
          </a:p>
        </p:txBody>
      </p:sp>
      <p:sp>
        <p:nvSpPr>
          <p:cNvPr id="3" name="Segnaposto contenuto 2">
            <a:extLst>
              <a:ext uri="{FF2B5EF4-FFF2-40B4-BE49-F238E27FC236}">
                <a16:creationId xmlns:a16="http://schemas.microsoft.com/office/drawing/2014/main" id="{E73964B9-5A7C-3665-97BC-68CC30CE8951}"/>
              </a:ext>
            </a:extLst>
          </p:cNvPr>
          <p:cNvSpPr>
            <a:spLocks noGrp="1"/>
          </p:cNvSpPr>
          <p:nvPr>
            <p:ph idx="1"/>
          </p:nvPr>
        </p:nvSpPr>
        <p:spPr/>
        <p:txBody>
          <a:bodyPr/>
          <a:lstStyle/>
          <a:p>
            <a:r>
              <a:rPr lang="it-IT" dirty="0"/>
              <a:t>Centralizza tutte le operazioni di lettura relative ai prodotti. Si occupa di gestire e fornire informazioni su prezzi, provenienza, aziende fornitrici e stock logico, raccogliendo in un unico punto le funzionalità necessarie alla consultazione del catalogo.</a:t>
            </a:r>
          </a:p>
        </p:txBody>
      </p:sp>
    </p:spTree>
    <p:extLst>
      <p:ext uri="{BB962C8B-B14F-4D97-AF65-F5344CB8AC3E}">
        <p14:creationId xmlns:p14="http://schemas.microsoft.com/office/powerpoint/2010/main" val="2358473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9E44CE-51ED-4FC5-A0DA-9800B55B44B6}"/>
              </a:ext>
            </a:extLst>
          </p:cNvPr>
          <p:cNvSpPr>
            <a:spLocks noGrp="1"/>
          </p:cNvSpPr>
          <p:nvPr>
            <p:ph type="title"/>
          </p:nvPr>
        </p:nvSpPr>
        <p:spPr/>
        <p:txBody>
          <a:bodyPr/>
          <a:lstStyle/>
          <a:p>
            <a:r>
              <a:rPr lang="it-IT" b="1" dirty="0" err="1"/>
              <a:t>OrderManagement</a:t>
            </a:r>
            <a:endParaRPr lang="it-IT" dirty="0"/>
          </a:p>
        </p:txBody>
      </p:sp>
      <p:sp>
        <p:nvSpPr>
          <p:cNvPr id="3" name="Segnaposto contenuto 2">
            <a:extLst>
              <a:ext uri="{FF2B5EF4-FFF2-40B4-BE49-F238E27FC236}">
                <a16:creationId xmlns:a16="http://schemas.microsoft.com/office/drawing/2014/main" id="{1D17F914-8C6E-2198-F26C-B0C22037B994}"/>
              </a:ext>
            </a:extLst>
          </p:cNvPr>
          <p:cNvSpPr>
            <a:spLocks noGrp="1"/>
          </p:cNvSpPr>
          <p:nvPr>
            <p:ph idx="1"/>
          </p:nvPr>
        </p:nvSpPr>
        <p:spPr/>
        <p:txBody>
          <a:bodyPr/>
          <a:lstStyle/>
          <a:p>
            <a:r>
              <a:rPr lang="it-IT" dirty="0"/>
              <a:t>Racchiude la logica di business relativa alla trasformazione del carrello in un ordine confermato. Si occupa della creazione dell'ordine, della registrazione delle righe, dell'aggiornamento dello stock fisico e della gestione dei cambi di stato dell'ordine. Include al suo interno anche la parte di funzionalità dedicata alla gestione del carrello.</a:t>
            </a:r>
          </a:p>
          <a:p>
            <a:endParaRPr lang="it-IT" dirty="0"/>
          </a:p>
        </p:txBody>
      </p:sp>
    </p:spTree>
    <p:extLst>
      <p:ext uri="{BB962C8B-B14F-4D97-AF65-F5344CB8AC3E}">
        <p14:creationId xmlns:p14="http://schemas.microsoft.com/office/powerpoint/2010/main" val="3302514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1912A66-A6F6-07B0-207A-5174711C1D54}"/>
              </a:ext>
            </a:extLst>
          </p:cNvPr>
          <p:cNvSpPr>
            <a:spLocks noGrp="1"/>
          </p:cNvSpPr>
          <p:nvPr>
            <p:ph type="title"/>
          </p:nvPr>
        </p:nvSpPr>
        <p:spPr>
          <a:xfrm>
            <a:off x="518452" y="971398"/>
            <a:ext cx="5577547" cy="1584378"/>
          </a:xfrm>
        </p:spPr>
        <p:txBody>
          <a:bodyPr vert="horz" lIns="91440" tIns="45720" rIns="91440" bIns="45720" rtlCol="0" anchor="t">
            <a:normAutofit/>
          </a:bodyPr>
          <a:lstStyle/>
          <a:p>
            <a:pPr>
              <a:lnSpc>
                <a:spcPct val="90000"/>
              </a:lnSpc>
            </a:pPr>
            <a:r>
              <a:rPr lang="en-US" sz="3400" b="1"/>
              <a:t>Hardware/Software mapping </a:t>
            </a:r>
            <a:br>
              <a:rPr lang="en-US" sz="3400" b="1"/>
            </a:br>
            <a:endParaRPr lang="en-US" sz="3400"/>
          </a:p>
        </p:txBody>
      </p:sp>
      <p:pic>
        <p:nvPicPr>
          <p:cNvPr id="4" name="Segnaposto contenuto 3" descr="Immagine che contiene testo, Carattere, linea, diagramma&#10;&#10;Il contenuto generato dall'IA potrebbe non essere corretto.">
            <a:extLst>
              <a:ext uri="{FF2B5EF4-FFF2-40B4-BE49-F238E27FC236}">
                <a16:creationId xmlns:a16="http://schemas.microsoft.com/office/drawing/2014/main" id="{0B45AE1F-B7D8-615B-AB0C-11C1EEF9F7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3938" y="3566319"/>
            <a:ext cx="9080500" cy="1460500"/>
          </a:xfrm>
          <a:prstGeom prst="rect">
            <a:avLst/>
          </a:prstGeom>
        </p:spPr>
      </p:pic>
    </p:spTree>
    <p:extLst>
      <p:ext uri="{BB962C8B-B14F-4D97-AF65-F5344CB8AC3E}">
        <p14:creationId xmlns:p14="http://schemas.microsoft.com/office/powerpoint/2010/main" val="7514785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BAC5561-B146-82EE-EB02-77486650CDAB}"/>
              </a:ext>
            </a:extLst>
          </p:cNvPr>
          <p:cNvSpPr>
            <a:spLocks noGrp="1"/>
          </p:cNvSpPr>
          <p:nvPr>
            <p:ph type="title"/>
          </p:nvPr>
        </p:nvSpPr>
        <p:spPr/>
        <p:txBody>
          <a:bodyPr/>
          <a:lstStyle/>
          <a:p>
            <a:r>
              <a:rPr lang="it-IT" dirty="0"/>
              <a:t>Nodi</a:t>
            </a:r>
          </a:p>
        </p:txBody>
      </p:sp>
      <p:sp>
        <p:nvSpPr>
          <p:cNvPr id="3" name="Segnaposto contenuto 2">
            <a:extLst>
              <a:ext uri="{FF2B5EF4-FFF2-40B4-BE49-F238E27FC236}">
                <a16:creationId xmlns:a16="http://schemas.microsoft.com/office/drawing/2014/main" id="{E0BBE96C-2735-D668-EB54-8ED46FB69C00}"/>
              </a:ext>
            </a:extLst>
          </p:cNvPr>
          <p:cNvSpPr>
            <a:spLocks noGrp="1"/>
          </p:cNvSpPr>
          <p:nvPr>
            <p:ph idx="1"/>
          </p:nvPr>
        </p:nvSpPr>
        <p:spPr/>
        <p:txBody>
          <a:bodyPr>
            <a:normAutofit fontScale="70000" lnSpcReduction="20000"/>
          </a:bodyPr>
          <a:lstStyle/>
          <a:p>
            <a:pPr lvl="0" fontAlgn="base"/>
            <a:r>
              <a:rPr lang="it-IT" b="1" dirty="0"/>
              <a:t>Nodo Client: </a:t>
            </a:r>
            <a:r>
              <a:rPr lang="it-IT" dirty="0"/>
              <a:t>Rappresenta il punto di accesso per l'utente finale tramite dispositivi personali </a:t>
            </a:r>
          </a:p>
          <a:p>
            <a:r>
              <a:rPr lang="it-IT" dirty="0"/>
              <a:t>(PC, laptop, smartphone). Il software di riferimento è un browser web moderno (es. Chrome, Firefox), responsabile dell'invio delle richieste HTTP/HTTPS e della visualizzazione delle pagine HTML/CSS/JS renderizzate dal server.</a:t>
            </a:r>
          </a:p>
          <a:p>
            <a:pPr lvl="0" fontAlgn="base"/>
            <a:r>
              <a:rPr lang="it-IT" b="1" dirty="0"/>
              <a:t>Nodo Web Server: </a:t>
            </a:r>
            <a:r>
              <a:rPr lang="it-IT" dirty="0"/>
              <a:t>Costituisce il cuore elaborativo del sistema, ospitato su un server che esegue Apache Tomcat e l'applicazione </a:t>
            </a:r>
            <a:r>
              <a:rPr lang="it-IT" dirty="0" err="1"/>
              <a:t>LaCantina.war</a:t>
            </a:r>
            <a:r>
              <a:rPr lang="it-IT" dirty="0"/>
              <a:t>. Questo nodo contiene tutti i package applicativi (</a:t>
            </a:r>
            <a:r>
              <a:rPr lang="it-IT" dirty="0" err="1"/>
              <a:t>Boundary</a:t>
            </a:r>
            <a:r>
              <a:rPr lang="it-IT" dirty="0"/>
              <a:t>, Controller, </a:t>
            </a:r>
            <a:r>
              <a:rPr lang="it-IT" dirty="0" err="1"/>
              <a:t>Entity</a:t>
            </a:r>
            <a:r>
              <a:rPr lang="it-IT" dirty="0"/>
              <a:t>, DAO) e gestisce centralmente la logica di business, le sessioni utente e l'orchestrazione delle comunicazioni verso il database e i servizi esterni </a:t>
            </a:r>
          </a:p>
          <a:p>
            <a:pPr lvl="0" fontAlgn="base"/>
            <a:r>
              <a:rPr lang="it-IT" b="1" dirty="0"/>
              <a:t>Nodo Database Server: </a:t>
            </a:r>
            <a:r>
              <a:rPr lang="it-IT" dirty="0"/>
              <a:t>È dedicato alla persistenza dei dati e ospita il DBMS MySQL. Questo nodo si occupa di memorizzare e recuperare in modo efficiente tutte le informazioni strutturate del sistema, tra cui le anagrafiche utenti, il catalogo prodotti e lo storico degli ordini. </a:t>
            </a:r>
          </a:p>
          <a:p>
            <a:pPr lvl="0" fontAlgn="base"/>
            <a:r>
              <a:rPr lang="it-IT" b="1" dirty="0"/>
              <a:t>Nodo Payment Gateway: </a:t>
            </a:r>
            <a:r>
              <a:rPr lang="it-IT" dirty="0"/>
              <a:t>Identifica un sistema esterno (reale o </a:t>
            </a:r>
            <a:r>
              <a:rPr lang="it-IT" dirty="0" err="1"/>
              <a:t>mock</a:t>
            </a:r>
            <a:r>
              <a:rPr lang="it-IT" dirty="0"/>
              <a:t>) interfacciato dall'applicazione. Il suo unico ruolo è ricevere le richieste di transazione finanziaria e restituire l'esito (successo o fallimento) al Web Server, senza risiedere nell'infrastruttura fisica di </a:t>
            </a:r>
            <a:r>
              <a:rPr lang="it-IT" dirty="0" err="1"/>
              <a:t>LaCantina</a:t>
            </a:r>
            <a:r>
              <a:rPr lang="it-IT" dirty="0"/>
              <a:t>.  </a:t>
            </a:r>
          </a:p>
          <a:p>
            <a:endParaRPr lang="it-IT" dirty="0"/>
          </a:p>
        </p:txBody>
      </p:sp>
    </p:spTree>
    <p:extLst>
      <p:ext uri="{BB962C8B-B14F-4D97-AF65-F5344CB8AC3E}">
        <p14:creationId xmlns:p14="http://schemas.microsoft.com/office/powerpoint/2010/main" val="17744490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7995B0-E59F-2A21-1988-BAC2939ECE1A}"/>
              </a:ext>
            </a:extLst>
          </p:cNvPr>
          <p:cNvSpPr>
            <a:spLocks noGrp="1"/>
          </p:cNvSpPr>
          <p:nvPr>
            <p:ph type="title"/>
          </p:nvPr>
        </p:nvSpPr>
        <p:spPr/>
        <p:txBody>
          <a:bodyPr/>
          <a:lstStyle/>
          <a:p>
            <a:r>
              <a:rPr lang="it-IT" dirty="0"/>
              <a:t>Data Management</a:t>
            </a:r>
          </a:p>
        </p:txBody>
      </p:sp>
      <p:sp>
        <p:nvSpPr>
          <p:cNvPr id="3" name="Segnaposto contenuto 2">
            <a:extLst>
              <a:ext uri="{FF2B5EF4-FFF2-40B4-BE49-F238E27FC236}">
                <a16:creationId xmlns:a16="http://schemas.microsoft.com/office/drawing/2014/main" id="{0DB39A87-F2F7-DE14-2EB2-137CD0C6FEBE}"/>
              </a:ext>
            </a:extLst>
          </p:cNvPr>
          <p:cNvSpPr>
            <a:spLocks noGrp="1"/>
          </p:cNvSpPr>
          <p:nvPr>
            <p:ph idx="1"/>
          </p:nvPr>
        </p:nvSpPr>
        <p:spPr>
          <a:xfrm>
            <a:off x="525717" y="2521885"/>
            <a:ext cx="5570283" cy="3549045"/>
          </a:xfrm>
        </p:spPr>
        <p:txBody>
          <a:bodyPr>
            <a:normAutofit/>
          </a:bodyPr>
          <a:lstStyle/>
          <a:p>
            <a:r>
              <a:rPr lang="it-IT" dirty="0"/>
              <a:t>La gestione dei dati persistenti si articola su cinque entità principali: </a:t>
            </a:r>
          </a:p>
          <a:p>
            <a:pPr lvl="0" fontAlgn="base"/>
            <a:r>
              <a:rPr lang="it-IT" b="1" dirty="0"/>
              <a:t>Utente</a:t>
            </a:r>
            <a:r>
              <a:rPr lang="it-IT" dirty="0"/>
              <a:t> </a:t>
            </a:r>
          </a:p>
          <a:p>
            <a:pPr lvl="0" fontAlgn="base"/>
            <a:r>
              <a:rPr lang="it-IT" b="1" dirty="0"/>
              <a:t>Prodotto</a:t>
            </a:r>
            <a:r>
              <a:rPr lang="it-IT" dirty="0"/>
              <a:t> </a:t>
            </a:r>
          </a:p>
          <a:p>
            <a:pPr lvl="0" fontAlgn="base"/>
            <a:r>
              <a:rPr lang="it-IT" b="1" dirty="0" err="1"/>
              <a:t>AziendaFornitrice</a:t>
            </a:r>
            <a:r>
              <a:rPr lang="it-IT" dirty="0"/>
              <a:t> </a:t>
            </a:r>
          </a:p>
          <a:p>
            <a:pPr lvl="0" fontAlgn="base"/>
            <a:r>
              <a:rPr lang="it-IT" b="1" dirty="0"/>
              <a:t>Ordine</a:t>
            </a:r>
            <a:r>
              <a:rPr lang="it-IT" dirty="0"/>
              <a:t> </a:t>
            </a:r>
          </a:p>
          <a:p>
            <a:pPr lvl="0" fontAlgn="base"/>
            <a:r>
              <a:rPr lang="it-IT" b="1" dirty="0" err="1"/>
              <a:t>RigaOrdine</a:t>
            </a:r>
            <a:r>
              <a:rPr lang="it-IT" dirty="0"/>
              <a:t>  </a:t>
            </a:r>
          </a:p>
          <a:p>
            <a:endParaRPr lang="it-IT" dirty="0"/>
          </a:p>
        </p:txBody>
      </p:sp>
      <p:sp>
        <p:nvSpPr>
          <p:cNvPr id="4" name="Segnaposto contenuto 2">
            <a:extLst>
              <a:ext uri="{FF2B5EF4-FFF2-40B4-BE49-F238E27FC236}">
                <a16:creationId xmlns:a16="http://schemas.microsoft.com/office/drawing/2014/main" id="{FECDF03B-9D9C-4A67-243E-4CAEDCE28559}"/>
              </a:ext>
            </a:extLst>
          </p:cNvPr>
          <p:cNvSpPr txBox="1">
            <a:spLocks/>
          </p:cNvSpPr>
          <p:nvPr/>
        </p:nvSpPr>
        <p:spPr>
          <a:xfrm>
            <a:off x="6217638" y="2521884"/>
            <a:ext cx="5570283" cy="3549045"/>
          </a:xfrm>
          <a:prstGeom prst="rect">
            <a:avLst/>
          </a:prstGeom>
        </p:spPr>
        <p:txBody>
          <a:bodyPr vert="horz" lIns="91440" tIns="45720" rIns="91440" bIns="45720" rtlCol="0">
            <a:normAutofit lnSpcReduction="10000"/>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Dal punto di vista tecnologico, la persistenza è affidata al DBMS relazionale </a:t>
            </a:r>
            <a:r>
              <a:rPr lang="it-IT" b="1" dirty="0"/>
              <a:t>MySQL</a:t>
            </a:r>
            <a:r>
              <a:rPr lang="it-IT" dirty="0"/>
              <a:t>. L'interazione con la base di dati avviene tramite </a:t>
            </a:r>
            <a:r>
              <a:rPr lang="it-IT" b="1" dirty="0"/>
              <a:t>JDBC</a:t>
            </a:r>
            <a:r>
              <a:rPr lang="it-IT" dirty="0"/>
              <a:t> (utilizzando </a:t>
            </a:r>
            <a:r>
              <a:rPr lang="it-IT" i="1" dirty="0" err="1"/>
              <a:t>PreparedStatement</a:t>
            </a:r>
            <a:r>
              <a:rPr lang="it-IT" dirty="0"/>
              <a:t> per sicurezza ed efficienza), implementando il pattern </a:t>
            </a:r>
            <a:r>
              <a:rPr lang="it-IT" b="1" dirty="0"/>
              <a:t>DAO (Data Access Object)</a:t>
            </a:r>
            <a:r>
              <a:rPr lang="it-IT" dirty="0"/>
              <a:t> per ciascuna entità al fine di disaccoppiare la logica di business dalle operazioni di accesso ai dati. </a:t>
            </a:r>
          </a:p>
          <a:p>
            <a:r>
              <a:rPr lang="it-IT" dirty="0"/>
              <a:t> </a:t>
            </a:r>
          </a:p>
          <a:p>
            <a:endParaRPr lang="it-IT" dirty="0"/>
          </a:p>
        </p:txBody>
      </p:sp>
    </p:spTree>
    <p:extLst>
      <p:ext uri="{BB962C8B-B14F-4D97-AF65-F5344CB8AC3E}">
        <p14:creationId xmlns:p14="http://schemas.microsoft.com/office/powerpoint/2010/main" val="2630821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60FA2F-4C2C-6CEB-450C-D4631350B32B}"/>
              </a:ext>
            </a:extLst>
          </p:cNvPr>
          <p:cNvSpPr>
            <a:spLocks noGrp="1"/>
          </p:cNvSpPr>
          <p:nvPr>
            <p:ph type="title"/>
          </p:nvPr>
        </p:nvSpPr>
        <p:spPr/>
        <p:txBody>
          <a:bodyPr/>
          <a:lstStyle/>
          <a:p>
            <a:r>
              <a:rPr lang="it-IT" b="1" dirty="0"/>
              <a:t>Access Control and security </a:t>
            </a:r>
            <a:br>
              <a:rPr lang="it-IT" b="1" dirty="0"/>
            </a:br>
            <a:endParaRPr lang="it-IT" dirty="0"/>
          </a:p>
        </p:txBody>
      </p:sp>
      <p:sp>
        <p:nvSpPr>
          <p:cNvPr id="3" name="Segnaposto contenuto 2">
            <a:extLst>
              <a:ext uri="{FF2B5EF4-FFF2-40B4-BE49-F238E27FC236}">
                <a16:creationId xmlns:a16="http://schemas.microsoft.com/office/drawing/2014/main" id="{504DA490-81B2-503F-D536-5E10B8DE4076}"/>
              </a:ext>
            </a:extLst>
          </p:cNvPr>
          <p:cNvSpPr>
            <a:spLocks noGrp="1"/>
          </p:cNvSpPr>
          <p:nvPr>
            <p:ph idx="1"/>
          </p:nvPr>
        </p:nvSpPr>
        <p:spPr>
          <a:xfrm>
            <a:off x="525718" y="2521885"/>
            <a:ext cx="5254596" cy="3911572"/>
          </a:xfrm>
        </p:spPr>
        <p:txBody>
          <a:bodyPr>
            <a:normAutofit fontScale="70000" lnSpcReduction="20000"/>
          </a:bodyPr>
          <a:lstStyle/>
          <a:p>
            <a:r>
              <a:rPr lang="it-IT" b="1" dirty="0"/>
              <a:t>Attori e ruoli </a:t>
            </a:r>
          </a:p>
          <a:p>
            <a:pPr lvl="0" fontAlgn="base"/>
            <a:r>
              <a:rPr lang="it-IT" dirty="0"/>
              <a:t>Utente non autenticato </a:t>
            </a:r>
          </a:p>
          <a:p>
            <a:pPr lvl="1" fontAlgn="base"/>
            <a:r>
              <a:rPr lang="it-IT" dirty="0"/>
              <a:t>Può: visualizzare il catalogo, aggiungere elementi al carrello, registrarsi, autenticarsi. </a:t>
            </a:r>
          </a:p>
          <a:p>
            <a:pPr lvl="1" fontAlgn="base"/>
            <a:r>
              <a:rPr lang="it-IT" dirty="0"/>
              <a:t>Non può: effettuare ordini, visualizzare gli ordini effettuati, accedere ad aree admin. </a:t>
            </a:r>
          </a:p>
          <a:p>
            <a:r>
              <a:rPr lang="it-IT" dirty="0"/>
              <a:t> </a:t>
            </a:r>
          </a:p>
          <a:p>
            <a:pPr lvl="0" fontAlgn="base"/>
            <a:r>
              <a:rPr lang="it-IT" dirty="0"/>
              <a:t>Utente autenticato (ruolo: USER) </a:t>
            </a:r>
          </a:p>
          <a:p>
            <a:pPr lvl="1" fontAlgn="base"/>
            <a:r>
              <a:rPr lang="it-IT" dirty="0"/>
              <a:t>Può: usare il carrello, fare ordini, consultare i propri ordini, cambiare le informazioni di spedizione ed annullare l’ordine se non risulta ancora spedito. </a:t>
            </a:r>
          </a:p>
          <a:p>
            <a:r>
              <a:rPr lang="it-IT" dirty="0"/>
              <a:t> </a:t>
            </a:r>
          </a:p>
          <a:p>
            <a:pPr lvl="0" fontAlgn="base"/>
            <a:r>
              <a:rPr lang="it-IT" dirty="0"/>
              <a:t>Amministratore (ruolo: ADMIN) </a:t>
            </a:r>
          </a:p>
          <a:p>
            <a:pPr lvl="1" fontAlgn="base"/>
            <a:r>
              <a:rPr lang="it-IT" dirty="0"/>
              <a:t>Può: modificare stock, prezzi, aggiungere/eliminare prodotti, modificare stato ordini. </a:t>
            </a:r>
          </a:p>
          <a:p>
            <a:endParaRPr lang="it-IT" dirty="0"/>
          </a:p>
        </p:txBody>
      </p:sp>
      <p:sp>
        <p:nvSpPr>
          <p:cNvPr id="4" name="Segnaposto contenuto 2">
            <a:extLst>
              <a:ext uri="{FF2B5EF4-FFF2-40B4-BE49-F238E27FC236}">
                <a16:creationId xmlns:a16="http://schemas.microsoft.com/office/drawing/2014/main" id="{4B22E54F-7EF6-A66B-52E1-4985B8C936B5}"/>
              </a:ext>
            </a:extLst>
          </p:cNvPr>
          <p:cNvSpPr txBox="1">
            <a:spLocks/>
          </p:cNvSpPr>
          <p:nvPr/>
        </p:nvSpPr>
        <p:spPr>
          <a:xfrm>
            <a:off x="5952834" y="2521885"/>
            <a:ext cx="4650440" cy="2017457"/>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t>Meccanismi tecnici </a:t>
            </a:r>
          </a:p>
          <a:p>
            <a:pPr lvl="0" fontAlgn="base"/>
            <a:r>
              <a:rPr lang="it-IT" dirty="0"/>
              <a:t>Dopo il login riuscito, nella </a:t>
            </a:r>
            <a:r>
              <a:rPr lang="it-IT" dirty="0" err="1"/>
              <a:t>HttpSession</a:t>
            </a:r>
            <a:r>
              <a:rPr lang="it-IT" dirty="0"/>
              <a:t> viene registrato l’oggetto Utente e il suo ruolo. </a:t>
            </a:r>
          </a:p>
          <a:p>
            <a:pPr lvl="0" fontAlgn="base"/>
            <a:r>
              <a:rPr lang="it-IT" dirty="0"/>
              <a:t>Le pagine e i controller che richiedono un certo ruolo: </a:t>
            </a:r>
          </a:p>
          <a:p>
            <a:pPr lvl="1" fontAlgn="base"/>
            <a:r>
              <a:rPr lang="it-IT" dirty="0"/>
              <a:t>verificano la presenza dell’utente in sessione; </a:t>
            </a:r>
          </a:p>
          <a:p>
            <a:pPr lvl="1" fontAlgn="base"/>
            <a:r>
              <a:rPr lang="it-IT" dirty="0"/>
              <a:t>verificano il ruolo corretto (USER o ADMIN); </a:t>
            </a:r>
          </a:p>
          <a:p>
            <a:pPr lvl="1" fontAlgn="base"/>
            <a:r>
              <a:rPr lang="it-IT" dirty="0"/>
              <a:t>in caso di mancanza di permessi, reindirizzano a pagina di errore o </a:t>
            </a:r>
            <a:r>
              <a:rPr lang="it-IT" dirty="0" err="1"/>
              <a:t>login.Fault</a:t>
            </a:r>
            <a:endParaRPr lang="it-IT" dirty="0"/>
          </a:p>
          <a:p>
            <a:endParaRPr lang="it-IT" dirty="0"/>
          </a:p>
        </p:txBody>
      </p:sp>
      <p:sp>
        <p:nvSpPr>
          <p:cNvPr id="5" name="Segnaposto contenuto 2">
            <a:extLst>
              <a:ext uri="{FF2B5EF4-FFF2-40B4-BE49-F238E27FC236}">
                <a16:creationId xmlns:a16="http://schemas.microsoft.com/office/drawing/2014/main" id="{831C93CE-FDCC-4412-C242-0335C6156894}"/>
              </a:ext>
            </a:extLst>
          </p:cNvPr>
          <p:cNvSpPr txBox="1">
            <a:spLocks/>
          </p:cNvSpPr>
          <p:nvPr/>
        </p:nvSpPr>
        <p:spPr>
          <a:xfrm>
            <a:off x="5952834" y="4851582"/>
            <a:ext cx="4650440" cy="1219350"/>
          </a:xfrm>
          <a:prstGeom prst="rect">
            <a:avLst/>
          </a:prstGeom>
        </p:spPr>
        <p:txBody>
          <a:bodyPr vert="horz" lIns="91440" tIns="45720" rIns="91440" bIns="45720" rtlCol="0">
            <a:normAutofit fontScale="55000" lnSpcReduction="20000"/>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t>Protezione dati </a:t>
            </a:r>
          </a:p>
          <a:p>
            <a:pPr lvl="0" fontAlgn="base"/>
            <a:r>
              <a:rPr lang="it-IT" dirty="0"/>
              <a:t>Parametri per query SQL passati tramite </a:t>
            </a:r>
            <a:r>
              <a:rPr lang="it-IT" dirty="0" err="1"/>
              <a:t>PreparedStatement</a:t>
            </a:r>
            <a:r>
              <a:rPr lang="it-IT" dirty="0"/>
              <a:t>. </a:t>
            </a:r>
          </a:p>
          <a:p>
            <a:pPr lvl="0" fontAlgn="base"/>
            <a:r>
              <a:rPr lang="it-IT" dirty="0"/>
              <a:t>Controllo e validazione degli input di form (formato email, numeri, valori di prezzo, ecc.). </a:t>
            </a:r>
          </a:p>
          <a:p>
            <a:endParaRPr lang="it-IT" dirty="0"/>
          </a:p>
        </p:txBody>
      </p:sp>
    </p:spTree>
    <p:extLst>
      <p:ext uri="{BB962C8B-B14F-4D97-AF65-F5344CB8AC3E}">
        <p14:creationId xmlns:p14="http://schemas.microsoft.com/office/powerpoint/2010/main" val="3362692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3AF88B-FC3A-49AA-DDA0-2F27991A9FBA}"/>
              </a:ext>
            </a:extLst>
          </p:cNvPr>
          <p:cNvSpPr>
            <a:spLocks noGrp="1"/>
          </p:cNvSpPr>
          <p:nvPr>
            <p:ph type="title"/>
          </p:nvPr>
        </p:nvSpPr>
        <p:spPr>
          <a:xfrm>
            <a:off x="530352" y="589788"/>
            <a:ext cx="4884481" cy="2510921"/>
          </a:xfrm>
        </p:spPr>
        <p:txBody>
          <a:bodyPr vert="horz" lIns="91440" tIns="45720" rIns="91440" bIns="45720" rtlCol="0" anchor="b">
            <a:normAutofit/>
          </a:bodyPr>
          <a:lstStyle/>
          <a:p>
            <a:r>
              <a:rPr lang="en-US" sz="4000" b="1" dirty="0"/>
              <a:t>Matrice degli </a:t>
            </a:r>
            <a:r>
              <a:rPr lang="en-US" sz="4000" b="1" dirty="0" err="1"/>
              <a:t>accessi</a:t>
            </a:r>
            <a:br>
              <a:rPr lang="en-US" sz="4000" b="1" dirty="0"/>
            </a:br>
            <a:endParaRPr lang="en-US" sz="4000" dirty="0"/>
          </a:p>
        </p:txBody>
      </p:sp>
      <p:graphicFrame>
        <p:nvGraphicFramePr>
          <p:cNvPr id="8" name="Tabella 7">
            <a:extLst>
              <a:ext uri="{FF2B5EF4-FFF2-40B4-BE49-F238E27FC236}">
                <a16:creationId xmlns:a16="http://schemas.microsoft.com/office/drawing/2014/main" id="{0590B0E6-20D1-7E8C-8B2A-9E9024217EFC}"/>
              </a:ext>
            </a:extLst>
          </p:cNvPr>
          <p:cNvGraphicFramePr>
            <a:graphicFrameLocks noGrp="1"/>
          </p:cNvGraphicFramePr>
          <p:nvPr>
            <p:extLst>
              <p:ext uri="{D42A27DB-BD31-4B8C-83A1-F6EECF244321}">
                <p14:modId xmlns:p14="http://schemas.microsoft.com/office/powerpoint/2010/main" val="1665364694"/>
              </p:ext>
            </p:extLst>
          </p:nvPr>
        </p:nvGraphicFramePr>
        <p:xfrm>
          <a:off x="5961842" y="1306240"/>
          <a:ext cx="5683151" cy="4245523"/>
        </p:xfrm>
        <a:graphic>
          <a:graphicData uri="http://schemas.openxmlformats.org/drawingml/2006/table">
            <a:tbl>
              <a:tblPr firstRow="1" firstCol="1" bandRow="1"/>
              <a:tblGrid>
                <a:gridCol w="1399351">
                  <a:extLst>
                    <a:ext uri="{9D8B030D-6E8A-4147-A177-3AD203B41FA5}">
                      <a16:colId xmlns:a16="http://schemas.microsoft.com/office/drawing/2014/main" val="2613982857"/>
                    </a:ext>
                  </a:extLst>
                </a:gridCol>
                <a:gridCol w="1124676">
                  <a:extLst>
                    <a:ext uri="{9D8B030D-6E8A-4147-A177-3AD203B41FA5}">
                      <a16:colId xmlns:a16="http://schemas.microsoft.com/office/drawing/2014/main" val="2712131475"/>
                    </a:ext>
                  </a:extLst>
                </a:gridCol>
                <a:gridCol w="1124676">
                  <a:extLst>
                    <a:ext uri="{9D8B030D-6E8A-4147-A177-3AD203B41FA5}">
                      <a16:colId xmlns:a16="http://schemas.microsoft.com/office/drawing/2014/main" val="2494495758"/>
                    </a:ext>
                  </a:extLst>
                </a:gridCol>
                <a:gridCol w="2034448">
                  <a:extLst>
                    <a:ext uri="{9D8B030D-6E8A-4147-A177-3AD203B41FA5}">
                      <a16:colId xmlns:a16="http://schemas.microsoft.com/office/drawing/2014/main" val="3203951342"/>
                    </a:ext>
                  </a:extLst>
                </a:gridCol>
              </a:tblGrid>
              <a:tr h="498401">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Funzione</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Utente non autenticato</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Utente autenticato</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Amministratore(Admin)</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7184783"/>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Registrazione</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2661119"/>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Autenticazione</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7099993"/>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Catalogo</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0643170"/>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Carrello</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6682957"/>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Fare ordini</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1855718"/>
                  </a:ext>
                </a:extLst>
              </a:tr>
              <a:tr h="498401">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Consultare ordini</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0370450"/>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Modifica ordini</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1931256"/>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Area admin</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5411958"/>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Modifica Stock</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777815"/>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Modifica prezzi</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7850914"/>
                  </a:ext>
                </a:extLst>
              </a:tr>
              <a:tr h="275032">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Modifica Ordini</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3685837"/>
                  </a:ext>
                </a:extLst>
              </a:tr>
              <a:tr h="498401">
                <a:tc>
                  <a:txBody>
                    <a:bodyPr/>
                    <a:lstStyle/>
                    <a:p>
                      <a:pPr marL="82296" indent="-9144" algn="l" fontAlgn="t">
                        <a:lnSpc>
                          <a:spcPct val="109000"/>
                        </a:lnSpc>
                        <a:spcAft>
                          <a:spcPts val="20"/>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Modifica prodotti</a:t>
                      </a:r>
                      <a:endParaRPr lang="it-IT" sz="2000" b="0" i="0" u="none" strike="noStrike">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ctr" fontAlgn="t">
                        <a:lnSpc>
                          <a:spcPct val="109000"/>
                        </a:lnSpc>
                        <a:spcAft>
                          <a:spcPts val="20"/>
                        </a:spcAft>
                        <a:buNone/>
                      </a:pPr>
                      <a:r>
                        <a:rPr lang="it-IT" sz="1300" b="0" i="0" u="none" strike="noStrike" kern="100" dirty="0">
                          <a:solidFill>
                            <a:schemeClr val="tx1"/>
                          </a:solidFill>
                          <a:effectLst/>
                          <a:latin typeface="Times New Roman" panose="02020603050405020304" pitchFamily="18" charset="0"/>
                          <a:ea typeface="Times New Roman" panose="02020603050405020304" pitchFamily="18" charset="0"/>
                          <a:cs typeface="Segoe UI Emoji" panose="020B0502040204020203" pitchFamily="34" charset="0"/>
                        </a:rPr>
                        <a:t>✔️</a:t>
                      </a:r>
                      <a:endParaRPr lang="it-IT" sz="2000" b="0" i="0" u="none" strike="noStrike" dirty="0">
                        <a:solidFill>
                          <a:schemeClr val="tx1"/>
                        </a:solidFill>
                        <a:effectLst/>
                        <a:latin typeface="Arial" panose="020B0604020202020204" pitchFamily="34" charset="0"/>
                      </a:endParaRPr>
                    </a:p>
                  </a:txBody>
                  <a:tcPr marL="76852" marR="76852" marT="106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2522000"/>
                  </a:ext>
                </a:extLst>
              </a:tr>
            </a:tbl>
          </a:graphicData>
        </a:graphic>
      </p:graphicFrame>
    </p:spTree>
    <p:extLst>
      <p:ext uri="{BB962C8B-B14F-4D97-AF65-F5344CB8AC3E}">
        <p14:creationId xmlns:p14="http://schemas.microsoft.com/office/powerpoint/2010/main" val="4580075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51871B1-B9B0-B3BA-D84A-75C3BFD730F8}"/>
              </a:ext>
            </a:extLst>
          </p:cNvPr>
          <p:cNvSpPr>
            <a:spLocks noGrp="1"/>
          </p:cNvSpPr>
          <p:nvPr>
            <p:ph type="title"/>
          </p:nvPr>
        </p:nvSpPr>
        <p:spPr/>
        <p:txBody>
          <a:bodyPr/>
          <a:lstStyle/>
          <a:p>
            <a:r>
              <a:rPr lang="it-IT" b="1" dirty="0" err="1"/>
              <a:t>Boundary</a:t>
            </a:r>
            <a:r>
              <a:rPr lang="it-IT" b="1" dirty="0"/>
              <a:t> </a:t>
            </a:r>
            <a:r>
              <a:rPr lang="it-IT" b="1" dirty="0" err="1"/>
              <a:t>Contitions</a:t>
            </a:r>
            <a:r>
              <a:rPr lang="it-IT" b="1" dirty="0"/>
              <a:t> </a:t>
            </a:r>
            <a:br>
              <a:rPr lang="it-IT" b="1" dirty="0"/>
            </a:br>
            <a:endParaRPr lang="it-IT" dirty="0"/>
          </a:p>
        </p:txBody>
      </p:sp>
      <p:sp>
        <p:nvSpPr>
          <p:cNvPr id="3" name="Segnaposto contenuto 2">
            <a:extLst>
              <a:ext uri="{FF2B5EF4-FFF2-40B4-BE49-F238E27FC236}">
                <a16:creationId xmlns:a16="http://schemas.microsoft.com/office/drawing/2014/main" id="{0CA1A24D-463B-CFBF-95DF-A8B5A414353B}"/>
              </a:ext>
            </a:extLst>
          </p:cNvPr>
          <p:cNvSpPr>
            <a:spLocks noGrp="1"/>
          </p:cNvSpPr>
          <p:nvPr>
            <p:ph idx="1"/>
          </p:nvPr>
        </p:nvSpPr>
        <p:spPr/>
        <p:txBody>
          <a:bodyPr/>
          <a:lstStyle/>
          <a:p>
            <a:r>
              <a:rPr lang="it-IT" b="1" dirty="0"/>
              <a:t>Avvio del sistema (</a:t>
            </a:r>
            <a:r>
              <a:rPr lang="it-IT" b="1" dirty="0" err="1"/>
              <a:t>Initialization</a:t>
            </a:r>
            <a:r>
              <a:rPr lang="it-IT" b="1" dirty="0"/>
              <a:t>): </a:t>
            </a:r>
            <a:r>
              <a:rPr lang="it-IT" dirty="0"/>
              <a:t>All'avvio del sistema, il container Apache Tomcat provvede al caricamento e al </a:t>
            </a:r>
            <a:r>
              <a:rPr lang="it-IT" dirty="0" err="1"/>
              <a:t>deploy</a:t>
            </a:r>
            <a:r>
              <a:rPr lang="it-IT" dirty="0"/>
              <a:t> del pacchetto “</a:t>
            </a:r>
            <a:r>
              <a:rPr lang="it-IT" dirty="0" err="1"/>
              <a:t>LaCantina.war</a:t>
            </a:r>
            <a:r>
              <a:rPr lang="it-IT" dirty="0"/>
              <a:t>”. Durante questa fase critica vengono istanziate le risorse necessarie al funzionamento dell'applicazione, inclusa l'inizializzazione del pool di connessioni verso il database e il caricamento in memoria dei parametri di configurazione globali, quali la stringa di connessione JDBC.</a:t>
            </a:r>
          </a:p>
          <a:p>
            <a:endParaRPr lang="it-IT" u="sng" dirty="0"/>
          </a:p>
        </p:txBody>
      </p:sp>
    </p:spTree>
    <p:extLst>
      <p:ext uri="{BB962C8B-B14F-4D97-AF65-F5344CB8AC3E}">
        <p14:creationId xmlns:p14="http://schemas.microsoft.com/office/powerpoint/2010/main" val="26506237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31514F1-16B9-A934-F8A5-15E24D5ECE44}"/>
              </a:ext>
            </a:extLst>
          </p:cNvPr>
          <p:cNvSpPr>
            <a:spLocks noGrp="1"/>
          </p:cNvSpPr>
          <p:nvPr>
            <p:ph type="title"/>
          </p:nvPr>
        </p:nvSpPr>
        <p:spPr>
          <a:xfrm>
            <a:off x="327309" y="1554819"/>
            <a:ext cx="10077557" cy="1325563"/>
          </a:xfrm>
        </p:spPr>
        <p:txBody>
          <a:bodyPr/>
          <a:lstStyle/>
          <a:p>
            <a:r>
              <a:rPr lang="it-IT" b="1" dirty="0" err="1"/>
              <a:t>Boundary</a:t>
            </a:r>
            <a:r>
              <a:rPr lang="it-IT" b="1" dirty="0"/>
              <a:t> </a:t>
            </a:r>
            <a:r>
              <a:rPr lang="it-IT" b="1" dirty="0" err="1"/>
              <a:t>Contitions</a:t>
            </a:r>
            <a:r>
              <a:rPr lang="it-IT" b="1" dirty="0"/>
              <a:t> </a:t>
            </a:r>
            <a:br>
              <a:rPr lang="it-IT" b="1" dirty="0"/>
            </a:br>
            <a:endParaRPr lang="it-IT" dirty="0"/>
          </a:p>
        </p:txBody>
      </p:sp>
      <p:sp>
        <p:nvSpPr>
          <p:cNvPr id="3" name="Segnaposto contenuto 2">
            <a:extLst>
              <a:ext uri="{FF2B5EF4-FFF2-40B4-BE49-F238E27FC236}">
                <a16:creationId xmlns:a16="http://schemas.microsoft.com/office/drawing/2014/main" id="{5199BB2A-B1A9-9D98-FD18-D62B04CD936C}"/>
              </a:ext>
            </a:extLst>
          </p:cNvPr>
          <p:cNvSpPr>
            <a:spLocks noGrp="1"/>
          </p:cNvSpPr>
          <p:nvPr>
            <p:ph idx="1"/>
          </p:nvPr>
        </p:nvSpPr>
        <p:spPr/>
        <p:txBody>
          <a:bodyPr/>
          <a:lstStyle/>
          <a:p>
            <a:r>
              <a:rPr lang="it-IT" b="1" dirty="0"/>
              <a:t>Spegnimento del sistema (</a:t>
            </a:r>
            <a:r>
              <a:rPr lang="it-IT" b="1" dirty="0" err="1"/>
              <a:t>Temination</a:t>
            </a:r>
            <a:r>
              <a:rPr lang="it-IT" b="1" dirty="0"/>
              <a:t>):</a:t>
            </a:r>
            <a:r>
              <a:rPr lang="it-IT" dirty="0"/>
              <a:t> Nella fase di spegnimento, il container arresta l'esecuzione dell'applicazione web avviando le procedure di rilascio delle risorse. Questo processo assicura la chiusura ordinata delle connessioni al database e l'interruzione di eventuali </a:t>
            </a:r>
            <a:r>
              <a:rPr lang="it-IT" dirty="0" err="1"/>
              <a:t>thread</a:t>
            </a:r>
            <a:r>
              <a:rPr lang="it-IT" dirty="0"/>
              <a:t> o processi schedulati, provvedendo contestualmente all'invalidazione immediata di tutte le sessioni utente ancora attive per garantire la sicurezza e la coerenza dei dati. </a:t>
            </a:r>
          </a:p>
          <a:p>
            <a:endParaRPr lang="it-IT" dirty="0"/>
          </a:p>
        </p:txBody>
      </p:sp>
    </p:spTree>
    <p:extLst>
      <p:ext uri="{BB962C8B-B14F-4D97-AF65-F5344CB8AC3E}">
        <p14:creationId xmlns:p14="http://schemas.microsoft.com/office/powerpoint/2010/main" val="28781580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43E33C-F6EE-5F12-E805-18AAE34B5E47}"/>
              </a:ext>
            </a:extLst>
          </p:cNvPr>
          <p:cNvSpPr>
            <a:spLocks noGrp="1"/>
          </p:cNvSpPr>
          <p:nvPr>
            <p:ph type="title"/>
          </p:nvPr>
        </p:nvSpPr>
        <p:spPr>
          <a:xfrm>
            <a:off x="404947" y="1537566"/>
            <a:ext cx="10077557" cy="1325563"/>
          </a:xfrm>
        </p:spPr>
        <p:txBody>
          <a:bodyPr/>
          <a:lstStyle/>
          <a:p>
            <a:r>
              <a:rPr lang="it-IT" b="1" dirty="0" err="1"/>
              <a:t>Boundary</a:t>
            </a:r>
            <a:r>
              <a:rPr lang="it-IT" b="1" dirty="0"/>
              <a:t> </a:t>
            </a:r>
            <a:r>
              <a:rPr lang="it-IT" b="1" dirty="0" err="1"/>
              <a:t>Contitions</a:t>
            </a:r>
            <a:r>
              <a:rPr lang="it-IT" b="1" dirty="0"/>
              <a:t> </a:t>
            </a:r>
            <a:br>
              <a:rPr lang="it-IT" b="1" dirty="0"/>
            </a:br>
            <a:endParaRPr lang="it-IT" dirty="0"/>
          </a:p>
        </p:txBody>
      </p:sp>
      <p:sp>
        <p:nvSpPr>
          <p:cNvPr id="3" name="Segnaposto contenuto 2">
            <a:extLst>
              <a:ext uri="{FF2B5EF4-FFF2-40B4-BE49-F238E27FC236}">
                <a16:creationId xmlns:a16="http://schemas.microsoft.com/office/drawing/2014/main" id="{4830839C-30B3-86DD-08DE-1CA81F01034D}"/>
              </a:ext>
            </a:extLst>
          </p:cNvPr>
          <p:cNvSpPr>
            <a:spLocks noGrp="1"/>
          </p:cNvSpPr>
          <p:nvPr>
            <p:ph idx="1"/>
          </p:nvPr>
        </p:nvSpPr>
        <p:spPr>
          <a:xfrm>
            <a:off x="525717" y="2556391"/>
            <a:ext cx="10077557" cy="3549045"/>
          </a:xfrm>
        </p:spPr>
        <p:txBody>
          <a:bodyPr/>
          <a:lstStyle/>
          <a:p>
            <a:r>
              <a:rPr lang="it-IT" b="1" dirty="0"/>
              <a:t>Gestione errori e </a:t>
            </a:r>
            <a:r>
              <a:rPr lang="it-IT" b="1" dirty="0" err="1"/>
              <a:t>failure</a:t>
            </a:r>
            <a:r>
              <a:rPr lang="it-IT" b="1" dirty="0"/>
              <a:t> (</a:t>
            </a:r>
            <a:r>
              <a:rPr lang="it-IT" b="1" dirty="0" err="1"/>
              <a:t>Failure</a:t>
            </a:r>
            <a:r>
              <a:rPr lang="it-IT" b="1" dirty="0"/>
              <a:t> Handling):</a:t>
            </a:r>
            <a:r>
              <a:rPr lang="it-IT" dirty="0"/>
              <a:t> Il sistema è progettato per intercettare errori applicativi o eccezioni impreviste, registrando i dettagli tecnici nei log del server per finalità diagnostiche. Per preservare l'integrità dei dati, qualora il guasto si verifichi durante un'operazione di persistenza, viene eseguito automaticamente il </a:t>
            </a:r>
            <a:r>
              <a:rPr lang="it-IT" dirty="0" err="1"/>
              <a:t>rollback</a:t>
            </a:r>
            <a:r>
              <a:rPr lang="it-IT" dirty="0"/>
              <a:t> della transazione attiva; parallelamente, all'utente viene mostrato un messaggio di errore generico o una pagina di cortesia, nascondendo i dettagli interni dell'eccezione per motivi di sicurezza e usabilità. </a:t>
            </a:r>
          </a:p>
          <a:p>
            <a:endParaRPr lang="it-IT" dirty="0"/>
          </a:p>
        </p:txBody>
      </p:sp>
    </p:spTree>
    <p:extLst>
      <p:ext uri="{BB962C8B-B14F-4D97-AF65-F5344CB8AC3E}">
        <p14:creationId xmlns:p14="http://schemas.microsoft.com/office/powerpoint/2010/main" val="33399581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12AB0F-AE48-7784-2AB2-E56AC4B79662}"/>
              </a:ext>
            </a:extLst>
          </p:cNvPr>
          <p:cNvSpPr>
            <a:spLocks noGrp="1"/>
          </p:cNvSpPr>
          <p:nvPr>
            <p:ph type="title"/>
          </p:nvPr>
        </p:nvSpPr>
        <p:spPr/>
        <p:txBody>
          <a:bodyPr/>
          <a:lstStyle/>
          <a:p>
            <a:r>
              <a:rPr lang="it-IT" dirty="0"/>
              <a:t>Subsystem services</a:t>
            </a:r>
          </a:p>
        </p:txBody>
      </p:sp>
      <p:sp>
        <p:nvSpPr>
          <p:cNvPr id="3" name="Segnaposto contenuto 2">
            <a:extLst>
              <a:ext uri="{FF2B5EF4-FFF2-40B4-BE49-F238E27FC236}">
                <a16:creationId xmlns:a16="http://schemas.microsoft.com/office/drawing/2014/main" id="{989177BE-4D01-17A2-2D56-E61399CEC818}"/>
              </a:ext>
            </a:extLst>
          </p:cNvPr>
          <p:cNvSpPr>
            <a:spLocks noGrp="1"/>
          </p:cNvSpPr>
          <p:nvPr>
            <p:ph idx="1"/>
          </p:nvPr>
        </p:nvSpPr>
        <p:spPr/>
        <p:txBody>
          <a:bodyPr>
            <a:normAutofit fontScale="92500"/>
          </a:bodyPr>
          <a:lstStyle/>
          <a:p>
            <a:r>
              <a:rPr lang="it-IT" b="1" dirty="0"/>
              <a:t>Servizi del sottosistema </a:t>
            </a:r>
            <a:r>
              <a:rPr lang="it-IT" b="1" dirty="0" err="1"/>
              <a:t>UserManagement</a:t>
            </a:r>
            <a:r>
              <a:rPr lang="it-IT" b="1" dirty="0"/>
              <a:t>: </a:t>
            </a:r>
            <a:r>
              <a:rPr lang="it-IT" dirty="0"/>
              <a:t>Il sottosistema espone le funzionalità essenziali</a:t>
            </a:r>
          </a:p>
          <a:p>
            <a:r>
              <a:rPr lang="it-IT" dirty="0"/>
              <a:t>per la gestione del ciclo di vita dell'identità utente. Il servizio login(email, password) si</a:t>
            </a:r>
          </a:p>
          <a:p>
            <a:r>
              <a:rPr lang="it-IT" dirty="0"/>
              <a:t>occupa dell'autenticazione verificando le credenziali, determinando il ruolo dell'utente</a:t>
            </a:r>
          </a:p>
          <a:p>
            <a:r>
              <a:rPr lang="it-IT" dirty="0"/>
              <a:t>(standard o amministratore) e inizializza la sessione di lavoro. Parallelamente, logout()</a:t>
            </a:r>
          </a:p>
          <a:p>
            <a:r>
              <a:rPr lang="it-IT" dirty="0"/>
              <a:t>gestisce la terminazione sicura della sessione attiva. Per i nuovi utenti, </a:t>
            </a:r>
            <a:r>
              <a:rPr lang="it-IT" dirty="0" err="1"/>
              <a:t>register</a:t>
            </a:r>
            <a:r>
              <a:rPr lang="it-IT" dirty="0"/>
              <a:t>(</a:t>
            </a:r>
            <a:r>
              <a:rPr lang="it-IT" dirty="0" err="1"/>
              <a:t>datiUtente</a:t>
            </a:r>
            <a:r>
              <a:rPr lang="it-IT" dirty="0"/>
              <a:t>)</a:t>
            </a:r>
          </a:p>
          <a:p>
            <a:r>
              <a:rPr lang="it-IT" dirty="0"/>
              <a:t>permette la creazione di un account, validando i dati in ingresso e garantendo l'univocità</a:t>
            </a:r>
          </a:p>
          <a:p>
            <a:r>
              <a:rPr lang="it-IT" dirty="0"/>
              <a:t>dell'email nel sistema.</a:t>
            </a:r>
          </a:p>
          <a:p>
            <a:endParaRPr lang="it-IT" dirty="0"/>
          </a:p>
        </p:txBody>
      </p:sp>
    </p:spTree>
    <p:extLst>
      <p:ext uri="{BB962C8B-B14F-4D97-AF65-F5344CB8AC3E}">
        <p14:creationId xmlns:p14="http://schemas.microsoft.com/office/powerpoint/2010/main" val="480406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FF321F-B5D8-18D6-A91E-D542C621E790}"/>
              </a:ext>
            </a:extLst>
          </p:cNvPr>
          <p:cNvSpPr>
            <a:spLocks noGrp="1"/>
          </p:cNvSpPr>
          <p:nvPr>
            <p:ph type="title"/>
          </p:nvPr>
        </p:nvSpPr>
        <p:spPr/>
        <p:txBody>
          <a:bodyPr/>
          <a:lstStyle/>
          <a:p>
            <a:r>
              <a:rPr lang="it-IT" dirty="0"/>
              <a:t>Subsystem Services</a:t>
            </a:r>
          </a:p>
        </p:txBody>
      </p:sp>
      <p:sp>
        <p:nvSpPr>
          <p:cNvPr id="3" name="Segnaposto contenuto 2">
            <a:extLst>
              <a:ext uri="{FF2B5EF4-FFF2-40B4-BE49-F238E27FC236}">
                <a16:creationId xmlns:a16="http://schemas.microsoft.com/office/drawing/2014/main" id="{C15A8A38-43E1-5125-3EBE-361724A788F6}"/>
              </a:ext>
            </a:extLst>
          </p:cNvPr>
          <p:cNvSpPr>
            <a:spLocks noGrp="1"/>
          </p:cNvSpPr>
          <p:nvPr>
            <p:ph idx="1"/>
          </p:nvPr>
        </p:nvSpPr>
        <p:spPr/>
        <p:txBody>
          <a:bodyPr>
            <a:normAutofit lnSpcReduction="10000"/>
          </a:bodyPr>
          <a:lstStyle/>
          <a:p>
            <a:r>
              <a:rPr lang="it-IT" b="1" dirty="0"/>
              <a:t>Servizi del sottosistema </a:t>
            </a:r>
            <a:r>
              <a:rPr lang="it-IT" b="1" dirty="0" err="1"/>
              <a:t>CatalogManagement</a:t>
            </a:r>
            <a:r>
              <a:rPr lang="it-IT" b="1" dirty="0"/>
              <a:t>:</a:t>
            </a:r>
            <a:r>
              <a:rPr lang="it-IT" dirty="0"/>
              <a:t> Questo sottosistema fornisce l'accesso in lettura alle informazioni sui prodotti. Il metodo </a:t>
            </a:r>
            <a:r>
              <a:rPr lang="it-IT" dirty="0" err="1"/>
              <a:t>getAllProducts</a:t>
            </a:r>
            <a:r>
              <a:rPr lang="it-IT" dirty="0"/>
              <a:t>() restituisce l'elenco completo</a:t>
            </a:r>
          </a:p>
          <a:p>
            <a:r>
              <a:rPr lang="it-IT" dirty="0"/>
              <a:t>degli articoli disponibili per popolare le viste del catalogo, mentre</a:t>
            </a:r>
          </a:p>
          <a:p>
            <a:r>
              <a:rPr lang="it-IT" dirty="0" err="1"/>
              <a:t>getSingleProdotto</a:t>
            </a:r>
            <a:r>
              <a:rPr lang="it-IT" dirty="0"/>
              <a:t>(</a:t>
            </a:r>
            <a:r>
              <a:rPr lang="it-IT" dirty="0" err="1"/>
              <a:t>idProdotto</a:t>
            </a:r>
            <a:r>
              <a:rPr lang="it-IT" dirty="0"/>
              <a:t>) permette di recuperare la scheda dettagliata di un singolo</a:t>
            </a:r>
          </a:p>
          <a:p>
            <a:r>
              <a:rPr lang="it-IT" dirty="0"/>
              <a:t>articolo, includendo informazioni specifiche quali descrizione estesa, prezzo, provenienza,</a:t>
            </a:r>
          </a:p>
          <a:p>
            <a:r>
              <a:rPr lang="it-IT" dirty="0"/>
              <a:t>azienda fornitrice e giacenza attuale.</a:t>
            </a:r>
          </a:p>
          <a:p>
            <a:endParaRPr lang="it-IT" dirty="0"/>
          </a:p>
        </p:txBody>
      </p:sp>
    </p:spTree>
    <p:extLst>
      <p:ext uri="{BB962C8B-B14F-4D97-AF65-F5344CB8AC3E}">
        <p14:creationId xmlns:p14="http://schemas.microsoft.com/office/powerpoint/2010/main" val="1171081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E0B970-EBC7-64C8-5CF7-A4CC41334914}"/>
              </a:ext>
            </a:extLst>
          </p:cNvPr>
          <p:cNvSpPr>
            <a:spLocks noGrp="1"/>
          </p:cNvSpPr>
          <p:nvPr>
            <p:ph type="title"/>
          </p:nvPr>
        </p:nvSpPr>
        <p:spPr/>
        <p:txBody>
          <a:bodyPr/>
          <a:lstStyle/>
          <a:p>
            <a:r>
              <a:rPr lang="it-IT" dirty="0"/>
              <a:t>Subsystem Services</a:t>
            </a:r>
          </a:p>
        </p:txBody>
      </p:sp>
      <p:sp>
        <p:nvSpPr>
          <p:cNvPr id="3" name="Segnaposto contenuto 2">
            <a:extLst>
              <a:ext uri="{FF2B5EF4-FFF2-40B4-BE49-F238E27FC236}">
                <a16:creationId xmlns:a16="http://schemas.microsoft.com/office/drawing/2014/main" id="{FF7BDB16-D73A-28A1-7712-FA267348B2A8}"/>
              </a:ext>
            </a:extLst>
          </p:cNvPr>
          <p:cNvSpPr>
            <a:spLocks noGrp="1"/>
          </p:cNvSpPr>
          <p:nvPr>
            <p:ph idx="1"/>
          </p:nvPr>
        </p:nvSpPr>
        <p:spPr/>
        <p:txBody>
          <a:bodyPr>
            <a:normAutofit fontScale="85000" lnSpcReduction="10000"/>
          </a:bodyPr>
          <a:lstStyle/>
          <a:p>
            <a:r>
              <a:rPr lang="it-IT" b="1" dirty="0"/>
              <a:t>Servizi del sottosistema </a:t>
            </a:r>
            <a:r>
              <a:rPr lang="it-IT" b="1" dirty="0" err="1"/>
              <a:t>OrderManagement</a:t>
            </a:r>
            <a:r>
              <a:rPr lang="it-IT" b="1" dirty="0"/>
              <a:t>: </a:t>
            </a:r>
            <a:r>
              <a:rPr lang="it-IT" dirty="0"/>
              <a:t>Il sottosistema centralizza la logica di</a:t>
            </a:r>
          </a:p>
          <a:p>
            <a:r>
              <a:rPr lang="it-IT" dirty="0"/>
              <a:t>business relativa agli ordini. La funzione principale </a:t>
            </a:r>
            <a:r>
              <a:rPr lang="it-IT" dirty="0" err="1"/>
              <a:t>createOrderFromCart</a:t>
            </a:r>
            <a:r>
              <a:rPr lang="it-IT" dirty="0"/>
              <a:t>(carrello,</a:t>
            </a:r>
          </a:p>
          <a:p>
            <a:r>
              <a:rPr lang="it-IT" dirty="0" err="1"/>
              <a:t>datiSpedizione</a:t>
            </a:r>
            <a:r>
              <a:rPr lang="it-IT" dirty="0"/>
              <a:t>, </a:t>
            </a:r>
            <a:r>
              <a:rPr lang="it-IT" dirty="0" err="1"/>
              <a:t>datiPagamento</a:t>
            </a:r>
            <a:r>
              <a:rPr lang="it-IT" dirty="0"/>
              <a:t>) converte il contenuto del carrello in un ordine persistente,</a:t>
            </a:r>
          </a:p>
          <a:p>
            <a:r>
              <a:rPr lang="it-IT" dirty="0"/>
              <a:t>registrando le righe, aggiornando le giacenze di magazzino e verificando l'esito del</a:t>
            </a:r>
          </a:p>
          <a:p>
            <a:r>
              <a:rPr lang="it-IT" dirty="0"/>
              <a:t>pagamento. Per la consultazione, </a:t>
            </a:r>
            <a:r>
              <a:rPr lang="it-IT" dirty="0" err="1"/>
              <a:t>getOrdersByUser</a:t>
            </a:r>
            <a:r>
              <a:rPr lang="it-IT" dirty="0"/>
              <a:t>(</a:t>
            </a:r>
            <a:r>
              <a:rPr lang="it-IT" dirty="0" err="1"/>
              <a:t>idUtente</a:t>
            </a:r>
            <a:r>
              <a:rPr lang="it-IT" dirty="0"/>
              <a:t>) restituisce lo storico</a:t>
            </a:r>
          </a:p>
          <a:p>
            <a:r>
              <a:rPr lang="it-IT" dirty="0"/>
              <a:t>cronologico degli acquisti di un utente, mentre </a:t>
            </a:r>
            <a:r>
              <a:rPr lang="it-IT" dirty="0" err="1"/>
              <a:t>updateOrderStatus</a:t>
            </a:r>
            <a:r>
              <a:rPr lang="it-IT" dirty="0"/>
              <a:t>(</a:t>
            </a:r>
            <a:r>
              <a:rPr lang="it-IT" dirty="0" err="1"/>
              <a:t>idOrdine</a:t>
            </a:r>
            <a:r>
              <a:rPr lang="it-IT" dirty="0"/>
              <a:t>, </a:t>
            </a:r>
            <a:r>
              <a:rPr lang="it-IT" dirty="0" err="1"/>
              <a:t>nuovoStato</a:t>
            </a:r>
            <a:r>
              <a:rPr lang="it-IT" dirty="0"/>
              <a:t>)</a:t>
            </a:r>
          </a:p>
          <a:p>
            <a:r>
              <a:rPr lang="it-IT" dirty="0"/>
              <a:t>fornisce all'amministratore lo strumento per tracciare l'avanzamento dell'ordine (es. passaggio</a:t>
            </a:r>
          </a:p>
          <a:p>
            <a:r>
              <a:rPr lang="it-IT" dirty="0"/>
              <a:t>a "spedito").</a:t>
            </a:r>
          </a:p>
          <a:p>
            <a:endParaRPr lang="it-IT" dirty="0"/>
          </a:p>
        </p:txBody>
      </p:sp>
    </p:spTree>
    <p:extLst>
      <p:ext uri="{BB962C8B-B14F-4D97-AF65-F5344CB8AC3E}">
        <p14:creationId xmlns:p14="http://schemas.microsoft.com/office/powerpoint/2010/main" val="408645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EE954B-3679-4AA5-95D8-23F072847AF9}"/>
              </a:ext>
            </a:extLst>
          </p:cNvPr>
          <p:cNvSpPr>
            <a:spLocks noGrp="1"/>
          </p:cNvSpPr>
          <p:nvPr>
            <p:ph type="title"/>
          </p:nvPr>
        </p:nvSpPr>
        <p:spPr/>
        <p:txBody>
          <a:bodyPr/>
          <a:lstStyle/>
          <a:p>
            <a:r>
              <a:rPr lang="it-IT" dirty="0"/>
              <a:t>Subsystem Services</a:t>
            </a:r>
          </a:p>
        </p:txBody>
      </p:sp>
      <p:sp>
        <p:nvSpPr>
          <p:cNvPr id="3" name="Segnaposto contenuto 2">
            <a:extLst>
              <a:ext uri="{FF2B5EF4-FFF2-40B4-BE49-F238E27FC236}">
                <a16:creationId xmlns:a16="http://schemas.microsoft.com/office/drawing/2014/main" id="{FCFFAABF-F220-0CC1-85FE-F626D367DC0B}"/>
              </a:ext>
            </a:extLst>
          </p:cNvPr>
          <p:cNvSpPr>
            <a:spLocks noGrp="1"/>
          </p:cNvSpPr>
          <p:nvPr>
            <p:ph idx="1"/>
          </p:nvPr>
        </p:nvSpPr>
        <p:spPr/>
        <p:txBody>
          <a:bodyPr>
            <a:normAutofit lnSpcReduction="10000"/>
          </a:bodyPr>
          <a:lstStyle/>
          <a:p>
            <a:r>
              <a:rPr lang="it-IT" dirty="0"/>
              <a:t>l sottosistema </a:t>
            </a:r>
            <a:r>
              <a:rPr lang="it-IT" b="1" dirty="0" err="1"/>
              <a:t>OrderManagement</a:t>
            </a:r>
            <a:r>
              <a:rPr lang="it-IT" dirty="0"/>
              <a:t> centralizza la logica di business relativa alla gestione degli ordini e del carrello. In particolare, consente la creazione di un ordine a partire dal carrello, occupandosi della registrazione delle righe d’ordine, dell’aggiornamento delle giacenze di magazzino e della verifica dell’esito del pagamento. Inoltre, permette la consultazione dello storico degli ordini di un utente e la modifica dello stato di un ordine da parte dell’amministratore, al fine di monitorarne l’avanzamento. Tale sottosistema include anche la gestione del carrello acquisti, mantenuto come stato transitorio in sessione. Attraverso apposite operazioni è possibile aggiungere prodotti, aggiornare le quantità nel rispetto della disponibilità di magazzino, rimuovere articoli e svuotare completamente il carrello, tipicamente dopo la conferma di un ordine.</a:t>
            </a:r>
          </a:p>
          <a:p>
            <a:endParaRPr lang="it-IT" dirty="0"/>
          </a:p>
        </p:txBody>
      </p:sp>
    </p:spTree>
    <p:extLst>
      <p:ext uri="{BB962C8B-B14F-4D97-AF65-F5344CB8AC3E}">
        <p14:creationId xmlns:p14="http://schemas.microsoft.com/office/powerpoint/2010/main" val="8582491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40990-7176-4218-B9C5-882E00637DD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A9371A5-2589-A7FB-3C38-ADB45333DAEA}"/>
              </a:ext>
            </a:extLst>
          </p:cNvPr>
          <p:cNvSpPr>
            <a:spLocks noGrp="1"/>
          </p:cNvSpPr>
          <p:nvPr>
            <p:ph type="title"/>
          </p:nvPr>
        </p:nvSpPr>
        <p:spPr>
          <a:xfrm>
            <a:off x="530352" y="1122363"/>
            <a:ext cx="4887206" cy="1978346"/>
          </a:xfrm>
        </p:spPr>
        <p:txBody>
          <a:bodyPr vert="horz" lIns="91440" tIns="45720" rIns="91440" bIns="45720" rtlCol="0" anchor="b">
            <a:normAutofit/>
          </a:bodyPr>
          <a:lstStyle/>
          <a:p>
            <a:r>
              <a:rPr lang="en-US" sz="4000" dirty="0"/>
              <a:t>Object Design Document</a:t>
            </a:r>
          </a:p>
        </p:txBody>
      </p:sp>
      <p:pic>
        <p:nvPicPr>
          <p:cNvPr id="5" name="Segnaposto contenuto 4" descr="Immagine che contiene testo, poster, bottiglia, illustrazione&#10;&#10;Il contenuto generato dall'IA potrebbe non essere corretto.">
            <a:extLst>
              <a:ext uri="{FF2B5EF4-FFF2-40B4-BE49-F238E27FC236}">
                <a16:creationId xmlns:a16="http://schemas.microsoft.com/office/drawing/2014/main" id="{2BFEB69B-D214-C649-9A54-ADD5C8A056F7}"/>
              </a:ext>
            </a:extLst>
          </p:cNvPr>
          <p:cNvPicPr>
            <a:picLocks noGrp="1" noChangeAspect="1"/>
          </p:cNvPicPr>
          <p:nvPr>
            <p:ph idx="1"/>
          </p:nvPr>
        </p:nvPicPr>
        <p:blipFill>
          <a:blip r:embed="rId2"/>
          <a:stretch>
            <a:fillRect/>
          </a:stretch>
        </p:blipFill>
        <p:spPr>
          <a:xfrm>
            <a:off x="5970782" y="589788"/>
            <a:ext cx="5678424" cy="5678424"/>
          </a:xfrm>
          <a:prstGeom prst="rect">
            <a:avLst/>
          </a:prstGeom>
        </p:spPr>
      </p:pic>
    </p:spTree>
    <p:extLst>
      <p:ext uri="{BB962C8B-B14F-4D97-AF65-F5344CB8AC3E}">
        <p14:creationId xmlns:p14="http://schemas.microsoft.com/office/powerpoint/2010/main" val="16047367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7A014C-4E0D-6412-BBDE-1BB93BB88ED0}"/>
              </a:ext>
            </a:extLst>
          </p:cNvPr>
          <p:cNvSpPr>
            <a:spLocks noGrp="1"/>
          </p:cNvSpPr>
          <p:nvPr>
            <p:ph type="title"/>
          </p:nvPr>
        </p:nvSpPr>
        <p:spPr>
          <a:xfrm>
            <a:off x="525717" y="696952"/>
            <a:ext cx="10077196" cy="821794"/>
          </a:xfrm>
        </p:spPr>
        <p:txBody>
          <a:bodyPr>
            <a:normAutofit/>
          </a:bodyPr>
          <a:lstStyle/>
          <a:p>
            <a:r>
              <a:rPr lang="it-IT"/>
              <a:t>Objcet</a:t>
            </a:r>
            <a:r>
              <a:rPr lang="it-IT" dirty="0"/>
              <a:t> </a:t>
            </a:r>
            <a:r>
              <a:rPr lang="it-IT"/>
              <a:t>Deisgn</a:t>
            </a:r>
            <a:r>
              <a:rPr lang="it-IT" dirty="0"/>
              <a:t> Trade-</a:t>
            </a:r>
            <a:r>
              <a:rPr lang="it-IT"/>
              <a:t>offs</a:t>
            </a:r>
            <a:endParaRPr lang="it-IT" dirty="0"/>
          </a:p>
        </p:txBody>
      </p:sp>
      <p:graphicFrame>
        <p:nvGraphicFramePr>
          <p:cNvPr id="5" name="Segnaposto contenuto 2">
            <a:extLst>
              <a:ext uri="{FF2B5EF4-FFF2-40B4-BE49-F238E27FC236}">
                <a16:creationId xmlns:a16="http://schemas.microsoft.com/office/drawing/2014/main" id="{904773FC-62EB-6EBF-014C-66FBCEDB316E}"/>
              </a:ext>
            </a:extLst>
          </p:cNvPr>
          <p:cNvGraphicFramePr>
            <a:graphicFrameLocks noGrp="1"/>
          </p:cNvGraphicFramePr>
          <p:nvPr>
            <p:ph idx="1"/>
            <p:extLst>
              <p:ext uri="{D42A27DB-BD31-4B8C-83A1-F6EECF244321}">
                <p14:modId xmlns:p14="http://schemas.microsoft.com/office/powerpoint/2010/main" val="3634901250"/>
              </p:ext>
            </p:extLst>
          </p:nvPr>
        </p:nvGraphicFramePr>
        <p:xfrm>
          <a:off x="525462" y="1804163"/>
          <a:ext cx="11004385" cy="4407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09650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7D7F47-A106-C8ED-EE2C-9F3715EB7C20}"/>
              </a:ext>
            </a:extLst>
          </p:cNvPr>
          <p:cNvSpPr>
            <a:spLocks noGrp="1"/>
          </p:cNvSpPr>
          <p:nvPr>
            <p:ph type="title"/>
          </p:nvPr>
        </p:nvSpPr>
        <p:spPr>
          <a:xfrm>
            <a:off x="525717" y="787068"/>
            <a:ext cx="7602283" cy="1455091"/>
          </a:xfrm>
        </p:spPr>
        <p:txBody>
          <a:bodyPr>
            <a:normAutofit/>
          </a:bodyPr>
          <a:lstStyle/>
          <a:p>
            <a:r>
              <a:rPr lang="it-IT"/>
              <a:t>Interface documentation guidelines</a:t>
            </a:r>
            <a:endParaRPr lang="it-IT" dirty="0"/>
          </a:p>
        </p:txBody>
      </p:sp>
      <p:sp>
        <p:nvSpPr>
          <p:cNvPr id="47" name="Segnaposto contenuto 2">
            <a:extLst>
              <a:ext uri="{FF2B5EF4-FFF2-40B4-BE49-F238E27FC236}">
                <a16:creationId xmlns:a16="http://schemas.microsoft.com/office/drawing/2014/main" id="{AB91FC18-C7F5-B9D0-530C-2D5334C67D20}"/>
              </a:ext>
            </a:extLst>
          </p:cNvPr>
          <p:cNvSpPr>
            <a:spLocks noGrp="1"/>
          </p:cNvSpPr>
          <p:nvPr>
            <p:ph idx="1"/>
          </p:nvPr>
        </p:nvSpPr>
        <p:spPr>
          <a:xfrm>
            <a:off x="525717" y="2796427"/>
            <a:ext cx="7602283" cy="3274503"/>
          </a:xfrm>
        </p:spPr>
        <p:txBody>
          <a:bodyPr>
            <a:normAutofit/>
          </a:bodyPr>
          <a:lstStyle/>
          <a:p>
            <a:pPr>
              <a:lnSpc>
                <a:spcPct val="100000"/>
              </a:lnSpc>
            </a:pPr>
            <a:r>
              <a:rPr lang="it-IT" sz="1400"/>
              <a:t>Per garantire uniformità e coerenza tra i moduli sviluppati dai diversi membri del team, sono state definite precise </a:t>
            </a:r>
            <a:r>
              <a:rPr lang="it-IT" sz="1400" b="1"/>
              <a:t>linee guida per la documentazione delle interfacce e la codifica</a:t>
            </a:r>
            <a:r>
              <a:rPr lang="it-IT" sz="1400"/>
              <a:t>. In particolare, è stata adottata una nomenclatura standard per le classi, denominate con sostantivi al singolare in stile </a:t>
            </a:r>
            <a:r>
              <a:rPr lang="it-IT" sz="1400" i="1"/>
              <a:t>PascalCase</a:t>
            </a:r>
            <a:r>
              <a:rPr lang="it-IT" sz="1400"/>
              <a:t> e in lingua italiana, e per i metodi, espressi tramite verbi in </a:t>
            </a:r>
            <a:r>
              <a:rPr lang="it-IT" sz="1400" i="1"/>
              <a:t>camelCase</a:t>
            </a:r>
            <a:r>
              <a:rPr lang="it-IT" sz="1400"/>
              <a:t>, con convenzioni specifiche per DAO (ProdottoDAO, UtenteDao) e Controller (LoginServlet, LogoutServlet).</a:t>
            </a:r>
          </a:p>
          <a:p>
            <a:pPr>
              <a:lnSpc>
                <a:spcPct val="100000"/>
              </a:lnSpc>
            </a:pPr>
            <a:endParaRPr lang="it-IT" sz="1400"/>
          </a:p>
          <a:p>
            <a:pPr>
              <a:lnSpc>
                <a:spcPct val="100000"/>
              </a:lnSpc>
            </a:pPr>
            <a:r>
              <a:rPr lang="it-IT" sz="1400"/>
              <a:t>La gestione degli errori è affidata all’uso di </a:t>
            </a:r>
            <a:r>
              <a:rPr lang="it-IT" sz="1400" b="1"/>
              <a:t>eccezioni</a:t>
            </a:r>
            <a:r>
              <a:rPr lang="it-IT" sz="1400"/>
              <a:t>, evitando il ritorno di codici numerici, e incapsulando le eccezioni SQL in eccezioni applicative per non esporre dettagli interni del database. Inoltre, i metodi che restituiscono collezioni garantiscono sempre il ritorno di una lista, anche vuota, al fine di prevenire errori di tipo </a:t>
            </a:r>
            <a:r>
              <a:rPr lang="it-IT" sz="1400" i="1"/>
              <a:t>NullPointerException</a:t>
            </a:r>
            <a:r>
              <a:rPr lang="it-IT" sz="1400"/>
              <a:t>. Infine, è stata imposta la </a:t>
            </a:r>
            <a:r>
              <a:rPr lang="it-IT" sz="1400" b="1"/>
              <a:t>visibilità privata degli attributi</a:t>
            </a:r>
            <a:r>
              <a:rPr lang="it-IT" sz="1400"/>
              <a:t> delle classi entity, consentendo l’accesso ai dati esclusivamente tramite metodi getter e setter pubblici.</a:t>
            </a:r>
          </a:p>
          <a:p>
            <a:pPr>
              <a:lnSpc>
                <a:spcPct val="100000"/>
              </a:lnSpc>
            </a:pPr>
            <a:endParaRPr lang="it-IT" sz="1400"/>
          </a:p>
        </p:txBody>
      </p:sp>
    </p:spTree>
    <p:extLst>
      <p:ext uri="{BB962C8B-B14F-4D97-AF65-F5344CB8AC3E}">
        <p14:creationId xmlns:p14="http://schemas.microsoft.com/office/powerpoint/2010/main" val="32973083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Vista aerea di una mappa">
            <a:extLst>
              <a:ext uri="{FF2B5EF4-FFF2-40B4-BE49-F238E27FC236}">
                <a16:creationId xmlns:a16="http://schemas.microsoft.com/office/drawing/2014/main" id="{72099CB0-DA6C-A0F8-09A9-904B6AB67958}"/>
              </a:ext>
            </a:extLst>
          </p:cNvPr>
          <p:cNvPicPr>
            <a:picLocks noChangeAspect="1"/>
          </p:cNvPicPr>
          <p:nvPr/>
        </p:nvPicPr>
        <p:blipFill>
          <a:blip r:embed="rId2">
            <a:alphaModFix amt="40000"/>
          </a:blip>
          <a:srcRect t="1291" r="-1" b="-1"/>
          <a:stretch>
            <a:fillRect/>
          </a:stretch>
        </p:blipFill>
        <p:spPr>
          <a:xfrm>
            <a:off x="20" y="10"/>
            <a:ext cx="12188932" cy="6857990"/>
          </a:xfrm>
          <a:prstGeom prst="rect">
            <a:avLst/>
          </a:prstGeom>
        </p:spPr>
      </p:pic>
      <p:sp>
        <p:nvSpPr>
          <p:cNvPr id="2" name="Titolo 1">
            <a:extLst>
              <a:ext uri="{FF2B5EF4-FFF2-40B4-BE49-F238E27FC236}">
                <a16:creationId xmlns:a16="http://schemas.microsoft.com/office/drawing/2014/main" id="{5365F2ED-EB9F-8124-8C49-DCDA85371BA7}"/>
              </a:ext>
            </a:extLst>
          </p:cNvPr>
          <p:cNvSpPr>
            <a:spLocks noGrp="1"/>
          </p:cNvSpPr>
          <p:nvPr>
            <p:ph type="title"/>
          </p:nvPr>
        </p:nvSpPr>
        <p:spPr>
          <a:xfrm>
            <a:off x="1549238" y="1145080"/>
            <a:ext cx="9090476" cy="2179601"/>
          </a:xfrm>
        </p:spPr>
        <p:txBody>
          <a:bodyPr vert="horz" lIns="91440" tIns="45720" rIns="91440" bIns="45720" rtlCol="0" anchor="b">
            <a:normAutofit/>
          </a:bodyPr>
          <a:lstStyle/>
          <a:p>
            <a:pPr algn="ctr"/>
            <a:r>
              <a:rPr lang="en-US" sz="4000">
                <a:solidFill>
                  <a:srgbClr val="FFFFFF"/>
                </a:solidFill>
              </a:rPr>
              <a:t>Suddivisione in package Java</a:t>
            </a:r>
          </a:p>
        </p:txBody>
      </p:sp>
    </p:spTree>
    <p:extLst>
      <p:ext uri="{BB962C8B-B14F-4D97-AF65-F5344CB8AC3E}">
        <p14:creationId xmlns:p14="http://schemas.microsoft.com/office/powerpoint/2010/main" val="37129560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99266C-AFE2-BD4A-224A-F3A970009D7E}"/>
              </a:ext>
            </a:extLst>
          </p:cNvPr>
          <p:cNvSpPr>
            <a:spLocks noGrp="1"/>
          </p:cNvSpPr>
          <p:nvPr>
            <p:ph type="title"/>
          </p:nvPr>
        </p:nvSpPr>
        <p:spPr/>
        <p:txBody>
          <a:bodyPr/>
          <a:lstStyle/>
          <a:p>
            <a:r>
              <a:rPr lang="it-IT" b="1" dirty="0" err="1"/>
              <a:t>it.unisa.lacantina.model.domain</a:t>
            </a:r>
            <a:endParaRPr lang="it-IT" dirty="0"/>
          </a:p>
        </p:txBody>
      </p:sp>
      <p:sp>
        <p:nvSpPr>
          <p:cNvPr id="3" name="Segnaposto contenuto 2">
            <a:extLst>
              <a:ext uri="{FF2B5EF4-FFF2-40B4-BE49-F238E27FC236}">
                <a16:creationId xmlns:a16="http://schemas.microsoft.com/office/drawing/2014/main" id="{6E8159D7-1D29-5B67-53CA-8C6366DBB369}"/>
              </a:ext>
            </a:extLst>
          </p:cNvPr>
          <p:cNvSpPr>
            <a:spLocks noGrp="1"/>
          </p:cNvSpPr>
          <p:nvPr>
            <p:ph idx="1"/>
          </p:nvPr>
        </p:nvSpPr>
        <p:spPr/>
        <p:txBody>
          <a:bodyPr/>
          <a:lstStyle/>
          <a:p>
            <a:r>
              <a:rPr lang="it-IT" dirty="0"/>
              <a:t>Questo package contiene le </a:t>
            </a:r>
            <a:r>
              <a:rPr lang="it-IT" b="1" dirty="0"/>
              <a:t>classi del dominio applicativo</a:t>
            </a:r>
            <a:r>
              <a:rPr lang="it-IT" dirty="0"/>
              <a:t>, che rappresentano le entità fondamentali del sistema. Tali classi modellano i dati persistenti presenti nel database e, nel caso del carrello, i dati temporanei memorizzati nella sessione utente. Esse non includono logica di business complessa, ma esclusivamente attributi e metodi di accesso ai dati (getter e setter).</a:t>
            </a:r>
          </a:p>
          <a:p>
            <a:endParaRPr lang="it-IT" dirty="0"/>
          </a:p>
        </p:txBody>
      </p:sp>
    </p:spTree>
    <p:extLst>
      <p:ext uri="{BB962C8B-B14F-4D97-AF65-F5344CB8AC3E}">
        <p14:creationId xmlns:p14="http://schemas.microsoft.com/office/powerpoint/2010/main" val="29341212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E24084E-AAC7-6B25-9511-2E122F564AFD}"/>
              </a:ext>
            </a:extLst>
          </p:cNvPr>
          <p:cNvSpPr>
            <a:spLocks noGrp="1"/>
          </p:cNvSpPr>
          <p:nvPr>
            <p:ph type="title"/>
          </p:nvPr>
        </p:nvSpPr>
        <p:spPr/>
        <p:txBody>
          <a:bodyPr/>
          <a:lstStyle/>
          <a:p>
            <a:r>
              <a:rPr lang="it-IT" b="1" dirty="0" err="1"/>
              <a:t>it.unisa.lacantina.model.dao</a:t>
            </a:r>
            <a:endParaRPr lang="it-IT" dirty="0"/>
          </a:p>
        </p:txBody>
      </p:sp>
      <p:sp>
        <p:nvSpPr>
          <p:cNvPr id="3" name="Segnaposto contenuto 2">
            <a:extLst>
              <a:ext uri="{FF2B5EF4-FFF2-40B4-BE49-F238E27FC236}">
                <a16:creationId xmlns:a16="http://schemas.microsoft.com/office/drawing/2014/main" id="{79E14C26-7CA8-F281-65B4-D83F44F138D7}"/>
              </a:ext>
            </a:extLst>
          </p:cNvPr>
          <p:cNvSpPr>
            <a:spLocks noGrp="1"/>
          </p:cNvSpPr>
          <p:nvPr>
            <p:ph idx="1"/>
          </p:nvPr>
        </p:nvSpPr>
        <p:spPr/>
        <p:txBody>
          <a:bodyPr/>
          <a:lstStyle/>
          <a:p>
            <a:r>
              <a:rPr lang="it-IT" dirty="0"/>
              <a:t>Il package raccoglie le classi che implementano il </a:t>
            </a:r>
            <a:r>
              <a:rPr lang="it-IT" b="1" dirty="0"/>
              <a:t>pattern DAO (Data Access Object)</a:t>
            </a:r>
            <a:r>
              <a:rPr lang="it-IT" dirty="0"/>
              <a:t> ed è responsabile dell’accesso ai dati persistenti. Le classi presenti gestiscono la comunicazione diretta con il DBMS MySQL tramite JDBC, occupandosi dell’esecuzione delle query e della mappatura tra dati del database e oggetti di dominio.</a:t>
            </a:r>
          </a:p>
          <a:p>
            <a:endParaRPr lang="it-IT" dirty="0"/>
          </a:p>
        </p:txBody>
      </p:sp>
    </p:spTree>
    <p:extLst>
      <p:ext uri="{BB962C8B-B14F-4D97-AF65-F5344CB8AC3E}">
        <p14:creationId xmlns:p14="http://schemas.microsoft.com/office/powerpoint/2010/main" val="7985950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EF8C8F93-1CCE-2DA0-6673-3CE55329AEEB}"/>
              </a:ext>
            </a:extLst>
          </p:cNvPr>
          <p:cNvSpPr>
            <a:spLocks noGrp="1"/>
          </p:cNvSpPr>
          <p:nvPr>
            <p:ph type="title"/>
          </p:nvPr>
        </p:nvSpPr>
        <p:spPr>
          <a:xfrm>
            <a:off x="525717" y="787068"/>
            <a:ext cx="5566263" cy="1455091"/>
          </a:xfrm>
        </p:spPr>
        <p:txBody>
          <a:bodyPr>
            <a:normAutofit/>
          </a:bodyPr>
          <a:lstStyle/>
          <a:p>
            <a:r>
              <a:rPr lang="it-IT" sz="2500" b="1"/>
              <a:t>it.unisa.lacantina.model.service</a:t>
            </a:r>
            <a:endParaRPr lang="it-IT" sz="2500"/>
          </a:p>
        </p:txBody>
      </p:sp>
      <p:sp>
        <p:nvSpPr>
          <p:cNvPr id="11" name="Freeform: Shape 10">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4"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5"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6"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7"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8"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Segnaposto contenuto 2">
            <a:extLst>
              <a:ext uri="{FF2B5EF4-FFF2-40B4-BE49-F238E27FC236}">
                <a16:creationId xmlns:a16="http://schemas.microsoft.com/office/drawing/2014/main" id="{B083DC5A-79FB-3E14-ACF4-524AE52892AF}"/>
              </a:ext>
            </a:extLst>
          </p:cNvPr>
          <p:cNvSpPr>
            <a:spLocks noGrp="1"/>
          </p:cNvSpPr>
          <p:nvPr>
            <p:ph idx="1"/>
          </p:nvPr>
        </p:nvSpPr>
        <p:spPr>
          <a:xfrm>
            <a:off x="525717" y="2796427"/>
            <a:ext cx="5566263" cy="3274503"/>
          </a:xfrm>
        </p:spPr>
        <p:txBody>
          <a:bodyPr>
            <a:normAutofit/>
          </a:bodyPr>
          <a:lstStyle/>
          <a:p>
            <a:r>
              <a:rPr lang="it-IT" dirty="0"/>
              <a:t>Questo package contiene i </a:t>
            </a:r>
            <a:r>
              <a:rPr lang="it-IT" b="1" dirty="0"/>
              <a:t>service applicativi</a:t>
            </a:r>
            <a:r>
              <a:rPr lang="it-IT" dirty="0"/>
              <a:t>, in particolare il servizio dedicato alla gestione del carrello. Le classi presenti implementano la logica operativa necessaria a manipolare il carrello acquisti, che viene mantenuto come oggetto di sessione e non persistito direttamente nel database.</a:t>
            </a:r>
          </a:p>
          <a:p>
            <a:endParaRPr lang="it-IT" dirty="0"/>
          </a:p>
        </p:txBody>
      </p:sp>
      <p:pic>
        <p:nvPicPr>
          <p:cNvPr id="5" name="Picture 4" descr="Carrello acquisti con pacchetti">
            <a:extLst>
              <a:ext uri="{FF2B5EF4-FFF2-40B4-BE49-F238E27FC236}">
                <a16:creationId xmlns:a16="http://schemas.microsoft.com/office/drawing/2014/main" id="{679D77DC-DC12-79BC-6236-2D1859CB60CF}"/>
              </a:ext>
            </a:extLst>
          </p:cNvPr>
          <p:cNvPicPr>
            <a:picLocks noChangeAspect="1"/>
          </p:cNvPicPr>
          <p:nvPr/>
        </p:nvPicPr>
        <p:blipFill>
          <a:blip r:embed="rId2"/>
          <a:srcRect l="33636" r="11271" b="-1"/>
          <a:stretch>
            <a:fillRect/>
          </a:stretch>
        </p:blipFill>
        <p:spPr>
          <a:xfrm>
            <a:off x="6531789" y="10"/>
            <a:ext cx="5660211" cy="6857990"/>
          </a:xfrm>
          <a:prstGeom prst="rect">
            <a:avLst/>
          </a:prstGeom>
        </p:spPr>
      </p:pic>
      <p:sp>
        <p:nvSpPr>
          <p:cNvPr id="21" name="Freeform: Shape 20">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4" name="Freeform: Shape 23">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6" name="Freeform: Shape 25">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9"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3550698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523897-E4C3-3C0B-CF0B-5D0F64CADAD1}"/>
              </a:ext>
            </a:extLst>
          </p:cNvPr>
          <p:cNvSpPr>
            <a:spLocks noGrp="1"/>
          </p:cNvSpPr>
          <p:nvPr>
            <p:ph type="title"/>
          </p:nvPr>
        </p:nvSpPr>
        <p:spPr/>
        <p:txBody>
          <a:bodyPr/>
          <a:lstStyle/>
          <a:p>
            <a:r>
              <a:rPr lang="it-IT" b="1" dirty="0" err="1"/>
              <a:t>it.unisa.lacantina.controller</a:t>
            </a:r>
            <a:endParaRPr lang="it-IT" dirty="0"/>
          </a:p>
        </p:txBody>
      </p:sp>
      <p:sp>
        <p:nvSpPr>
          <p:cNvPr id="3" name="Segnaposto contenuto 2">
            <a:extLst>
              <a:ext uri="{FF2B5EF4-FFF2-40B4-BE49-F238E27FC236}">
                <a16:creationId xmlns:a16="http://schemas.microsoft.com/office/drawing/2014/main" id="{770F48DC-E9D2-60AE-E121-3E3D1530268E}"/>
              </a:ext>
            </a:extLst>
          </p:cNvPr>
          <p:cNvSpPr>
            <a:spLocks noGrp="1"/>
          </p:cNvSpPr>
          <p:nvPr>
            <p:ph idx="1"/>
          </p:nvPr>
        </p:nvSpPr>
        <p:spPr/>
        <p:txBody>
          <a:bodyPr/>
          <a:lstStyle/>
          <a:p>
            <a:r>
              <a:rPr lang="it-IT" dirty="0"/>
              <a:t>Il package controller include le </a:t>
            </a:r>
            <a:r>
              <a:rPr lang="it-IT" b="1" dirty="0" err="1"/>
              <a:t>Servlet</a:t>
            </a:r>
            <a:r>
              <a:rPr lang="it-IT" dirty="0"/>
              <a:t> che svolgono il ruolo di </a:t>
            </a:r>
            <a:r>
              <a:rPr lang="it-IT" b="1" dirty="0"/>
              <a:t>Controller</a:t>
            </a:r>
            <a:r>
              <a:rPr lang="it-IT" dirty="0"/>
              <a:t> nel pattern MVC. Esse ricevono le richieste provenienti dalle pagine JSP, elaborano gli input dell’utente, interagiscono con i DAO e i service, e determinano la risposta da restituire all’utente, gestendo il flusso applicativo dell’e-commerce.</a:t>
            </a:r>
          </a:p>
          <a:p>
            <a:endParaRPr lang="it-IT" dirty="0"/>
          </a:p>
        </p:txBody>
      </p:sp>
    </p:spTree>
    <p:extLst>
      <p:ext uri="{BB962C8B-B14F-4D97-AF65-F5344CB8AC3E}">
        <p14:creationId xmlns:p14="http://schemas.microsoft.com/office/powerpoint/2010/main" val="19027599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D35251-E772-8AC0-4362-F02192A12EA4}"/>
              </a:ext>
            </a:extLst>
          </p:cNvPr>
          <p:cNvSpPr>
            <a:spLocks noGrp="1"/>
          </p:cNvSpPr>
          <p:nvPr>
            <p:ph type="title"/>
          </p:nvPr>
        </p:nvSpPr>
        <p:spPr/>
        <p:txBody>
          <a:bodyPr/>
          <a:lstStyle/>
          <a:p>
            <a:r>
              <a:rPr lang="it-IT" b="1" dirty="0" err="1"/>
              <a:t>it.unisa.lacantina.util</a:t>
            </a:r>
            <a:endParaRPr lang="it-IT" dirty="0"/>
          </a:p>
        </p:txBody>
      </p:sp>
      <p:sp>
        <p:nvSpPr>
          <p:cNvPr id="3" name="Segnaposto contenuto 2">
            <a:extLst>
              <a:ext uri="{FF2B5EF4-FFF2-40B4-BE49-F238E27FC236}">
                <a16:creationId xmlns:a16="http://schemas.microsoft.com/office/drawing/2014/main" id="{69815A47-1997-94EE-1DC4-618738C7BED4}"/>
              </a:ext>
            </a:extLst>
          </p:cNvPr>
          <p:cNvSpPr>
            <a:spLocks noGrp="1"/>
          </p:cNvSpPr>
          <p:nvPr>
            <p:ph idx="1"/>
          </p:nvPr>
        </p:nvSpPr>
        <p:spPr/>
        <p:txBody>
          <a:bodyPr/>
          <a:lstStyle/>
          <a:p>
            <a:r>
              <a:rPr lang="it-IT" dirty="0"/>
              <a:t>Questo package contiene classi di </a:t>
            </a:r>
            <a:r>
              <a:rPr lang="it-IT" b="1" dirty="0"/>
              <a:t>supporto e utilità</a:t>
            </a:r>
            <a:r>
              <a:rPr lang="it-IT" dirty="0"/>
              <a:t>, tra cui il componente responsabile della connessione al database. In particolare, fornisce i metodi per stabilire la connessione al DBMS tramite JDBC, centralizzando la configurazione dei parametri di accesso.</a:t>
            </a:r>
          </a:p>
          <a:p>
            <a:endParaRPr lang="it-IT" dirty="0"/>
          </a:p>
        </p:txBody>
      </p:sp>
    </p:spTree>
    <p:extLst>
      <p:ext uri="{BB962C8B-B14F-4D97-AF65-F5344CB8AC3E}">
        <p14:creationId xmlns:p14="http://schemas.microsoft.com/office/powerpoint/2010/main" val="718404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08637F-5AE8-B1F0-5B7F-90DC4FC098EC}"/>
              </a:ext>
            </a:extLst>
          </p:cNvPr>
          <p:cNvSpPr>
            <a:spLocks noGrp="1"/>
          </p:cNvSpPr>
          <p:nvPr>
            <p:ph type="title"/>
          </p:nvPr>
        </p:nvSpPr>
        <p:spPr/>
        <p:txBody>
          <a:bodyPr/>
          <a:lstStyle/>
          <a:p>
            <a:r>
              <a:rPr lang="it-IT" dirty="0"/>
              <a:t>Package sottosistema </a:t>
            </a:r>
            <a:r>
              <a:rPr lang="it-IT" dirty="0" err="1"/>
              <a:t>UserManagement</a:t>
            </a:r>
            <a:endParaRPr lang="it-IT" dirty="0"/>
          </a:p>
        </p:txBody>
      </p:sp>
      <p:pic>
        <p:nvPicPr>
          <p:cNvPr id="5" name="Segnaposto contenuto 4" descr="Immagine che contiene testo, schermata, linea, diagramma&#10;&#10;Il contenuto generato dall'IA potrebbe non essere corretto.">
            <a:extLst>
              <a:ext uri="{FF2B5EF4-FFF2-40B4-BE49-F238E27FC236}">
                <a16:creationId xmlns:a16="http://schemas.microsoft.com/office/drawing/2014/main" id="{68A579B1-481B-0103-4F4B-947F785AAAB6}"/>
              </a:ext>
            </a:extLst>
          </p:cNvPr>
          <p:cNvPicPr>
            <a:picLocks noGrp="1" noChangeAspect="1"/>
          </p:cNvPicPr>
          <p:nvPr>
            <p:ph idx="1"/>
          </p:nvPr>
        </p:nvPicPr>
        <p:blipFill>
          <a:blip r:embed="rId2"/>
          <a:stretch>
            <a:fillRect/>
          </a:stretch>
        </p:blipFill>
        <p:spPr>
          <a:xfrm>
            <a:off x="2159122" y="2597185"/>
            <a:ext cx="7209649" cy="3644438"/>
          </a:xfrm>
        </p:spPr>
      </p:pic>
    </p:spTree>
    <p:extLst>
      <p:ext uri="{BB962C8B-B14F-4D97-AF65-F5344CB8AC3E}">
        <p14:creationId xmlns:p14="http://schemas.microsoft.com/office/powerpoint/2010/main" val="12115283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3" name="Freeform: Shape 12">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4" name="Freeform: Shape 13">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7"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Freeform: Shape 2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4"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6"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7"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1" name="Rectangle 30">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11C272BF-3A02-2174-EF52-9A4CD3B5314E}"/>
              </a:ext>
            </a:extLst>
          </p:cNvPr>
          <p:cNvSpPr>
            <a:spLocks noGrp="1"/>
          </p:cNvSpPr>
          <p:nvPr>
            <p:ph type="title"/>
          </p:nvPr>
        </p:nvSpPr>
        <p:spPr>
          <a:xfrm>
            <a:off x="530352" y="589788"/>
            <a:ext cx="4884481" cy="2510921"/>
          </a:xfrm>
        </p:spPr>
        <p:txBody>
          <a:bodyPr vert="horz" lIns="91440" tIns="45720" rIns="91440" bIns="45720" rtlCol="0" anchor="b">
            <a:normAutofit/>
          </a:bodyPr>
          <a:lstStyle/>
          <a:p>
            <a:pPr>
              <a:lnSpc>
                <a:spcPct val="90000"/>
              </a:lnSpc>
            </a:pPr>
            <a:r>
              <a:rPr lang="en-US" sz="3400"/>
              <a:t>Package sottosistema CatalogManagement</a:t>
            </a:r>
          </a:p>
        </p:txBody>
      </p:sp>
      <p:grpSp>
        <p:nvGrpSpPr>
          <p:cNvPr id="33" name="Graphic 78">
            <a:extLst>
              <a:ext uri="{FF2B5EF4-FFF2-40B4-BE49-F238E27FC236}">
                <a16:creationId xmlns:a16="http://schemas.microsoft.com/office/drawing/2014/main" id="{06B4C967-D337-479B-87CA-7587B7FCFF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352" y="3267662"/>
            <a:ext cx="972241" cy="45718"/>
            <a:chOff x="4886325" y="3371754"/>
            <a:chExt cx="2418492" cy="113728"/>
          </a:xfrm>
          <a:solidFill>
            <a:schemeClr val="accent1"/>
          </a:solidFill>
        </p:grpSpPr>
        <p:sp>
          <p:nvSpPr>
            <p:cNvPr id="34" name="Graphic 78">
              <a:extLst>
                <a:ext uri="{FF2B5EF4-FFF2-40B4-BE49-F238E27FC236}">
                  <a16:creationId xmlns:a16="http://schemas.microsoft.com/office/drawing/2014/main" id="{6EF1A9DB-7052-4254-8534-9AAED6F6B6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5" name="Graphic 78">
              <a:extLst>
                <a:ext uri="{FF2B5EF4-FFF2-40B4-BE49-F238E27FC236}">
                  <a16:creationId xmlns:a16="http://schemas.microsoft.com/office/drawing/2014/main" id="{55D44775-F9E3-4142-8CDB-277AEF2F38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6" name="Graphic 78">
                <a:extLst>
                  <a:ext uri="{FF2B5EF4-FFF2-40B4-BE49-F238E27FC236}">
                    <a16:creationId xmlns:a16="http://schemas.microsoft.com/office/drawing/2014/main" id="{93BB9C83-6DC3-450C-BFAD-0CB5EAD29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7" name="Graphic 78">
                <a:extLst>
                  <a:ext uri="{FF2B5EF4-FFF2-40B4-BE49-F238E27FC236}">
                    <a16:creationId xmlns:a16="http://schemas.microsoft.com/office/drawing/2014/main" id="{4E01AF91-A65B-4AE1-96C9-4168BD8F90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8" name="Graphic 78">
                <a:extLst>
                  <a:ext uri="{FF2B5EF4-FFF2-40B4-BE49-F238E27FC236}">
                    <a16:creationId xmlns:a16="http://schemas.microsoft.com/office/drawing/2014/main" id="{0AD45C08-DFB9-441F-A901-BCB9B0305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E05BEC0E-4EE4-42C4-BF0B-15F9AC518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1" name="Freeform: Shape 40">
            <a:extLst>
              <a:ext uri="{FF2B5EF4-FFF2-40B4-BE49-F238E27FC236}">
                <a16:creationId xmlns:a16="http://schemas.microsoft.com/office/drawing/2014/main" id="{752C2BA4-3BBE-4D22-A0D9-8D2A7B8F1C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5918708"/>
            <a:ext cx="4187283" cy="93929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Segnaposto contenuto 4" descr="Immagine che contiene testo, diagramma, Parallelo, modello&#10;&#10;Il contenuto generato dall'IA potrebbe non essere corretto.">
            <a:extLst>
              <a:ext uri="{FF2B5EF4-FFF2-40B4-BE49-F238E27FC236}">
                <a16:creationId xmlns:a16="http://schemas.microsoft.com/office/drawing/2014/main" id="{B433E709-E71F-234F-F994-D399B6C54B3D}"/>
              </a:ext>
            </a:extLst>
          </p:cNvPr>
          <p:cNvPicPr>
            <a:picLocks noGrp="1" noChangeAspect="1"/>
          </p:cNvPicPr>
          <p:nvPr>
            <p:ph idx="1"/>
          </p:nvPr>
        </p:nvPicPr>
        <p:blipFill>
          <a:blip r:embed="rId2"/>
          <a:stretch>
            <a:fillRect/>
          </a:stretch>
        </p:blipFill>
        <p:spPr>
          <a:xfrm>
            <a:off x="6517851" y="589788"/>
            <a:ext cx="4571130" cy="5678424"/>
          </a:xfrm>
          <a:prstGeom prst="rect">
            <a:avLst/>
          </a:prstGeom>
        </p:spPr>
      </p:pic>
      <p:sp>
        <p:nvSpPr>
          <p:cNvPr id="43" name="Freeform: Shape 42">
            <a:extLst>
              <a:ext uri="{FF2B5EF4-FFF2-40B4-BE49-F238E27FC236}">
                <a16:creationId xmlns:a16="http://schemas.microsoft.com/office/drawing/2014/main" id="{82AA7049-B18D-49D6-AD7D-DBB9E19FB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713190" y="-534982"/>
            <a:ext cx="943826" cy="2013794"/>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5" name="Group 44">
            <a:extLst>
              <a:ext uri="{FF2B5EF4-FFF2-40B4-BE49-F238E27FC236}">
                <a16:creationId xmlns:a16="http://schemas.microsoft.com/office/drawing/2014/main" id="{3850DB66-16D1-4953-A6E3-FCA3DC5F27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35690" y="349252"/>
            <a:ext cx="886142" cy="693398"/>
            <a:chOff x="10948005" y="3379098"/>
            <a:chExt cx="868640" cy="679702"/>
          </a:xfrm>
          <a:solidFill>
            <a:schemeClr val="accent6"/>
          </a:solidFill>
        </p:grpSpPr>
        <p:sp>
          <p:nvSpPr>
            <p:cNvPr id="46" name="Freeform: Shape 45">
              <a:extLst>
                <a:ext uri="{FF2B5EF4-FFF2-40B4-BE49-F238E27FC236}">
                  <a16:creationId xmlns:a16="http://schemas.microsoft.com/office/drawing/2014/main" id="{D698AB2F-1D17-4249-81CB-9A41D46B8E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7" name="Freeform: Shape 46">
              <a:extLst>
                <a:ext uri="{FF2B5EF4-FFF2-40B4-BE49-F238E27FC236}">
                  <a16:creationId xmlns:a16="http://schemas.microsoft.com/office/drawing/2014/main" id="{F5301961-8687-4ADB-8043-4065F4707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8" name="Graphic 15">
              <a:extLst>
                <a:ext uri="{FF2B5EF4-FFF2-40B4-BE49-F238E27FC236}">
                  <a16:creationId xmlns:a16="http://schemas.microsoft.com/office/drawing/2014/main" id="{9DC20816-893A-4201-AA91-22F71E46F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9" name="Graphic 15">
              <a:extLst>
                <a:ext uri="{FF2B5EF4-FFF2-40B4-BE49-F238E27FC236}">
                  <a16:creationId xmlns:a16="http://schemas.microsoft.com/office/drawing/2014/main" id="{866D1F4E-BA21-44F3-A97A-E979C5FE7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B35EADCB-1DB5-4B69-892B-14567F528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202896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3" name="Freeform: Shape 12">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4" name="Freeform: Shape 13">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7"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Freeform: Shape 2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4"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6"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7"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1" name="Rectangle 30">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49C61564-9DC0-F34B-1E0E-E90A7B7CA40D}"/>
              </a:ext>
            </a:extLst>
          </p:cNvPr>
          <p:cNvSpPr>
            <a:spLocks noGrp="1"/>
          </p:cNvSpPr>
          <p:nvPr>
            <p:ph type="title"/>
          </p:nvPr>
        </p:nvSpPr>
        <p:spPr>
          <a:xfrm>
            <a:off x="530352" y="555615"/>
            <a:ext cx="4896536" cy="2545094"/>
          </a:xfrm>
        </p:spPr>
        <p:txBody>
          <a:bodyPr vert="horz" lIns="91440" tIns="45720" rIns="91440" bIns="45720" rtlCol="0" anchor="b">
            <a:normAutofit/>
          </a:bodyPr>
          <a:lstStyle/>
          <a:p>
            <a:r>
              <a:rPr lang="en-US" sz="3700"/>
              <a:t>Package sottosistema OrderManagement</a:t>
            </a:r>
          </a:p>
        </p:txBody>
      </p:sp>
      <p:sp>
        <p:nvSpPr>
          <p:cNvPr id="33" name="Freeform: Shape 32">
            <a:extLst>
              <a:ext uri="{FF2B5EF4-FFF2-40B4-BE49-F238E27FC236}">
                <a16:creationId xmlns:a16="http://schemas.microsoft.com/office/drawing/2014/main" id="{8972B65B-8AFA-4B5C-BFC6-E443F3777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839951" cy="1423657"/>
          </a:xfrm>
          <a:custGeom>
            <a:avLst/>
            <a:gdLst>
              <a:gd name="connsiteX0" fmla="*/ 0 w 2331138"/>
              <a:gd name="connsiteY0" fmla="*/ 0 h 3352676"/>
              <a:gd name="connsiteX1" fmla="*/ 2331138 w 2331138"/>
              <a:gd name="connsiteY1" fmla="*/ 0 h 3352676"/>
              <a:gd name="connsiteX2" fmla="*/ 2331138 w 2331138"/>
              <a:gd name="connsiteY2" fmla="*/ 3352676 h 3352676"/>
              <a:gd name="connsiteX3" fmla="*/ 2097210 w 2331138"/>
              <a:gd name="connsiteY3" fmla="*/ 3226228 h 3352676"/>
              <a:gd name="connsiteX4" fmla="*/ 214881 w 2331138"/>
              <a:gd name="connsiteY4" fmla="*/ 1176738 h 3352676"/>
              <a:gd name="connsiteX5" fmla="*/ 1129 w 2331138"/>
              <a:gd name="connsiteY5" fmla="*/ 67475 h 335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138" h="3352676">
                <a:moveTo>
                  <a:pt x="0" y="0"/>
                </a:moveTo>
                <a:lnTo>
                  <a:pt x="2331138" y="0"/>
                </a:lnTo>
                <a:lnTo>
                  <a:pt x="2331138" y="3352676"/>
                </a:lnTo>
                <a:lnTo>
                  <a:pt x="2097210" y="3226228"/>
                </a:lnTo>
                <a:cubicBezTo>
                  <a:pt x="1273150" y="2744079"/>
                  <a:pt x="560886" y="2027200"/>
                  <a:pt x="214881" y="1176738"/>
                </a:cubicBezTo>
                <a:cubicBezTo>
                  <a:pt x="72781" y="827511"/>
                  <a:pt x="14297" y="430630"/>
                  <a:pt x="1129" y="67475"/>
                </a:cubicBezTo>
                <a:close/>
              </a:path>
            </a:pathLst>
          </a:custGeom>
          <a:solidFill>
            <a:schemeClr val="accent1">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5" name="Graphic 78">
            <a:extLst>
              <a:ext uri="{FF2B5EF4-FFF2-40B4-BE49-F238E27FC236}">
                <a16:creationId xmlns:a16="http://schemas.microsoft.com/office/drawing/2014/main" id="{8B32F32D-2578-47BA-A8C8-B9CC3F8A09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6" name="Graphic 78">
              <a:extLst>
                <a:ext uri="{FF2B5EF4-FFF2-40B4-BE49-F238E27FC236}">
                  <a16:creationId xmlns:a16="http://schemas.microsoft.com/office/drawing/2014/main" id="{FE39C5A6-D000-4F68-8942-DD0D6D6F8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7" name="Graphic 78">
              <a:extLst>
                <a:ext uri="{FF2B5EF4-FFF2-40B4-BE49-F238E27FC236}">
                  <a16:creationId xmlns:a16="http://schemas.microsoft.com/office/drawing/2014/main" id="{E89890B6-1232-480B-A1E4-4EE4897F64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8" name="Graphic 78">
                <a:extLst>
                  <a:ext uri="{FF2B5EF4-FFF2-40B4-BE49-F238E27FC236}">
                    <a16:creationId xmlns:a16="http://schemas.microsoft.com/office/drawing/2014/main" id="{AA2A92B4-DD5E-4659-876C-CEF27D8A3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CB3716F9-57FA-4E55-B926-D141DFDE7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6E65CA48-F624-4AAA-B08C-4D030E798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5AB96607-3A57-4F71-87E5-C0D546FEB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pic>
        <p:nvPicPr>
          <p:cNvPr id="5" name="Segnaposto contenuto 4" descr="Immagine che contiene testo, diagramma, Parallelo, linea&#10;&#10;Il contenuto generato dall'IA potrebbe non essere corretto.">
            <a:extLst>
              <a:ext uri="{FF2B5EF4-FFF2-40B4-BE49-F238E27FC236}">
                <a16:creationId xmlns:a16="http://schemas.microsoft.com/office/drawing/2014/main" id="{C75C4867-DE3B-BC28-A0FA-FBCAE4A5B961}"/>
              </a:ext>
            </a:extLst>
          </p:cNvPr>
          <p:cNvPicPr>
            <a:picLocks noGrp="1" noChangeAspect="1"/>
          </p:cNvPicPr>
          <p:nvPr>
            <p:ph idx="1"/>
          </p:nvPr>
        </p:nvPicPr>
        <p:blipFill>
          <a:blip r:embed="rId2"/>
          <a:stretch>
            <a:fillRect/>
          </a:stretch>
        </p:blipFill>
        <p:spPr>
          <a:xfrm>
            <a:off x="5974872" y="775607"/>
            <a:ext cx="5677184" cy="5237200"/>
          </a:xfrm>
          <a:prstGeom prst="rect">
            <a:avLst/>
          </a:prstGeom>
        </p:spPr>
      </p:pic>
      <p:sp>
        <p:nvSpPr>
          <p:cNvPr id="43" name="Freeform: Shape 42">
            <a:extLst>
              <a:ext uri="{FF2B5EF4-FFF2-40B4-BE49-F238E27FC236}">
                <a16:creationId xmlns:a16="http://schemas.microsoft.com/office/drawing/2014/main" id="{286E5E1D-FD49-448F-83C8-E06466BE5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899042" y="5608708"/>
            <a:ext cx="4292956" cy="1249292"/>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5" name="Group 44">
            <a:extLst>
              <a:ext uri="{FF2B5EF4-FFF2-40B4-BE49-F238E27FC236}">
                <a16:creationId xmlns:a16="http://schemas.microsoft.com/office/drawing/2014/main" id="{D82E7BA0-A7BA-4C61-9D6F-5345A54056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47993" y="5742897"/>
            <a:ext cx="886141" cy="802496"/>
            <a:chOff x="10948005" y="3272152"/>
            <a:chExt cx="868640" cy="786648"/>
          </a:xfrm>
          <a:solidFill>
            <a:schemeClr val="accent6"/>
          </a:solidFill>
        </p:grpSpPr>
        <p:sp>
          <p:nvSpPr>
            <p:cNvPr id="46" name="Freeform: Shape 45">
              <a:extLst>
                <a:ext uri="{FF2B5EF4-FFF2-40B4-BE49-F238E27FC236}">
                  <a16:creationId xmlns:a16="http://schemas.microsoft.com/office/drawing/2014/main" id="{B5369E81-3115-4284-995E-F753EB421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7" name="Freeform: Shape 46">
              <a:extLst>
                <a:ext uri="{FF2B5EF4-FFF2-40B4-BE49-F238E27FC236}">
                  <a16:creationId xmlns:a16="http://schemas.microsoft.com/office/drawing/2014/main" id="{44729589-1C6A-4995-83DB-3C8AC2B8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8" name="Freeform: Shape 47">
              <a:extLst>
                <a:ext uri="{FF2B5EF4-FFF2-40B4-BE49-F238E27FC236}">
                  <a16:creationId xmlns:a16="http://schemas.microsoft.com/office/drawing/2014/main" id="{7A966D0D-0B99-4534-8150-ECA25F804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Graphic 12">
              <a:extLst>
                <a:ext uri="{FF2B5EF4-FFF2-40B4-BE49-F238E27FC236}">
                  <a16:creationId xmlns:a16="http://schemas.microsoft.com/office/drawing/2014/main" id="{7DC8EDF8-9492-4A6B-8050-A6B44F11B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0" name="Graphic 15">
              <a:extLst>
                <a:ext uri="{FF2B5EF4-FFF2-40B4-BE49-F238E27FC236}">
                  <a16:creationId xmlns:a16="http://schemas.microsoft.com/office/drawing/2014/main" id="{13B4EDF3-5414-4F6E-8824-4FDC7BFD5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1" name="Graphic 15">
              <a:extLst>
                <a:ext uri="{FF2B5EF4-FFF2-40B4-BE49-F238E27FC236}">
                  <a16:creationId xmlns:a16="http://schemas.microsoft.com/office/drawing/2014/main" id="{6CE204CE-5738-4712-8E02-CF746C010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2369023-4235-4E1E-A424-EA0EA83D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3457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194A83-AAD4-7C7B-6720-693A3190EA24}"/>
              </a:ext>
            </a:extLst>
          </p:cNvPr>
          <p:cNvSpPr>
            <a:spLocks noGrp="1"/>
          </p:cNvSpPr>
          <p:nvPr>
            <p:ph type="title"/>
          </p:nvPr>
        </p:nvSpPr>
        <p:spPr/>
        <p:txBody>
          <a:bodyPr/>
          <a:lstStyle/>
          <a:p>
            <a:r>
              <a:rPr lang="it-IT" dirty="0"/>
              <a:t>Class </a:t>
            </a:r>
            <a:r>
              <a:rPr lang="it-IT" dirty="0" err="1"/>
              <a:t>Interfaces</a:t>
            </a:r>
            <a:endParaRPr lang="it-IT" dirty="0"/>
          </a:p>
        </p:txBody>
      </p:sp>
      <p:sp>
        <p:nvSpPr>
          <p:cNvPr id="3" name="Segnaposto contenuto 2">
            <a:extLst>
              <a:ext uri="{FF2B5EF4-FFF2-40B4-BE49-F238E27FC236}">
                <a16:creationId xmlns:a16="http://schemas.microsoft.com/office/drawing/2014/main" id="{C94C2FD3-E7C8-0842-CB14-62E79CCF2472}"/>
              </a:ext>
            </a:extLst>
          </p:cNvPr>
          <p:cNvSpPr>
            <a:spLocks noGrp="1"/>
          </p:cNvSpPr>
          <p:nvPr>
            <p:ph idx="1"/>
          </p:nvPr>
        </p:nvSpPr>
        <p:spPr/>
        <p:txBody>
          <a:bodyPr/>
          <a:lstStyle/>
          <a:p>
            <a:r>
              <a:rPr lang="it-IT" dirty="0"/>
              <a:t>Ogni interfaccia pubblica DAO delle classi chiave del sistema è stata descritta ed in particolare sono state attenzionate le Pre-condizioni, Post-condizioni ed invarianti di ogni metodo pubblico prodotto.  </a:t>
            </a:r>
          </a:p>
        </p:txBody>
      </p:sp>
    </p:spTree>
    <p:extLst>
      <p:ext uri="{BB962C8B-B14F-4D97-AF65-F5344CB8AC3E}">
        <p14:creationId xmlns:p14="http://schemas.microsoft.com/office/powerpoint/2010/main" val="6463812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2C17FF-6F06-E880-76B7-330B1FD2DE5B}"/>
              </a:ext>
            </a:extLst>
          </p:cNvPr>
          <p:cNvSpPr>
            <a:spLocks noGrp="1"/>
          </p:cNvSpPr>
          <p:nvPr>
            <p:ph type="title"/>
          </p:nvPr>
        </p:nvSpPr>
        <p:spPr>
          <a:xfrm>
            <a:off x="525717" y="787068"/>
            <a:ext cx="10077557" cy="650963"/>
          </a:xfrm>
        </p:spPr>
        <p:txBody>
          <a:bodyPr/>
          <a:lstStyle/>
          <a:p>
            <a:r>
              <a:rPr lang="it-IT" dirty="0"/>
              <a:t>             Struttura finale del progetto</a:t>
            </a:r>
          </a:p>
        </p:txBody>
      </p:sp>
      <p:pic>
        <p:nvPicPr>
          <p:cNvPr id="5" name="Segnaposto contenuto 4" descr="Immagine che contiene testo, schermata, Carattere&#10;&#10;Il contenuto generato dall'IA potrebbe non essere corretto.">
            <a:extLst>
              <a:ext uri="{FF2B5EF4-FFF2-40B4-BE49-F238E27FC236}">
                <a16:creationId xmlns:a16="http://schemas.microsoft.com/office/drawing/2014/main" id="{EEA041DC-FE77-8243-DAE6-97C3B39E5718}"/>
              </a:ext>
            </a:extLst>
          </p:cNvPr>
          <p:cNvPicPr>
            <a:picLocks noGrp="1" noChangeAspect="1"/>
          </p:cNvPicPr>
          <p:nvPr>
            <p:ph idx="1"/>
          </p:nvPr>
        </p:nvPicPr>
        <p:blipFill>
          <a:blip r:embed="rId2"/>
          <a:stretch>
            <a:fillRect/>
          </a:stretch>
        </p:blipFill>
        <p:spPr>
          <a:xfrm>
            <a:off x="525717" y="1657487"/>
            <a:ext cx="3005811" cy="4400774"/>
          </a:xfrm>
        </p:spPr>
      </p:pic>
      <p:sp>
        <p:nvSpPr>
          <p:cNvPr id="6" name="CasellaDiTesto 5">
            <a:extLst>
              <a:ext uri="{FF2B5EF4-FFF2-40B4-BE49-F238E27FC236}">
                <a16:creationId xmlns:a16="http://schemas.microsoft.com/office/drawing/2014/main" id="{F6045682-B868-8AF9-C3AD-E63BDCF5025D}"/>
              </a:ext>
            </a:extLst>
          </p:cNvPr>
          <p:cNvSpPr txBox="1"/>
          <p:nvPr/>
        </p:nvSpPr>
        <p:spPr>
          <a:xfrm>
            <a:off x="4891609" y="2936274"/>
            <a:ext cx="1727200" cy="769441"/>
          </a:xfrm>
          <a:prstGeom prst="rect">
            <a:avLst/>
          </a:prstGeom>
          <a:noFill/>
        </p:spPr>
        <p:txBody>
          <a:bodyPr wrap="square" rtlCol="0">
            <a:spAutoFit/>
          </a:bodyPr>
          <a:lstStyle/>
          <a:p>
            <a:r>
              <a:rPr lang="it-IT" sz="4400" dirty="0"/>
              <a:t>=&gt;</a:t>
            </a:r>
          </a:p>
        </p:txBody>
      </p:sp>
      <p:pic>
        <p:nvPicPr>
          <p:cNvPr id="8" name="Immagine 7" descr="Immagine che contiene testo, schermata, documento, menu&#10;&#10;Il contenuto generato dall'IA potrebbe non essere corretto.">
            <a:extLst>
              <a:ext uri="{FF2B5EF4-FFF2-40B4-BE49-F238E27FC236}">
                <a16:creationId xmlns:a16="http://schemas.microsoft.com/office/drawing/2014/main" id="{26C49BDE-7856-E3FC-6A74-FFDEC509670B}"/>
              </a:ext>
            </a:extLst>
          </p:cNvPr>
          <p:cNvPicPr>
            <a:picLocks noChangeAspect="1"/>
          </p:cNvPicPr>
          <p:nvPr/>
        </p:nvPicPr>
        <p:blipFill>
          <a:blip r:embed="rId3"/>
          <a:stretch>
            <a:fillRect/>
          </a:stretch>
        </p:blipFill>
        <p:spPr>
          <a:xfrm>
            <a:off x="7300392" y="1438031"/>
            <a:ext cx="2720163" cy="5220686"/>
          </a:xfrm>
          <a:prstGeom prst="rect">
            <a:avLst/>
          </a:prstGeom>
        </p:spPr>
      </p:pic>
    </p:spTree>
    <p:extLst>
      <p:ext uri="{BB962C8B-B14F-4D97-AF65-F5344CB8AC3E}">
        <p14:creationId xmlns:p14="http://schemas.microsoft.com/office/powerpoint/2010/main" val="17870134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038B-39A5-737B-2007-E26DD4BC0EA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3FA6601-EE79-4321-0946-A265A91AC7B3}"/>
              </a:ext>
            </a:extLst>
          </p:cNvPr>
          <p:cNvSpPr>
            <a:spLocks noGrp="1"/>
          </p:cNvSpPr>
          <p:nvPr>
            <p:ph type="title"/>
          </p:nvPr>
        </p:nvSpPr>
        <p:spPr>
          <a:xfrm>
            <a:off x="375076" y="1500995"/>
            <a:ext cx="4887206" cy="900973"/>
          </a:xfrm>
        </p:spPr>
        <p:txBody>
          <a:bodyPr vert="horz" lIns="91440" tIns="45720" rIns="91440" bIns="45720" rtlCol="0" anchor="b">
            <a:normAutofit/>
          </a:bodyPr>
          <a:lstStyle/>
          <a:p>
            <a:r>
              <a:rPr lang="en-US" sz="4000" dirty="0"/>
              <a:t>Testing</a:t>
            </a:r>
          </a:p>
        </p:txBody>
      </p:sp>
      <p:pic>
        <p:nvPicPr>
          <p:cNvPr id="5" name="Segnaposto contenuto 4" descr="Immagine che contiene testo, poster, bottiglia, illustrazione&#10;&#10;Il contenuto generato dall'IA potrebbe non essere corretto.">
            <a:extLst>
              <a:ext uri="{FF2B5EF4-FFF2-40B4-BE49-F238E27FC236}">
                <a16:creationId xmlns:a16="http://schemas.microsoft.com/office/drawing/2014/main" id="{3541016A-D964-49BD-E215-C682DFD493E4}"/>
              </a:ext>
            </a:extLst>
          </p:cNvPr>
          <p:cNvPicPr>
            <a:picLocks noGrp="1" noChangeAspect="1"/>
          </p:cNvPicPr>
          <p:nvPr>
            <p:ph idx="1"/>
          </p:nvPr>
        </p:nvPicPr>
        <p:blipFill>
          <a:blip r:embed="rId2"/>
          <a:stretch>
            <a:fillRect/>
          </a:stretch>
        </p:blipFill>
        <p:spPr>
          <a:xfrm>
            <a:off x="5970782" y="589788"/>
            <a:ext cx="5678424" cy="5678424"/>
          </a:xfrm>
          <a:prstGeom prst="rect">
            <a:avLst/>
          </a:prstGeom>
        </p:spPr>
      </p:pic>
    </p:spTree>
    <p:extLst>
      <p:ext uri="{BB962C8B-B14F-4D97-AF65-F5344CB8AC3E}">
        <p14:creationId xmlns:p14="http://schemas.microsoft.com/office/powerpoint/2010/main" val="5686478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6CB781-0D2F-5483-BDCB-93E52025DEA2}"/>
              </a:ext>
            </a:extLst>
          </p:cNvPr>
          <p:cNvSpPr>
            <a:spLocks noGrp="1"/>
          </p:cNvSpPr>
          <p:nvPr>
            <p:ph type="title"/>
          </p:nvPr>
        </p:nvSpPr>
        <p:spPr/>
        <p:txBody>
          <a:bodyPr/>
          <a:lstStyle/>
          <a:p>
            <a:r>
              <a:rPr lang="it-IT" dirty="0"/>
              <a:t>Test Plan</a:t>
            </a:r>
          </a:p>
        </p:txBody>
      </p:sp>
      <p:sp>
        <p:nvSpPr>
          <p:cNvPr id="3" name="Segnaposto contenuto 2">
            <a:extLst>
              <a:ext uri="{FF2B5EF4-FFF2-40B4-BE49-F238E27FC236}">
                <a16:creationId xmlns:a16="http://schemas.microsoft.com/office/drawing/2014/main" id="{21FDF88C-135C-EA03-DBAC-7143D6280F45}"/>
              </a:ext>
            </a:extLst>
          </p:cNvPr>
          <p:cNvSpPr>
            <a:spLocks noGrp="1"/>
          </p:cNvSpPr>
          <p:nvPr>
            <p:ph idx="1"/>
          </p:nvPr>
        </p:nvSpPr>
        <p:spPr>
          <a:xfrm>
            <a:off x="525717" y="2521885"/>
            <a:ext cx="6647593" cy="3549045"/>
          </a:xfrm>
        </p:spPr>
        <p:txBody>
          <a:bodyPr/>
          <a:lstStyle/>
          <a:p>
            <a:r>
              <a:rPr lang="it-IT" dirty="0"/>
              <a:t>Obbiettivo: verificare i requisiti + qualità e funzionamento del DB.</a:t>
            </a:r>
          </a:p>
        </p:txBody>
      </p:sp>
    </p:spTree>
    <p:extLst>
      <p:ext uri="{BB962C8B-B14F-4D97-AF65-F5344CB8AC3E}">
        <p14:creationId xmlns:p14="http://schemas.microsoft.com/office/powerpoint/2010/main" val="28847716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65DB04-8A74-1C08-E9BF-874DA2460AAC}"/>
              </a:ext>
            </a:extLst>
          </p:cNvPr>
          <p:cNvSpPr>
            <a:spLocks noGrp="1"/>
          </p:cNvSpPr>
          <p:nvPr>
            <p:ph type="title"/>
          </p:nvPr>
        </p:nvSpPr>
        <p:spPr/>
        <p:txBody>
          <a:bodyPr/>
          <a:lstStyle/>
          <a:p>
            <a:r>
              <a:rPr lang="it-IT" dirty="0"/>
              <a:t>Strategia di test</a:t>
            </a:r>
          </a:p>
        </p:txBody>
      </p:sp>
      <p:sp>
        <p:nvSpPr>
          <p:cNvPr id="3" name="Segnaposto contenuto 2">
            <a:extLst>
              <a:ext uri="{FF2B5EF4-FFF2-40B4-BE49-F238E27FC236}">
                <a16:creationId xmlns:a16="http://schemas.microsoft.com/office/drawing/2014/main" id="{13E5A5F4-8B6E-782A-24E0-CBFE7372851C}"/>
              </a:ext>
            </a:extLst>
          </p:cNvPr>
          <p:cNvSpPr>
            <a:spLocks noGrp="1"/>
          </p:cNvSpPr>
          <p:nvPr>
            <p:ph idx="1"/>
          </p:nvPr>
        </p:nvSpPr>
        <p:spPr/>
        <p:txBody>
          <a:bodyPr/>
          <a:lstStyle/>
          <a:p>
            <a:r>
              <a:rPr lang="it-IT" dirty="0"/>
              <a:t>Si opterà per un approccio di test a vari livelli concentrandosi principalmente:</a:t>
            </a:r>
          </a:p>
          <a:p>
            <a:pPr marL="457200" indent="-457200">
              <a:buAutoNum type="arabicParenR"/>
            </a:pPr>
            <a:r>
              <a:rPr lang="it-IT" dirty="0"/>
              <a:t>Unit testing</a:t>
            </a:r>
          </a:p>
          <a:p>
            <a:pPr marL="457200" indent="-457200">
              <a:buAutoNum type="arabicParenR"/>
            </a:pPr>
            <a:r>
              <a:rPr lang="it-IT" dirty="0"/>
              <a:t>Integration Testing</a:t>
            </a:r>
          </a:p>
          <a:p>
            <a:pPr marL="457200" indent="-457200">
              <a:buAutoNum type="arabicParenR"/>
            </a:pPr>
            <a:r>
              <a:rPr lang="it-IT" dirty="0"/>
              <a:t>System/</a:t>
            </a:r>
            <a:r>
              <a:rPr lang="it-IT" dirty="0" err="1"/>
              <a:t>Acceptance</a:t>
            </a:r>
            <a:r>
              <a:rPr lang="it-IT" dirty="0"/>
              <a:t>/Installation (Svolta manualmente dal team e non automatizzata)</a:t>
            </a:r>
          </a:p>
          <a:p>
            <a:endParaRPr lang="it-IT" dirty="0"/>
          </a:p>
        </p:txBody>
      </p:sp>
    </p:spTree>
    <p:extLst>
      <p:ext uri="{BB962C8B-B14F-4D97-AF65-F5344CB8AC3E}">
        <p14:creationId xmlns:p14="http://schemas.microsoft.com/office/powerpoint/2010/main" val="42275685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F95CA3-FBFB-FA30-E73D-85AA8994CC42}"/>
              </a:ext>
            </a:extLst>
          </p:cNvPr>
          <p:cNvSpPr>
            <a:spLocks noGrp="1"/>
          </p:cNvSpPr>
          <p:nvPr>
            <p:ph type="title"/>
          </p:nvPr>
        </p:nvSpPr>
        <p:spPr/>
        <p:txBody>
          <a:bodyPr/>
          <a:lstStyle/>
          <a:p>
            <a:r>
              <a:rPr lang="it-IT" dirty="0"/>
              <a:t>Tecniche di test</a:t>
            </a:r>
          </a:p>
        </p:txBody>
      </p:sp>
      <p:sp>
        <p:nvSpPr>
          <p:cNvPr id="3" name="Segnaposto contenuto 2">
            <a:extLst>
              <a:ext uri="{FF2B5EF4-FFF2-40B4-BE49-F238E27FC236}">
                <a16:creationId xmlns:a16="http://schemas.microsoft.com/office/drawing/2014/main" id="{96F09E60-27BD-9673-D8D2-8D5733A3B6BE}"/>
              </a:ext>
            </a:extLst>
          </p:cNvPr>
          <p:cNvSpPr>
            <a:spLocks noGrp="1"/>
          </p:cNvSpPr>
          <p:nvPr>
            <p:ph idx="1"/>
          </p:nvPr>
        </p:nvSpPr>
        <p:spPr>
          <a:xfrm>
            <a:off x="525717" y="2766219"/>
            <a:ext cx="5039511" cy="3549045"/>
          </a:xfrm>
        </p:spPr>
        <p:txBody>
          <a:bodyPr>
            <a:normAutofit/>
          </a:bodyPr>
          <a:lstStyle/>
          <a:p>
            <a:r>
              <a:rPr lang="it-IT" b="1" dirty="0"/>
              <a:t>Black box</a:t>
            </a:r>
            <a:endParaRPr lang="it-IT" dirty="0"/>
          </a:p>
          <a:p>
            <a:pPr lvl="0"/>
            <a:r>
              <a:rPr lang="it-IT" dirty="0"/>
              <a:t>Derivazione test: </a:t>
            </a:r>
            <a:r>
              <a:rPr lang="it-IT" b="1" dirty="0"/>
              <a:t>Use case/Scenari </a:t>
            </a:r>
            <a:r>
              <a:rPr lang="it-IT" dirty="0"/>
              <a:t>e dai requisiti del </a:t>
            </a:r>
            <a:r>
              <a:rPr lang="it-IT" b="1" dirty="0"/>
              <a:t>RAD (</a:t>
            </a:r>
            <a:r>
              <a:rPr lang="it-IT" dirty="0"/>
              <a:t>Istanze di UC</a:t>
            </a:r>
            <a:r>
              <a:rPr lang="it-IT" b="1" dirty="0"/>
              <a:t>)</a:t>
            </a:r>
            <a:endParaRPr lang="it-IT" dirty="0"/>
          </a:p>
          <a:p>
            <a:pPr lvl="0"/>
            <a:r>
              <a:rPr lang="it-IT" dirty="0" err="1"/>
              <a:t>Impelementando</a:t>
            </a:r>
            <a:r>
              <a:rPr lang="it-IT" dirty="0"/>
              <a:t> </a:t>
            </a:r>
            <a:r>
              <a:rPr lang="it-IT" dirty="0" err="1"/>
              <a:t>techiche</a:t>
            </a:r>
            <a:r>
              <a:rPr lang="it-IT" dirty="0"/>
              <a:t> quali:</a:t>
            </a:r>
          </a:p>
          <a:p>
            <a:pPr lvl="1"/>
            <a:r>
              <a:rPr lang="it-IT" dirty="0" err="1"/>
              <a:t>Equivalence</a:t>
            </a:r>
            <a:r>
              <a:rPr lang="it-IT" dirty="0"/>
              <a:t> </a:t>
            </a:r>
            <a:r>
              <a:rPr lang="it-IT" dirty="0" err="1"/>
              <a:t>Partitioning</a:t>
            </a:r>
            <a:r>
              <a:rPr lang="it-IT" dirty="0"/>
              <a:t> e </a:t>
            </a:r>
            <a:r>
              <a:rPr lang="it-IT" dirty="0" err="1"/>
              <a:t>Boundary</a:t>
            </a:r>
            <a:r>
              <a:rPr lang="it-IT" dirty="0"/>
              <a:t> Value per l’analisi degli input</a:t>
            </a:r>
          </a:p>
          <a:p>
            <a:pPr lvl="1"/>
            <a:r>
              <a:rPr lang="it-IT" dirty="0" err="1"/>
              <a:t>Category</a:t>
            </a:r>
            <a:r>
              <a:rPr lang="it-IT" dirty="0"/>
              <a:t> </a:t>
            </a:r>
            <a:r>
              <a:rPr lang="it-IT" dirty="0" err="1"/>
              <a:t>Partition</a:t>
            </a:r>
            <a:r>
              <a:rPr lang="it-IT" dirty="0"/>
              <a:t> Method: come tecnica per strutturare e ridurre i casi</a:t>
            </a:r>
          </a:p>
          <a:p>
            <a:endParaRPr lang="it-IT" dirty="0"/>
          </a:p>
        </p:txBody>
      </p:sp>
      <p:sp>
        <p:nvSpPr>
          <p:cNvPr id="6" name="Segnaposto contenuto 2">
            <a:extLst>
              <a:ext uri="{FF2B5EF4-FFF2-40B4-BE49-F238E27FC236}">
                <a16:creationId xmlns:a16="http://schemas.microsoft.com/office/drawing/2014/main" id="{0E9F3C20-C153-67DF-484D-B46A136769EA}"/>
              </a:ext>
            </a:extLst>
          </p:cNvPr>
          <p:cNvSpPr txBox="1">
            <a:spLocks/>
          </p:cNvSpPr>
          <p:nvPr/>
        </p:nvSpPr>
        <p:spPr>
          <a:xfrm>
            <a:off x="6095999" y="2766220"/>
            <a:ext cx="5039511" cy="3549045"/>
          </a:xfrm>
          <a:prstGeom prst="rect">
            <a:avLst/>
          </a:prstGeom>
        </p:spPr>
        <p:txBody>
          <a:bodyPr vert="horz" lIns="91440" tIns="45720" rIns="91440" bIns="45720" rtlCol="0">
            <a:normAutofit lnSpcReduction="10000"/>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t>White box</a:t>
            </a:r>
            <a:endParaRPr lang="it-IT" dirty="0"/>
          </a:p>
          <a:p>
            <a:pPr lvl="0"/>
            <a:r>
              <a:rPr lang="it-IT" dirty="0"/>
              <a:t>Applicazione: classi </a:t>
            </a:r>
            <a:r>
              <a:rPr lang="it-IT" b="1" dirty="0"/>
              <a:t>DAO/Control </a:t>
            </a:r>
            <a:r>
              <a:rPr lang="it-IT" dirty="0"/>
              <a:t>dove ha senso misurare la copertura. (Scalabili a livello di unità)</a:t>
            </a:r>
          </a:p>
          <a:p>
            <a:pPr lvl="1"/>
            <a:r>
              <a:rPr lang="it-IT" dirty="0" err="1"/>
              <a:t>UserManagement</a:t>
            </a:r>
            <a:r>
              <a:rPr lang="it-IT" dirty="0"/>
              <a:t> (Login/registrazione/check email)</a:t>
            </a:r>
          </a:p>
          <a:p>
            <a:pPr lvl="1"/>
            <a:r>
              <a:rPr lang="it-IT" dirty="0" err="1"/>
              <a:t>CatalogManagement</a:t>
            </a:r>
            <a:r>
              <a:rPr lang="it-IT" dirty="0"/>
              <a:t> (CRUD prodotti lato admin, query ricerca/filtri)</a:t>
            </a:r>
          </a:p>
          <a:p>
            <a:pPr lvl="1"/>
            <a:r>
              <a:rPr lang="it-IT" dirty="0" err="1"/>
              <a:t>OrderManagement</a:t>
            </a:r>
            <a:r>
              <a:rPr lang="it-IT" dirty="0"/>
              <a:t> (creazione ordine, update righe e update stato ordine)</a:t>
            </a:r>
          </a:p>
          <a:p>
            <a:endParaRPr lang="it-IT" dirty="0"/>
          </a:p>
        </p:txBody>
      </p:sp>
    </p:spTree>
    <p:extLst>
      <p:ext uri="{BB962C8B-B14F-4D97-AF65-F5344CB8AC3E}">
        <p14:creationId xmlns:p14="http://schemas.microsoft.com/office/powerpoint/2010/main" val="6650857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79CBE5-31A2-9040-FFD4-6996EA8673E4}"/>
              </a:ext>
            </a:extLst>
          </p:cNvPr>
          <p:cNvSpPr>
            <a:spLocks noGrp="1"/>
          </p:cNvSpPr>
          <p:nvPr>
            <p:ph type="title"/>
          </p:nvPr>
        </p:nvSpPr>
        <p:spPr/>
        <p:txBody>
          <a:bodyPr/>
          <a:lstStyle/>
          <a:p>
            <a:r>
              <a:rPr lang="it-IT" dirty="0"/>
              <a:t>Test non presenti	</a:t>
            </a:r>
          </a:p>
        </p:txBody>
      </p:sp>
      <p:sp>
        <p:nvSpPr>
          <p:cNvPr id="3" name="Segnaposto contenuto 2">
            <a:extLst>
              <a:ext uri="{FF2B5EF4-FFF2-40B4-BE49-F238E27FC236}">
                <a16:creationId xmlns:a16="http://schemas.microsoft.com/office/drawing/2014/main" id="{C7C11D8A-FBAF-5EB6-B346-3B7EE23DFAF7}"/>
              </a:ext>
            </a:extLst>
          </p:cNvPr>
          <p:cNvSpPr>
            <a:spLocks noGrp="1"/>
          </p:cNvSpPr>
          <p:nvPr>
            <p:ph idx="1"/>
          </p:nvPr>
        </p:nvSpPr>
        <p:spPr/>
        <p:txBody>
          <a:bodyPr/>
          <a:lstStyle/>
          <a:p>
            <a:r>
              <a:rPr lang="it-IT" dirty="0"/>
              <a:t>Non saranno inclusi casi di test come:</a:t>
            </a:r>
          </a:p>
          <a:p>
            <a:pPr marL="342900" indent="-342900">
              <a:buFontTx/>
              <a:buChar char="-"/>
            </a:pPr>
            <a:r>
              <a:rPr lang="it-IT" dirty="0"/>
              <a:t>Performance test</a:t>
            </a:r>
          </a:p>
          <a:p>
            <a:pPr marL="342900" indent="-342900">
              <a:buFontTx/>
              <a:buChar char="-"/>
            </a:pPr>
            <a:r>
              <a:rPr lang="it-IT" dirty="0"/>
              <a:t>Security test</a:t>
            </a:r>
          </a:p>
          <a:p>
            <a:pPr marL="342900" indent="-342900">
              <a:buFontTx/>
              <a:buChar char="-"/>
            </a:pPr>
            <a:r>
              <a:rPr lang="it-IT" dirty="0"/>
              <a:t>Gateway pagamenti</a:t>
            </a:r>
          </a:p>
          <a:p>
            <a:pPr marL="342900" indent="-342900">
              <a:buFontTx/>
              <a:buChar char="-"/>
            </a:pPr>
            <a:r>
              <a:rPr lang="it-IT" dirty="0"/>
              <a:t>Compilazione form supporto/contatti</a:t>
            </a:r>
          </a:p>
        </p:txBody>
      </p:sp>
    </p:spTree>
    <p:extLst>
      <p:ext uri="{BB962C8B-B14F-4D97-AF65-F5344CB8AC3E}">
        <p14:creationId xmlns:p14="http://schemas.microsoft.com/office/powerpoint/2010/main" val="25610270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91B3BA-6EA3-9820-8D92-5F3DDC537E5C}"/>
              </a:ext>
            </a:extLst>
          </p:cNvPr>
          <p:cNvSpPr>
            <a:spLocks noGrp="1"/>
          </p:cNvSpPr>
          <p:nvPr>
            <p:ph type="title"/>
          </p:nvPr>
        </p:nvSpPr>
        <p:spPr/>
        <p:txBody>
          <a:bodyPr/>
          <a:lstStyle/>
          <a:p>
            <a:r>
              <a:rPr lang="it-IT" dirty="0" err="1"/>
              <a:t>Suspension</a:t>
            </a:r>
            <a:r>
              <a:rPr lang="it-IT" dirty="0"/>
              <a:t> and </a:t>
            </a:r>
            <a:r>
              <a:rPr lang="it-IT" dirty="0" err="1"/>
              <a:t>resumption</a:t>
            </a:r>
            <a:endParaRPr lang="it-IT" dirty="0"/>
          </a:p>
        </p:txBody>
      </p:sp>
      <p:sp>
        <p:nvSpPr>
          <p:cNvPr id="3" name="Segnaposto contenuto 2">
            <a:extLst>
              <a:ext uri="{FF2B5EF4-FFF2-40B4-BE49-F238E27FC236}">
                <a16:creationId xmlns:a16="http://schemas.microsoft.com/office/drawing/2014/main" id="{52E472C2-F7E7-3699-E182-11F48961B2AE}"/>
              </a:ext>
            </a:extLst>
          </p:cNvPr>
          <p:cNvSpPr>
            <a:spLocks noGrp="1"/>
          </p:cNvSpPr>
          <p:nvPr>
            <p:ph idx="1"/>
          </p:nvPr>
        </p:nvSpPr>
        <p:spPr/>
        <p:txBody>
          <a:bodyPr/>
          <a:lstStyle/>
          <a:p>
            <a:pPr lvl="0"/>
            <a:r>
              <a:rPr lang="it-IT" b="1" dirty="0"/>
              <a:t>Criteri di sospensione: </a:t>
            </a:r>
            <a:r>
              <a:rPr lang="it-IT" dirty="0"/>
              <a:t>Le attività di test verranno sospese nel momento in cui verrà individuato un “Bug Bloccante” che impedisce le funzionalità base dell’applicazione</a:t>
            </a:r>
          </a:p>
          <a:p>
            <a:pPr lvl="0"/>
            <a:r>
              <a:rPr lang="it-IT" b="1" dirty="0"/>
              <a:t>Criteri di ripresa:</a:t>
            </a:r>
            <a:r>
              <a:rPr lang="it-IT" dirty="0"/>
              <a:t> Le attività di test verranno riprese solamente dopo che suddetto bug verrà corretto. Un test sospeso sarà ritestato dall’inizio per verificare che durante la correzione non sono sorti altri problemi</a:t>
            </a:r>
          </a:p>
          <a:p>
            <a:endParaRPr lang="it-IT" dirty="0"/>
          </a:p>
        </p:txBody>
      </p:sp>
    </p:spTree>
    <p:extLst>
      <p:ext uri="{BB962C8B-B14F-4D97-AF65-F5344CB8AC3E}">
        <p14:creationId xmlns:p14="http://schemas.microsoft.com/office/powerpoint/2010/main" val="29861409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FC4F5D-BFD6-2A0C-A4A4-EB780ACBAAF8}"/>
              </a:ext>
            </a:extLst>
          </p:cNvPr>
          <p:cNvSpPr>
            <a:spLocks noGrp="1"/>
          </p:cNvSpPr>
          <p:nvPr>
            <p:ph type="title"/>
          </p:nvPr>
        </p:nvSpPr>
        <p:spPr/>
        <p:txBody>
          <a:bodyPr/>
          <a:lstStyle/>
          <a:p>
            <a:r>
              <a:rPr lang="it-IT" dirty="0"/>
              <a:t>Strumenti di test</a:t>
            </a:r>
          </a:p>
        </p:txBody>
      </p:sp>
      <p:sp>
        <p:nvSpPr>
          <p:cNvPr id="3" name="Segnaposto contenuto 2">
            <a:extLst>
              <a:ext uri="{FF2B5EF4-FFF2-40B4-BE49-F238E27FC236}">
                <a16:creationId xmlns:a16="http://schemas.microsoft.com/office/drawing/2014/main" id="{5109312E-E6E4-0D94-BBAA-D2E863EC2073}"/>
              </a:ext>
            </a:extLst>
          </p:cNvPr>
          <p:cNvSpPr>
            <a:spLocks noGrp="1"/>
          </p:cNvSpPr>
          <p:nvPr>
            <p:ph idx="1"/>
          </p:nvPr>
        </p:nvSpPr>
        <p:spPr/>
        <p:txBody>
          <a:bodyPr>
            <a:normAutofit fontScale="92500" lnSpcReduction="10000"/>
          </a:bodyPr>
          <a:lstStyle/>
          <a:p>
            <a:pPr lvl="0"/>
            <a:r>
              <a:rPr lang="it-IT" b="1" dirty="0"/>
              <a:t>Hardware: </a:t>
            </a:r>
            <a:r>
              <a:rPr lang="it-IT" dirty="0"/>
              <a:t>Qualsiasi macchinario o dispositivo in grado di permettere l’esecuzione e simulazione del server e del client</a:t>
            </a:r>
          </a:p>
          <a:p>
            <a:pPr lvl="0"/>
            <a:r>
              <a:rPr lang="it-IT" b="1" dirty="0"/>
              <a:t>Plugins/Software per il test:</a:t>
            </a:r>
            <a:r>
              <a:rPr lang="it-IT" dirty="0"/>
              <a:t> JUnit5, </a:t>
            </a:r>
            <a:r>
              <a:rPr lang="it-IT" dirty="0" err="1"/>
              <a:t>Mockito</a:t>
            </a:r>
            <a:r>
              <a:rPr lang="it-IT" dirty="0"/>
              <a:t> per l’esecuzione di </a:t>
            </a:r>
            <a:r>
              <a:rPr lang="it-IT" dirty="0" err="1"/>
              <a:t>unit</a:t>
            </a:r>
            <a:r>
              <a:rPr lang="it-IT" dirty="0"/>
              <a:t> ed </a:t>
            </a:r>
            <a:r>
              <a:rPr lang="it-IT" dirty="0" err="1"/>
              <a:t>integration</a:t>
            </a:r>
            <a:r>
              <a:rPr lang="it-IT" dirty="0"/>
              <a:t> test</a:t>
            </a:r>
          </a:p>
          <a:p>
            <a:pPr lvl="0"/>
            <a:r>
              <a:rPr lang="it-IT" b="1" dirty="0"/>
              <a:t>Server Software:</a:t>
            </a:r>
            <a:r>
              <a:rPr lang="it-IT" dirty="0"/>
              <a:t> Apache Tomcat 9.0 o superiore</a:t>
            </a:r>
          </a:p>
          <a:p>
            <a:pPr lvl="0"/>
            <a:r>
              <a:rPr lang="it-IT" b="1" dirty="0"/>
              <a:t>Database:</a:t>
            </a:r>
            <a:r>
              <a:rPr lang="it-IT" dirty="0"/>
              <a:t> MySQL Server</a:t>
            </a:r>
          </a:p>
          <a:p>
            <a:pPr lvl="0"/>
            <a:r>
              <a:rPr lang="it-IT" b="1" dirty="0"/>
              <a:t>Client software:</a:t>
            </a:r>
            <a:r>
              <a:rPr lang="it-IT" dirty="0"/>
              <a:t> Browser web moderni in grado di poter verificare la compatibilità e la responsività</a:t>
            </a:r>
          </a:p>
          <a:p>
            <a:pPr lvl="0"/>
            <a:r>
              <a:rPr lang="it-IT" b="1" dirty="0"/>
              <a:t>Dati di test:</a:t>
            </a:r>
            <a:r>
              <a:rPr lang="it-IT" dirty="0"/>
              <a:t> </a:t>
            </a:r>
            <a:r>
              <a:rPr lang="it-IT" dirty="0" err="1"/>
              <a:t>LaCantina</a:t>
            </a:r>
            <a:r>
              <a:rPr lang="it-IT" dirty="0"/>
              <a:t> DB per lo svolgimento ed il System/Installation testing per il gruppo di lavoro e </a:t>
            </a:r>
            <a:r>
              <a:rPr lang="it-IT" dirty="0" err="1"/>
              <a:t>LaCantina_test</a:t>
            </a:r>
            <a:r>
              <a:rPr lang="it-IT" dirty="0"/>
              <a:t> DB per </a:t>
            </a:r>
            <a:r>
              <a:rPr lang="it-IT" dirty="0" err="1"/>
              <a:t>unit</a:t>
            </a:r>
            <a:r>
              <a:rPr lang="it-IT" dirty="0"/>
              <a:t> ed </a:t>
            </a:r>
            <a:r>
              <a:rPr lang="it-IT" dirty="0" err="1"/>
              <a:t>integration</a:t>
            </a:r>
            <a:r>
              <a:rPr lang="it-IT" dirty="0"/>
              <a:t> test.</a:t>
            </a:r>
          </a:p>
          <a:p>
            <a:endParaRPr lang="it-IT" dirty="0"/>
          </a:p>
        </p:txBody>
      </p:sp>
    </p:spTree>
    <p:extLst>
      <p:ext uri="{BB962C8B-B14F-4D97-AF65-F5344CB8AC3E}">
        <p14:creationId xmlns:p14="http://schemas.microsoft.com/office/powerpoint/2010/main" val="1453771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EDAF588-5F58-6E82-3540-E93D274B4BA8}"/>
              </a:ext>
            </a:extLst>
          </p:cNvPr>
          <p:cNvSpPr>
            <a:spLocks noGrp="1"/>
          </p:cNvSpPr>
          <p:nvPr>
            <p:ph type="title"/>
          </p:nvPr>
        </p:nvSpPr>
        <p:spPr/>
        <p:txBody>
          <a:bodyPr/>
          <a:lstStyle/>
          <a:p>
            <a:r>
              <a:rPr lang="it-IT" dirty="0"/>
              <a:t>Approccio dei test</a:t>
            </a:r>
          </a:p>
        </p:txBody>
      </p:sp>
      <p:sp>
        <p:nvSpPr>
          <p:cNvPr id="3" name="Segnaposto contenuto 2">
            <a:extLst>
              <a:ext uri="{FF2B5EF4-FFF2-40B4-BE49-F238E27FC236}">
                <a16:creationId xmlns:a16="http://schemas.microsoft.com/office/drawing/2014/main" id="{0B33D5AA-79BE-01A4-85FA-C523DEED0A4F}"/>
              </a:ext>
            </a:extLst>
          </p:cNvPr>
          <p:cNvSpPr>
            <a:spLocks noGrp="1"/>
          </p:cNvSpPr>
          <p:nvPr>
            <p:ph idx="1"/>
          </p:nvPr>
        </p:nvSpPr>
        <p:spPr/>
        <p:txBody>
          <a:bodyPr/>
          <a:lstStyle/>
          <a:p>
            <a:pPr marL="342900" indent="-342900">
              <a:buFontTx/>
              <a:buChar char="-"/>
            </a:pPr>
            <a:r>
              <a:rPr lang="it-IT" b="1" dirty="0"/>
              <a:t>Bottom – up: </a:t>
            </a:r>
            <a:r>
              <a:rPr lang="it-IT" dirty="0"/>
              <a:t>Si verificheranno prima di tutto gli elementi compresi nei package </a:t>
            </a:r>
            <a:r>
              <a:rPr lang="it-IT" dirty="0" err="1"/>
              <a:t>unit</a:t>
            </a:r>
            <a:r>
              <a:rPr lang="it-IT" dirty="0"/>
              <a:t> e Domain (quindi DAO, domain e service), per poi passare al testing delle </a:t>
            </a:r>
            <a:r>
              <a:rPr lang="it-IT" dirty="0" err="1"/>
              <a:t>Servlet</a:t>
            </a:r>
            <a:endParaRPr lang="it-IT" dirty="0"/>
          </a:p>
          <a:p>
            <a:pPr marL="342900" indent="-342900">
              <a:buFontTx/>
              <a:buChar char="-"/>
            </a:pPr>
            <a:r>
              <a:rPr lang="it-IT" b="1" dirty="0"/>
              <a:t>System/</a:t>
            </a:r>
            <a:r>
              <a:rPr lang="it-IT" b="1" dirty="0" err="1"/>
              <a:t>Acceptance</a:t>
            </a:r>
            <a:r>
              <a:rPr lang="it-IT" b="1" dirty="0"/>
              <a:t>: </a:t>
            </a:r>
            <a:r>
              <a:rPr lang="it-IT" dirty="0"/>
              <a:t>Svolti manualmente dal team con l’implementazione delle funzioni durante la fase di sviluppo</a:t>
            </a:r>
            <a:endParaRPr lang="it-IT" b="1" dirty="0"/>
          </a:p>
          <a:p>
            <a:pPr marL="342900" indent="-342900">
              <a:buFontTx/>
              <a:buChar char="-"/>
            </a:pPr>
            <a:endParaRPr lang="it-IT" dirty="0"/>
          </a:p>
        </p:txBody>
      </p:sp>
    </p:spTree>
    <p:extLst>
      <p:ext uri="{BB962C8B-B14F-4D97-AF65-F5344CB8AC3E}">
        <p14:creationId xmlns:p14="http://schemas.microsoft.com/office/powerpoint/2010/main" val="29885491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75D1C3-8FD1-2546-212A-057C0DAEE6A9}"/>
              </a:ext>
            </a:extLst>
          </p:cNvPr>
          <p:cNvSpPr>
            <a:spLocks noGrp="1"/>
          </p:cNvSpPr>
          <p:nvPr>
            <p:ph type="title"/>
          </p:nvPr>
        </p:nvSpPr>
        <p:spPr/>
        <p:txBody>
          <a:bodyPr/>
          <a:lstStyle/>
          <a:p>
            <a:r>
              <a:rPr lang="it-IT" dirty="0"/>
              <a:t>Mappatura sottosistemi coperti</a:t>
            </a:r>
          </a:p>
        </p:txBody>
      </p:sp>
      <p:sp>
        <p:nvSpPr>
          <p:cNvPr id="3" name="Segnaposto contenuto 2">
            <a:extLst>
              <a:ext uri="{FF2B5EF4-FFF2-40B4-BE49-F238E27FC236}">
                <a16:creationId xmlns:a16="http://schemas.microsoft.com/office/drawing/2014/main" id="{4DD3C403-04B2-138B-2367-9A5FC978D29D}"/>
              </a:ext>
            </a:extLst>
          </p:cNvPr>
          <p:cNvSpPr>
            <a:spLocks noGrp="1"/>
          </p:cNvSpPr>
          <p:nvPr>
            <p:ph idx="1"/>
          </p:nvPr>
        </p:nvSpPr>
        <p:spPr/>
        <p:txBody>
          <a:bodyPr/>
          <a:lstStyle/>
          <a:p>
            <a:r>
              <a:rPr lang="it-IT" dirty="0"/>
              <a:t>La mappatura dei sottosistemi è coerente sia con i Use Cases specificati che con la divisione dei package (con dovute suddivisioni per favorire un testing corretto)</a:t>
            </a:r>
          </a:p>
          <a:p>
            <a:pPr marL="342900" indent="-342900">
              <a:buFontTx/>
              <a:buChar char="-"/>
            </a:pPr>
            <a:r>
              <a:rPr lang="it-IT" dirty="0"/>
              <a:t>UM: Login + Registrazione</a:t>
            </a:r>
          </a:p>
          <a:p>
            <a:pPr marL="342900" indent="-342900">
              <a:buFontTx/>
              <a:buChar char="-"/>
            </a:pPr>
            <a:r>
              <a:rPr lang="it-IT" dirty="0"/>
              <a:t>OM: Carrello + Order + Checkout</a:t>
            </a:r>
          </a:p>
          <a:p>
            <a:pPr marL="342900" indent="-342900">
              <a:buFontTx/>
              <a:buChar char="-"/>
            </a:pPr>
            <a:r>
              <a:rPr lang="it-IT" dirty="0"/>
              <a:t>CM: Catalogo + Filtro</a:t>
            </a:r>
          </a:p>
          <a:p>
            <a:pPr marL="342900" indent="-342900">
              <a:buFontTx/>
              <a:buChar char="-"/>
            </a:pPr>
            <a:r>
              <a:rPr lang="it-IT" dirty="0"/>
              <a:t>ADM: Funzioni ADMIN</a:t>
            </a:r>
          </a:p>
        </p:txBody>
      </p:sp>
    </p:spTree>
    <p:extLst>
      <p:ext uri="{BB962C8B-B14F-4D97-AF65-F5344CB8AC3E}">
        <p14:creationId xmlns:p14="http://schemas.microsoft.com/office/powerpoint/2010/main" val="28401514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0478B9-4AC4-6F35-624A-A3A2176A2C89}"/>
              </a:ext>
            </a:extLst>
          </p:cNvPr>
          <p:cNvSpPr>
            <a:spLocks noGrp="1"/>
          </p:cNvSpPr>
          <p:nvPr>
            <p:ph type="title"/>
          </p:nvPr>
        </p:nvSpPr>
        <p:spPr/>
        <p:txBody>
          <a:bodyPr/>
          <a:lstStyle/>
          <a:p>
            <a:r>
              <a:rPr lang="it-IT" dirty="0"/>
              <a:t>Esempi </a:t>
            </a:r>
            <a:r>
              <a:rPr lang="it-IT" dirty="0" err="1"/>
              <a:t>TestCases</a:t>
            </a:r>
            <a:r>
              <a:rPr lang="it-IT" dirty="0"/>
              <a:t> </a:t>
            </a:r>
            <a:r>
              <a:rPr lang="it-IT" dirty="0" err="1"/>
              <a:t>Specification</a:t>
            </a:r>
            <a:endParaRPr lang="it-IT" dirty="0"/>
          </a:p>
        </p:txBody>
      </p:sp>
      <p:sp>
        <p:nvSpPr>
          <p:cNvPr id="3" name="Segnaposto contenuto 2">
            <a:extLst>
              <a:ext uri="{FF2B5EF4-FFF2-40B4-BE49-F238E27FC236}">
                <a16:creationId xmlns:a16="http://schemas.microsoft.com/office/drawing/2014/main" id="{8A8708C5-97B2-AEE8-0274-74178E2CE15F}"/>
              </a:ext>
            </a:extLst>
          </p:cNvPr>
          <p:cNvSpPr>
            <a:spLocks noGrp="1"/>
          </p:cNvSpPr>
          <p:nvPr>
            <p:ph idx="1"/>
          </p:nvPr>
        </p:nvSpPr>
        <p:spPr/>
        <p:txBody>
          <a:bodyPr>
            <a:normAutofit fontScale="85000" lnSpcReduction="20000"/>
          </a:bodyPr>
          <a:lstStyle/>
          <a:p>
            <a:r>
              <a:rPr lang="it-IT" dirty="0"/>
              <a:t>I test case saranno divisi in:</a:t>
            </a:r>
          </a:p>
          <a:p>
            <a:pPr marL="457200" indent="-457200">
              <a:buAutoNum type="arabicParenR"/>
            </a:pPr>
            <a:r>
              <a:rPr lang="it-IT" dirty="0"/>
              <a:t>Test item: Gli item coinvolti nell’esecuzione del test ed in generale i vari item che si adoperano nei casi d’uso di quella determinata circostanza</a:t>
            </a:r>
          </a:p>
          <a:p>
            <a:pPr marL="457200" indent="-457200">
              <a:buAutoNum type="arabicParenR"/>
            </a:pPr>
            <a:r>
              <a:rPr lang="it-IT" dirty="0"/>
              <a:t>Classi di test: Dove è possibile verificare l’implementazione e ripetere i vari testing</a:t>
            </a:r>
          </a:p>
          <a:p>
            <a:pPr marL="457200" indent="-457200">
              <a:buAutoNum type="arabicParenR"/>
            </a:pPr>
            <a:r>
              <a:rPr lang="it-IT" dirty="0"/>
              <a:t>Test Frame: Le varie sottocategorie e la ulteriore suddivisione per azione precisa</a:t>
            </a:r>
          </a:p>
          <a:p>
            <a:pPr marL="457200" indent="-457200">
              <a:buAutoNum type="arabicParenR"/>
            </a:pPr>
            <a:r>
              <a:rPr lang="it-IT" dirty="0"/>
              <a:t>Output </a:t>
            </a:r>
            <a:r>
              <a:rPr lang="it-IT" dirty="0" err="1"/>
              <a:t>Specifiation</a:t>
            </a:r>
            <a:r>
              <a:rPr lang="it-IT" dirty="0"/>
              <a:t>: Gli output previsti</a:t>
            </a:r>
          </a:p>
          <a:p>
            <a:pPr marL="457200" indent="-457200">
              <a:buAutoNum type="arabicParenR"/>
            </a:pPr>
            <a:r>
              <a:rPr lang="it-IT" dirty="0" err="1"/>
              <a:t>Environmental</a:t>
            </a:r>
            <a:r>
              <a:rPr lang="it-IT" dirty="0"/>
              <a:t> </a:t>
            </a:r>
            <a:r>
              <a:rPr lang="it-IT" dirty="0" err="1"/>
              <a:t>needs</a:t>
            </a:r>
            <a:r>
              <a:rPr lang="it-IT" dirty="0"/>
              <a:t>: I requisiti necessari per poter eseguire il test</a:t>
            </a:r>
          </a:p>
          <a:p>
            <a:pPr marL="457200" indent="-457200">
              <a:buAutoNum type="arabicParenR"/>
            </a:pPr>
            <a:r>
              <a:rPr lang="it-IT" dirty="0"/>
              <a:t>Special </a:t>
            </a:r>
            <a:r>
              <a:rPr lang="it-IT" dirty="0" err="1"/>
              <a:t>Procedural</a:t>
            </a:r>
            <a:r>
              <a:rPr lang="it-IT" dirty="0"/>
              <a:t> </a:t>
            </a:r>
            <a:r>
              <a:rPr lang="it-IT" dirty="0" err="1"/>
              <a:t>requirement</a:t>
            </a:r>
            <a:r>
              <a:rPr lang="it-IT" dirty="0"/>
              <a:t>: Eventuali azioni da svolgere per la corretta esecuzione del test</a:t>
            </a:r>
          </a:p>
          <a:p>
            <a:pPr marL="457200" indent="-457200">
              <a:buAutoNum type="arabicParenR"/>
            </a:pPr>
            <a:r>
              <a:rPr lang="it-IT" dirty="0"/>
              <a:t>Dipendenze tra test: Se un test specifico ha bisogno del corretto funzionamento di altri casi di test per funzionare</a:t>
            </a:r>
          </a:p>
        </p:txBody>
      </p:sp>
    </p:spTree>
    <p:extLst>
      <p:ext uri="{BB962C8B-B14F-4D97-AF65-F5344CB8AC3E}">
        <p14:creationId xmlns:p14="http://schemas.microsoft.com/office/powerpoint/2010/main" val="6479778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9542B4B-70A5-4827-2DCD-936C2A7C2730}"/>
              </a:ext>
            </a:extLst>
          </p:cNvPr>
          <p:cNvSpPr>
            <a:spLocks noGrp="1"/>
          </p:cNvSpPr>
          <p:nvPr>
            <p:ph type="title"/>
          </p:nvPr>
        </p:nvSpPr>
        <p:spPr>
          <a:xfrm>
            <a:off x="525717" y="213631"/>
            <a:ext cx="10077557" cy="1325563"/>
          </a:xfrm>
        </p:spPr>
        <p:txBody>
          <a:bodyPr/>
          <a:lstStyle/>
          <a:p>
            <a:r>
              <a:rPr lang="it-IT" dirty="0"/>
              <a:t>Esempi di codice per i test</a:t>
            </a:r>
          </a:p>
        </p:txBody>
      </p:sp>
      <p:pic>
        <p:nvPicPr>
          <p:cNvPr id="10" name="Segnaposto contenuto 9" descr="Immagine che contiene testo, schermata&#10;&#10;Il contenuto generato dall'IA potrebbe non essere corretto.">
            <a:extLst>
              <a:ext uri="{FF2B5EF4-FFF2-40B4-BE49-F238E27FC236}">
                <a16:creationId xmlns:a16="http://schemas.microsoft.com/office/drawing/2014/main" id="{046C7051-65D5-9BFC-5885-1005E06467E6}"/>
              </a:ext>
            </a:extLst>
          </p:cNvPr>
          <p:cNvPicPr>
            <a:picLocks noGrp="1" noChangeAspect="1"/>
          </p:cNvPicPr>
          <p:nvPr>
            <p:ph sz="half" idx="2"/>
          </p:nvPr>
        </p:nvPicPr>
        <p:blipFill>
          <a:blip r:embed="rId2"/>
          <a:stretch>
            <a:fillRect/>
          </a:stretch>
        </p:blipFill>
        <p:spPr>
          <a:xfrm>
            <a:off x="5170869" y="2862404"/>
            <a:ext cx="6855514" cy="3655077"/>
          </a:xfrm>
          <a:prstGeom prst="rect">
            <a:avLst/>
          </a:prstGeom>
        </p:spPr>
      </p:pic>
      <p:pic>
        <p:nvPicPr>
          <p:cNvPr id="8" name="Immagine 7" descr="Immagine che contiene testo, schermata, software, Sistema operativo&#10;&#10;Il contenuto generato dall'IA potrebbe non essere corretto.">
            <a:extLst>
              <a:ext uri="{FF2B5EF4-FFF2-40B4-BE49-F238E27FC236}">
                <a16:creationId xmlns:a16="http://schemas.microsoft.com/office/drawing/2014/main" id="{36030F49-3DDE-914D-FD9D-A79244871749}"/>
              </a:ext>
            </a:extLst>
          </p:cNvPr>
          <p:cNvPicPr>
            <a:picLocks noChangeAspect="1"/>
          </p:cNvPicPr>
          <p:nvPr/>
        </p:nvPicPr>
        <p:blipFill>
          <a:blip r:embed="rId3"/>
          <a:stretch>
            <a:fillRect/>
          </a:stretch>
        </p:blipFill>
        <p:spPr>
          <a:xfrm>
            <a:off x="525717" y="2650727"/>
            <a:ext cx="4161191" cy="4207273"/>
          </a:xfrm>
          <a:prstGeom prst="rect">
            <a:avLst/>
          </a:prstGeom>
        </p:spPr>
      </p:pic>
    </p:spTree>
    <p:extLst>
      <p:ext uri="{BB962C8B-B14F-4D97-AF65-F5344CB8AC3E}">
        <p14:creationId xmlns:p14="http://schemas.microsoft.com/office/powerpoint/2010/main" val="28259177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3BBDB-1A45-AEB7-24A7-BC87A263B3C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319CDF8-8EEB-52E6-BF84-19BC79A5B995}"/>
              </a:ext>
            </a:extLst>
          </p:cNvPr>
          <p:cNvSpPr>
            <a:spLocks noGrp="1"/>
          </p:cNvSpPr>
          <p:nvPr>
            <p:ph type="title"/>
          </p:nvPr>
        </p:nvSpPr>
        <p:spPr>
          <a:xfrm>
            <a:off x="547008" y="455098"/>
            <a:ext cx="4884481" cy="2510921"/>
          </a:xfrm>
        </p:spPr>
        <p:txBody>
          <a:bodyPr vert="horz" lIns="91440" tIns="45720" rIns="91440" bIns="45720" rtlCol="0" anchor="b">
            <a:normAutofit/>
          </a:bodyPr>
          <a:lstStyle/>
          <a:p>
            <a:r>
              <a:rPr lang="en-US" sz="3700" dirty="0"/>
              <a:t>Test Cases</a:t>
            </a:r>
            <a:br>
              <a:rPr lang="en-US" sz="3700" dirty="0"/>
            </a:br>
            <a:r>
              <a:rPr lang="en-US" sz="3700" dirty="0"/>
              <a:t>1.	TC_UM_01 – </a:t>
            </a:r>
            <a:r>
              <a:rPr lang="en-US" sz="3700" dirty="0" err="1"/>
              <a:t>Validazione</a:t>
            </a:r>
            <a:r>
              <a:rPr lang="en-US" sz="3700" dirty="0"/>
              <a:t> campo email (UC1/UC2)</a:t>
            </a:r>
          </a:p>
        </p:txBody>
      </p:sp>
      <p:graphicFrame>
        <p:nvGraphicFramePr>
          <p:cNvPr id="4" name="Segnaposto contenuto 3">
            <a:extLst>
              <a:ext uri="{FF2B5EF4-FFF2-40B4-BE49-F238E27FC236}">
                <a16:creationId xmlns:a16="http://schemas.microsoft.com/office/drawing/2014/main" id="{2C0EDE44-AF4D-90FB-9C58-154502FBA714}"/>
              </a:ext>
            </a:extLst>
          </p:cNvPr>
          <p:cNvGraphicFramePr>
            <a:graphicFrameLocks noGrp="1"/>
          </p:cNvGraphicFramePr>
          <p:nvPr>
            <p:ph idx="1"/>
          </p:nvPr>
        </p:nvGraphicFramePr>
        <p:xfrm>
          <a:off x="5961842" y="1280036"/>
          <a:ext cx="5683150" cy="4297930"/>
        </p:xfrm>
        <a:graphic>
          <a:graphicData uri="http://schemas.openxmlformats.org/drawingml/2006/table">
            <a:tbl>
              <a:tblPr firstRow="1" firstCol="1" bandRow="1"/>
              <a:tblGrid>
                <a:gridCol w="1313687">
                  <a:extLst>
                    <a:ext uri="{9D8B030D-6E8A-4147-A177-3AD203B41FA5}">
                      <a16:colId xmlns:a16="http://schemas.microsoft.com/office/drawing/2014/main" val="166335695"/>
                    </a:ext>
                  </a:extLst>
                </a:gridCol>
                <a:gridCol w="1516099">
                  <a:extLst>
                    <a:ext uri="{9D8B030D-6E8A-4147-A177-3AD203B41FA5}">
                      <a16:colId xmlns:a16="http://schemas.microsoft.com/office/drawing/2014/main" val="1905072441"/>
                    </a:ext>
                  </a:extLst>
                </a:gridCol>
                <a:gridCol w="1442697">
                  <a:extLst>
                    <a:ext uri="{9D8B030D-6E8A-4147-A177-3AD203B41FA5}">
                      <a16:colId xmlns:a16="http://schemas.microsoft.com/office/drawing/2014/main" val="2911555483"/>
                    </a:ext>
                  </a:extLst>
                </a:gridCol>
                <a:gridCol w="1410667">
                  <a:extLst>
                    <a:ext uri="{9D8B030D-6E8A-4147-A177-3AD203B41FA5}">
                      <a16:colId xmlns:a16="http://schemas.microsoft.com/office/drawing/2014/main" val="944831539"/>
                    </a:ext>
                  </a:extLst>
                </a:gridCol>
              </a:tblGrid>
              <a:tr h="325286">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500" b="0" i="0" u="none" strike="noStrike">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Contesto</a:t>
                      </a:r>
                      <a:endParaRPr lang="it-IT" sz="2500" b="0" i="0" u="none" strike="noStrike">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Email</a:t>
                      </a:r>
                      <a:endParaRPr lang="it-IT" sz="2500" b="0" i="0" u="none" strike="noStrike">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500" b="0" i="0" u="none" strike="noStrike">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632589"/>
                  </a:ext>
                </a:extLst>
              </a:tr>
              <a:tr h="846667">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TF-UM-01</a:t>
                      </a:r>
                      <a:endParaRPr lang="it-IT" sz="2500" b="0" i="0" u="none" strike="noStrike" dirty="0">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Login</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Vuota </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Errore: Campo obbligatorio</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562948"/>
                  </a:ext>
                </a:extLst>
              </a:tr>
              <a:tr h="846667">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TF-UM-02</a:t>
                      </a:r>
                      <a:endParaRPr lang="it-IT" sz="2500" b="0" i="0" u="none" strike="noStrike" dirty="0">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Login</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Formato non valido</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Errore: formato non valido</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2903917"/>
                  </a:ext>
                </a:extLst>
              </a:tr>
              <a:tr h="585976">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TF-UM-03</a:t>
                      </a:r>
                      <a:endParaRPr lang="it-IT" sz="2500" b="0" i="0" u="none" strike="noStrike" dirty="0">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Login</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Formato valido</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Email accettata</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0085315"/>
                  </a:ext>
                </a:extLst>
              </a:tr>
              <a:tr h="846667">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TF-UM-04</a:t>
                      </a:r>
                      <a:endParaRPr lang="it-IT" sz="2500" b="0" i="0" u="none" strike="noStrike">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Registrazione</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Vuota</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Errore: campo obbligatorio</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8475843"/>
                  </a:ext>
                </a:extLst>
              </a:tr>
              <a:tr h="846667">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TF-UM-05</a:t>
                      </a:r>
                      <a:endParaRPr lang="it-IT" sz="2500" b="0" i="0" u="none" strike="noStrike" dirty="0">
                        <a:effectLst/>
                        <a:latin typeface="Arial" panose="020B0604020202020204" pitchFamily="34" charset="0"/>
                      </a:endParaRPr>
                    </a:p>
                  </a:txBody>
                  <a:tcPr marL="96091" marR="96091" marT="133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Registrazione</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Valida ma già presente nel DB</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Errore: email già </a:t>
                      </a:r>
                      <a:r>
                        <a:rPr lang="it-IT" sz="1500" b="0" i="0" u="none" strike="noStrike" kern="100" dirty="0" err="1">
                          <a:solidFill>
                            <a:srgbClr val="000000"/>
                          </a:solidFill>
                          <a:effectLst/>
                          <a:latin typeface="Times New Roman" panose="02020603050405020304" pitchFamily="18" charset="0"/>
                          <a:ea typeface="Times New Roman" panose="02020603050405020304" pitchFamily="18" charset="0"/>
                        </a:rPr>
                        <a:t>registratata</a:t>
                      </a:r>
                      <a:endParaRPr lang="it-IT" sz="2500" b="0" i="0" u="none" strike="noStrike" dirty="0">
                        <a:effectLst/>
                        <a:latin typeface="Arial" panose="020B0604020202020204" pitchFamily="34" charset="0"/>
                      </a:endParaRPr>
                    </a:p>
                  </a:txBody>
                  <a:tcPr marL="96091" marR="96091" marT="133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520958"/>
                  </a:ext>
                </a:extLst>
              </a:tr>
            </a:tbl>
          </a:graphicData>
        </a:graphic>
      </p:graphicFrame>
      <p:sp>
        <p:nvSpPr>
          <p:cNvPr id="5" name="CasellaDiTesto 4">
            <a:extLst>
              <a:ext uri="{FF2B5EF4-FFF2-40B4-BE49-F238E27FC236}">
                <a16:creationId xmlns:a16="http://schemas.microsoft.com/office/drawing/2014/main" id="{56CA306D-9E2B-3405-63AB-A49DCEBADB79}"/>
              </a:ext>
            </a:extLst>
          </p:cNvPr>
          <p:cNvSpPr txBox="1"/>
          <p:nvPr/>
        </p:nvSpPr>
        <p:spPr>
          <a:xfrm>
            <a:off x="547008" y="2966019"/>
            <a:ext cx="5033985" cy="3693319"/>
          </a:xfrm>
          <a:prstGeom prst="rect">
            <a:avLst/>
          </a:prstGeom>
          <a:noFill/>
        </p:spPr>
        <p:txBody>
          <a:bodyPr wrap="square">
            <a:spAutoFit/>
          </a:bodyPr>
          <a:lstStyle/>
          <a:p>
            <a:pPr lvl="1" fontAlgn="base"/>
            <a:r>
              <a:rPr lang="it-IT" b="1" i="1" dirty="0"/>
              <a:t>Test items</a:t>
            </a:r>
          </a:p>
          <a:p>
            <a:pPr lvl="0"/>
            <a:r>
              <a:rPr lang="it-IT" dirty="0"/>
              <a:t>UI: form Login/ form Registrazione</a:t>
            </a:r>
          </a:p>
          <a:p>
            <a:pPr lvl="0"/>
            <a:r>
              <a:rPr lang="it-IT" dirty="0"/>
              <a:t>Controller: </a:t>
            </a:r>
            <a:r>
              <a:rPr lang="it-IT" dirty="0" err="1"/>
              <a:t>LoginServlet</a:t>
            </a:r>
            <a:r>
              <a:rPr lang="it-IT" dirty="0"/>
              <a:t>, </a:t>
            </a:r>
            <a:r>
              <a:rPr lang="it-IT" dirty="0" err="1"/>
              <a:t>RegisterServlet</a:t>
            </a:r>
            <a:endParaRPr lang="it-IT" dirty="0"/>
          </a:p>
          <a:p>
            <a:pPr lvl="0"/>
            <a:r>
              <a:rPr lang="it-IT" dirty="0"/>
              <a:t>DAO: </a:t>
            </a:r>
            <a:r>
              <a:rPr lang="it-IT" dirty="0" err="1"/>
              <a:t>UtenteDAO</a:t>
            </a:r>
            <a:endParaRPr lang="it-IT" dirty="0"/>
          </a:p>
          <a:p>
            <a:pPr lvl="0"/>
            <a:r>
              <a:rPr lang="it-IT" dirty="0"/>
              <a:t>DB: tabella utenti</a:t>
            </a:r>
          </a:p>
          <a:p>
            <a:pPr lvl="0"/>
            <a:r>
              <a:rPr lang="it-IT" b="1" dirty="0"/>
              <a:t>Classi di test</a:t>
            </a:r>
          </a:p>
          <a:p>
            <a:pPr lvl="0"/>
            <a:r>
              <a:rPr lang="it-IT" dirty="0" err="1"/>
              <a:t>LoginServletIntegrationTest</a:t>
            </a:r>
            <a:endParaRPr lang="it-IT" dirty="0"/>
          </a:p>
          <a:p>
            <a:pPr lvl="1"/>
            <a:r>
              <a:rPr lang="it-IT" dirty="0"/>
              <a:t>TF_UM_01</a:t>
            </a:r>
          </a:p>
          <a:p>
            <a:pPr lvl="1"/>
            <a:r>
              <a:rPr lang="it-IT" dirty="0"/>
              <a:t>TF_UM_02</a:t>
            </a:r>
          </a:p>
          <a:p>
            <a:pPr lvl="1"/>
            <a:r>
              <a:rPr lang="it-IT" dirty="0"/>
              <a:t>TF_UM_03</a:t>
            </a:r>
          </a:p>
          <a:p>
            <a:pPr lvl="0"/>
            <a:r>
              <a:rPr lang="it-IT" dirty="0" err="1"/>
              <a:t>RegisterServletIntegrationTest</a:t>
            </a:r>
            <a:endParaRPr lang="it-IT" dirty="0"/>
          </a:p>
          <a:p>
            <a:pPr lvl="1"/>
            <a:r>
              <a:rPr lang="it-IT" dirty="0"/>
              <a:t>TF_UM_05</a:t>
            </a:r>
          </a:p>
          <a:p>
            <a:pPr lvl="1"/>
            <a:r>
              <a:rPr lang="it-IT" dirty="0"/>
              <a:t>TF_UM_04</a:t>
            </a:r>
          </a:p>
        </p:txBody>
      </p:sp>
    </p:spTree>
    <p:extLst>
      <p:ext uri="{BB962C8B-B14F-4D97-AF65-F5344CB8AC3E}">
        <p14:creationId xmlns:p14="http://schemas.microsoft.com/office/powerpoint/2010/main" val="10273307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9A0A6D2-CE0B-BDE4-C67D-02A6124249E5}"/>
            </a:ext>
          </a:extLst>
        </p:cNvPr>
        <p:cNvGrpSpPr/>
        <p:nvPr/>
      </p:nvGrpSpPr>
      <p:grpSpPr>
        <a:xfrm>
          <a:off x="0" y="0"/>
          <a:ext cx="0" cy="0"/>
          <a:chOff x="0" y="0"/>
          <a:chExt cx="0" cy="0"/>
        </a:xfrm>
      </p:grpSpPr>
      <p:sp>
        <p:nvSpPr>
          <p:cNvPr id="65" name="Freeform: Shape 11">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6" name="Group 13">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5" name="Freeform: Shape 14">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Freeform: Shape 16">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8"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Freeform: Shape 22">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8"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6"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7"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8"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1"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69" name="Rectangle 32">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4B982033-8C53-2B79-9F22-BCB24B183383}"/>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3100"/>
              <a:t>Test Cases</a:t>
            </a:r>
            <a:br>
              <a:rPr lang="en-US" sz="3100"/>
            </a:br>
            <a:r>
              <a:rPr lang="en-US" sz="3100"/>
              <a:t>2.	TC_UM_02 – Validazione password in registrazione (UC2)</a:t>
            </a:r>
          </a:p>
        </p:txBody>
      </p:sp>
      <p:sp>
        <p:nvSpPr>
          <p:cNvPr id="70" name="Freeform: Shape 34">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7"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8"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9"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0"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71"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72"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73" name="Freeform: Shape 44">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4" name="Group 46">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8" name="Freeform: Shape 47">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Freeform: Shape 49">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5"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6" name="Freeform: Shape 53">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7" name="Segnaposto contenuto 6">
            <a:extLst>
              <a:ext uri="{FF2B5EF4-FFF2-40B4-BE49-F238E27FC236}">
                <a16:creationId xmlns:a16="http://schemas.microsoft.com/office/drawing/2014/main" id="{C8AE2443-0F98-A54A-6DE2-51B14AA902F6}"/>
              </a:ext>
            </a:extLst>
          </p:cNvPr>
          <p:cNvGraphicFramePr>
            <a:graphicFrameLocks noGrp="1"/>
          </p:cNvGraphicFramePr>
          <p:nvPr>
            <p:ph idx="1"/>
            <p:extLst>
              <p:ext uri="{D42A27DB-BD31-4B8C-83A1-F6EECF244321}">
                <p14:modId xmlns:p14="http://schemas.microsoft.com/office/powerpoint/2010/main" val="1772114233"/>
              </p:ext>
            </p:extLst>
          </p:nvPr>
        </p:nvGraphicFramePr>
        <p:xfrm>
          <a:off x="5974872" y="1765014"/>
          <a:ext cx="5677186" cy="3258387"/>
        </p:xfrm>
        <a:graphic>
          <a:graphicData uri="http://schemas.openxmlformats.org/drawingml/2006/table">
            <a:tbl>
              <a:tblPr firstRow="1" firstCol="1" bandRow="1"/>
              <a:tblGrid>
                <a:gridCol w="1109655">
                  <a:extLst>
                    <a:ext uri="{9D8B030D-6E8A-4147-A177-3AD203B41FA5}">
                      <a16:colId xmlns:a16="http://schemas.microsoft.com/office/drawing/2014/main" val="2697650345"/>
                    </a:ext>
                  </a:extLst>
                </a:gridCol>
                <a:gridCol w="1488969">
                  <a:extLst>
                    <a:ext uri="{9D8B030D-6E8A-4147-A177-3AD203B41FA5}">
                      <a16:colId xmlns:a16="http://schemas.microsoft.com/office/drawing/2014/main" val="3691752740"/>
                    </a:ext>
                  </a:extLst>
                </a:gridCol>
                <a:gridCol w="1559453">
                  <a:extLst>
                    <a:ext uri="{9D8B030D-6E8A-4147-A177-3AD203B41FA5}">
                      <a16:colId xmlns:a16="http://schemas.microsoft.com/office/drawing/2014/main" val="2013347638"/>
                    </a:ext>
                  </a:extLst>
                </a:gridCol>
                <a:gridCol w="1519109">
                  <a:extLst>
                    <a:ext uri="{9D8B030D-6E8A-4147-A177-3AD203B41FA5}">
                      <a16:colId xmlns:a16="http://schemas.microsoft.com/office/drawing/2014/main" val="1967785486"/>
                    </a:ext>
                  </a:extLst>
                </a:gridCol>
              </a:tblGrid>
              <a:tr h="339064">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Email</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Password</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2446522"/>
                  </a:ext>
                </a:extLst>
              </a:tr>
              <a:tr h="882530">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TF-UM-06</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Valida non presente DB</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Vuota </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Errore: Campo obbligatorio</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8431272"/>
                  </a:ext>
                </a:extLst>
              </a:tr>
              <a:tr h="882530">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TF-UM-07</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Valida non presente DB</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Senza vincoli richiesti</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Errore: vincolo non rispettato</a:t>
                      </a:r>
                      <a:endParaRPr lang="it-IT" sz="2600" b="0" i="0" u="none" strike="noStrike" dirty="0">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748965"/>
                  </a:ext>
                </a:extLst>
              </a:tr>
              <a:tr h="1154263">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TF-UM-08</a:t>
                      </a:r>
                      <a:endParaRPr lang="it-IT" sz="2600" b="0" i="0" u="none" strike="noStrike">
                        <a:effectLst/>
                        <a:latin typeface="Arial" panose="020B0604020202020204" pitchFamily="34" charset="0"/>
                      </a:endParaRPr>
                    </a:p>
                  </a:txBody>
                  <a:tcPr marL="100161" marR="100161" marT="1391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Valida non presente DB</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Valida</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Password accettata, registrazione procede</a:t>
                      </a:r>
                      <a:endParaRPr lang="it-IT" sz="2600" b="0" i="0" u="none" strike="noStrike">
                        <a:effectLst/>
                        <a:latin typeface="Arial" panose="020B0604020202020204" pitchFamily="34" charset="0"/>
                      </a:endParaRPr>
                    </a:p>
                  </a:txBody>
                  <a:tcPr marL="100161" marR="100161" marT="1391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9884147"/>
                  </a:ext>
                </a:extLst>
              </a:tr>
            </a:tbl>
          </a:graphicData>
        </a:graphic>
      </p:graphicFrame>
      <p:sp>
        <p:nvSpPr>
          <p:cNvPr id="78" name="CasellaDiTesto 77">
            <a:extLst>
              <a:ext uri="{FF2B5EF4-FFF2-40B4-BE49-F238E27FC236}">
                <a16:creationId xmlns:a16="http://schemas.microsoft.com/office/drawing/2014/main" id="{A3DCD8EB-6BB9-0B71-AC9B-CDFA1084DD1C}"/>
              </a:ext>
            </a:extLst>
          </p:cNvPr>
          <p:cNvSpPr txBox="1"/>
          <p:nvPr/>
        </p:nvSpPr>
        <p:spPr>
          <a:xfrm>
            <a:off x="619103" y="3480333"/>
            <a:ext cx="6101254" cy="2308324"/>
          </a:xfrm>
          <a:prstGeom prst="rect">
            <a:avLst/>
          </a:prstGeom>
          <a:noFill/>
        </p:spPr>
        <p:txBody>
          <a:bodyPr wrap="square">
            <a:spAutoFit/>
          </a:bodyPr>
          <a:lstStyle/>
          <a:p>
            <a:pPr lvl="1" fontAlgn="base"/>
            <a:r>
              <a:rPr lang="it-IT" b="1" i="1" dirty="0"/>
              <a:t>Test items</a:t>
            </a:r>
          </a:p>
          <a:p>
            <a:pPr lvl="0"/>
            <a:r>
              <a:rPr lang="it-IT" dirty="0"/>
              <a:t>UI: form Registrazione</a:t>
            </a:r>
          </a:p>
          <a:p>
            <a:pPr lvl="0"/>
            <a:r>
              <a:rPr lang="it-IT" dirty="0"/>
              <a:t>Controller: </a:t>
            </a:r>
            <a:r>
              <a:rPr lang="it-IT" dirty="0" err="1"/>
              <a:t>RegisterServlet</a:t>
            </a:r>
            <a:endParaRPr lang="it-IT" dirty="0"/>
          </a:p>
          <a:p>
            <a:pPr lvl="0"/>
            <a:r>
              <a:rPr lang="it-IT" b="1" dirty="0"/>
              <a:t>Classi di test</a:t>
            </a:r>
          </a:p>
          <a:p>
            <a:pPr lvl="0"/>
            <a:r>
              <a:rPr lang="it-IT" dirty="0" err="1"/>
              <a:t>RegisterServletIntegrationTest</a:t>
            </a:r>
            <a:endParaRPr lang="it-IT" dirty="0"/>
          </a:p>
          <a:p>
            <a:pPr lvl="1"/>
            <a:r>
              <a:rPr lang="it-IT" dirty="0"/>
              <a:t>TF_UM_06</a:t>
            </a:r>
          </a:p>
          <a:p>
            <a:pPr lvl="1"/>
            <a:r>
              <a:rPr lang="it-IT" dirty="0"/>
              <a:t>TF_UM_07</a:t>
            </a:r>
          </a:p>
          <a:p>
            <a:pPr lvl="1"/>
            <a:r>
              <a:rPr lang="it-IT" dirty="0"/>
              <a:t>TF_UM_08</a:t>
            </a:r>
          </a:p>
        </p:txBody>
      </p:sp>
    </p:spTree>
    <p:extLst>
      <p:ext uri="{BB962C8B-B14F-4D97-AF65-F5344CB8AC3E}">
        <p14:creationId xmlns:p14="http://schemas.microsoft.com/office/powerpoint/2010/main" val="41813649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04E9F49-F4B3-9AB4-4E85-3BC19DF6C610}"/>
            </a:ext>
          </a:extLst>
        </p:cNvPr>
        <p:cNvGrpSpPr/>
        <p:nvPr/>
      </p:nvGrpSpPr>
      <p:grpSpPr>
        <a:xfrm>
          <a:off x="0" y="0"/>
          <a:ext cx="0" cy="0"/>
          <a:chOff x="0" y="0"/>
          <a:chExt cx="0" cy="0"/>
        </a:xfrm>
      </p:grpSpPr>
      <p:sp>
        <p:nvSpPr>
          <p:cNvPr id="12" name="Freeform: Shape 11">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5" name="Freeform: Shape 14">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Freeform: Shape 16">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8"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Freeform: Shape 22">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5"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6"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7"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8"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1"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3" name="Rectangle 32">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A8609960-36DC-24B7-4BC0-CF8DCAFA7A1C}"/>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2500"/>
              <a:t>Test Cases</a:t>
            </a:r>
            <a:br>
              <a:rPr lang="en-US" sz="2500"/>
            </a:br>
            <a:r>
              <a:rPr lang="en-US" sz="2500"/>
              <a:t>3.	TC_UM_03 – Login: credenziali corrette/errate e accesso admin (UC1, UC1.2, UC1.3)</a:t>
            </a:r>
          </a:p>
        </p:txBody>
      </p:sp>
      <p:sp>
        <p:nvSpPr>
          <p:cNvPr id="35" name="Freeform: Shape 34">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7"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8"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9"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0"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5" name="Freeform: Shape 44">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7" name="Group 46">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8" name="Freeform: Shape 47">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Freeform: Shape 49">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7" name="Segnaposto contenuto 6">
            <a:extLst>
              <a:ext uri="{FF2B5EF4-FFF2-40B4-BE49-F238E27FC236}">
                <a16:creationId xmlns:a16="http://schemas.microsoft.com/office/drawing/2014/main" id="{FC08D484-14BF-5C63-9A4F-FD8ACF11BBBA}"/>
              </a:ext>
            </a:extLst>
          </p:cNvPr>
          <p:cNvGraphicFramePr>
            <a:graphicFrameLocks noGrp="1"/>
          </p:cNvGraphicFramePr>
          <p:nvPr>
            <p:ph idx="1"/>
            <p:extLst>
              <p:ext uri="{D42A27DB-BD31-4B8C-83A1-F6EECF244321}">
                <p14:modId xmlns:p14="http://schemas.microsoft.com/office/powerpoint/2010/main" val="1311818175"/>
              </p:ext>
            </p:extLst>
          </p:nvPr>
        </p:nvGraphicFramePr>
        <p:xfrm>
          <a:off x="5974872" y="1353748"/>
          <a:ext cx="5677186" cy="4080919"/>
        </p:xfrm>
        <a:graphic>
          <a:graphicData uri="http://schemas.openxmlformats.org/drawingml/2006/table">
            <a:tbl>
              <a:tblPr firstRow="1" firstCol="1" bandRow="1"/>
              <a:tblGrid>
                <a:gridCol w="1349492">
                  <a:extLst>
                    <a:ext uri="{9D8B030D-6E8A-4147-A177-3AD203B41FA5}">
                      <a16:colId xmlns:a16="http://schemas.microsoft.com/office/drawing/2014/main" val="2273629106"/>
                    </a:ext>
                  </a:extLst>
                </a:gridCol>
                <a:gridCol w="1312018">
                  <a:extLst>
                    <a:ext uri="{9D8B030D-6E8A-4147-A177-3AD203B41FA5}">
                      <a16:colId xmlns:a16="http://schemas.microsoft.com/office/drawing/2014/main" val="4278852366"/>
                    </a:ext>
                  </a:extLst>
                </a:gridCol>
                <a:gridCol w="1338066">
                  <a:extLst>
                    <a:ext uri="{9D8B030D-6E8A-4147-A177-3AD203B41FA5}">
                      <a16:colId xmlns:a16="http://schemas.microsoft.com/office/drawing/2014/main" val="3999627482"/>
                    </a:ext>
                  </a:extLst>
                </a:gridCol>
                <a:gridCol w="1677610">
                  <a:extLst>
                    <a:ext uri="{9D8B030D-6E8A-4147-A177-3AD203B41FA5}">
                      <a16:colId xmlns:a16="http://schemas.microsoft.com/office/drawing/2014/main" val="2702113104"/>
                    </a:ext>
                  </a:extLst>
                </a:gridCol>
              </a:tblGrid>
              <a:tr h="334151">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Account</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Password</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6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1913339"/>
                  </a:ext>
                </a:extLst>
              </a:tr>
              <a:tr h="869743">
                <a:tc>
                  <a:txBody>
                    <a:bodyPr/>
                    <a:lstStyle/>
                    <a:p>
                      <a:pPr marL="82296" indent="-9144" algn="l" fontAlgn="t">
                        <a:lnSpc>
                          <a:spcPct val="111000"/>
                        </a:lnSpc>
                        <a:spcAft>
                          <a:spcPts val="65"/>
                        </a:spcAft>
                        <a:buNone/>
                      </a:pP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TF-UM-09</a:t>
                      </a:r>
                      <a:endParaRPr lang="it-IT" sz="2600" b="0" i="0" u="none" strike="noStrike" dirty="0">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Utente valido</a:t>
                      </a:r>
                      <a:endParaRPr lang="it-IT" sz="2600" b="0" i="0" u="none" strike="noStrike" dirty="0">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Corretta</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Login OK, redirect home utente</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8022046"/>
                  </a:ext>
                </a:extLst>
              </a:tr>
              <a:tr h="869743">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TF-UM-10</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Utente valido</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Errata</a:t>
                      </a:r>
                      <a:endParaRPr lang="it-IT" sz="2600" b="0" i="0" u="none" strike="noStrike" dirty="0">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Errore credenziali, resta su login</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4441519"/>
                  </a:ext>
                </a:extLst>
              </a:tr>
              <a:tr h="1137539">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TF-UM-11</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Admin valido</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Corretta</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Login OK, </a:t>
                      </a:r>
                      <a:r>
                        <a:rPr lang="it-IT" sz="1600" b="0" i="0" u="none" strike="noStrike" kern="100" dirty="0" err="1">
                          <a:solidFill>
                            <a:srgbClr val="000000"/>
                          </a:solidFill>
                          <a:effectLst/>
                          <a:latin typeface="Times New Roman" panose="02020603050405020304" pitchFamily="18" charset="0"/>
                          <a:ea typeface="Times New Roman" panose="02020603050405020304" pitchFamily="18" charset="0"/>
                        </a:rPr>
                        <a:t>redirect</a:t>
                      </a: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 area/dashboard admin</a:t>
                      </a:r>
                      <a:endParaRPr lang="it-IT" sz="2600" b="0" i="0" u="none" strike="noStrike" dirty="0">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0646820"/>
                  </a:ext>
                </a:extLst>
              </a:tr>
              <a:tr h="869743">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TF-UM-12</a:t>
                      </a:r>
                      <a:endParaRPr lang="it-IT" sz="2600" b="0" i="0" u="none" strike="noStrike">
                        <a:effectLst/>
                        <a:latin typeface="Arial" panose="020B0604020202020204" pitchFamily="34" charset="0"/>
                      </a:endParaRPr>
                    </a:p>
                  </a:txBody>
                  <a:tcPr marL="98710" marR="98710" marT="1371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Email inesistente</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a:solidFill>
                            <a:srgbClr val="000000"/>
                          </a:solidFill>
                          <a:effectLst/>
                          <a:latin typeface="Times New Roman" panose="02020603050405020304" pitchFamily="18" charset="0"/>
                          <a:ea typeface="Times New Roman" panose="02020603050405020304" pitchFamily="18" charset="0"/>
                        </a:rPr>
                        <a:t>Qualunque</a:t>
                      </a:r>
                      <a:endParaRPr lang="it-IT" sz="2600" b="0" i="0" u="none" strike="noStrike">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600" b="0" i="0" u="none" strike="noStrike" kern="100" dirty="0">
                          <a:solidFill>
                            <a:srgbClr val="000000"/>
                          </a:solidFill>
                          <a:effectLst/>
                          <a:latin typeface="Times New Roman" panose="02020603050405020304" pitchFamily="18" charset="0"/>
                          <a:ea typeface="Times New Roman" panose="02020603050405020304" pitchFamily="18" charset="0"/>
                        </a:rPr>
                        <a:t>Errore credenziali, resta su login</a:t>
                      </a:r>
                      <a:endParaRPr lang="it-IT" sz="2600" b="0" i="0" u="none" strike="noStrike" dirty="0">
                        <a:effectLst/>
                        <a:latin typeface="Arial" panose="020B0604020202020204" pitchFamily="34" charset="0"/>
                      </a:endParaRPr>
                    </a:p>
                  </a:txBody>
                  <a:tcPr marL="98710" marR="98710" marT="1371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9439927"/>
                  </a:ext>
                </a:extLst>
              </a:tr>
            </a:tbl>
          </a:graphicData>
        </a:graphic>
      </p:graphicFrame>
      <p:sp>
        <p:nvSpPr>
          <p:cNvPr id="11" name="CasellaDiTesto 10">
            <a:extLst>
              <a:ext uri="{FF2B5EF4-FFF2-40B4-BE49-F238E27FC236}">
                <a16:creationId xmlns:a16="http://schemas.microsoft.com/office/drawing/2014/main" id="{E770F86A-8DF5-A1CD-CB55-83B1AF217820}"/>
              </a:ext>
            </a:extLst>
          </p:cNvPr>
          <p:cNvSpPr txBox="1"/>
          <p:nvPr/>
        </p:nvSpPr>
        <p:spPr>
          <a:xfrm>
            <a:off x="529809" y="3308919"/>
            <a:ext cx="6101254" cy="3416320"/>
          </a:xfrm>
          <a:prstGeom prst="rect">
            <a:avLst/>
          </a:prstGeom>
          <a:noFill/>
        </p:spPr>
        <p:txBody>
          <a:bodyPr wrap="square">
            <a:spAutoFit/>
          </a:bodyPr>
          <a:lstStyle/>
          <a:p>
            <a:pPr lvl="1" fontAlgn="base"/>
            <a:r>
              <a:rPr lang="it-IT" b="1" i="1" dirty="0"/>
              <a:t>Test items</a:t>
            </a:r>
          </a:p>
          <a:p>
            <a:pPr lvl="0"/>
            <a:r>
              <a:rPr lang="it-IT" dirty="0"/>
              <a:t>UI: form Login</a:t>
            </a:r>
          </a:p>
          <a:p>
            <a:pPr lvl="0"/>
            <a:r>
              <a:rPr lang="it-IT" dirty="0"/>
              <a:t>Controller: </a:t>
            </a:r>
            <a:r>
              <a:rPr lang="it-IT" dirty="0" err="1"/>
              <a:t>LoginServlet</a:t>
            </a:r>
            <a:r>
              <a:rPr lang="it-IT" dirty="0"/>
              <a:t>,</a:t>
            </a:r>
          </a:p>
          <a:p>
            <a:pPr lvl="0"/>
            <a:r>
              <a:rPr lang="it-IT" dirty="0"/>
              <a:t>DAO: </a:t>
            </a:r>
            <a:r>
              <a:rPr lang="it-IT" dirty="0" err="1"/>
              <a:t>UtenteDAO</a:t>
            </a:r>
            <a:endParaRPr lang="it-IT" dirty="0"/>
          </a:p>
          <a:p>
            <a:pPr lvl="0"/>
            <a:r>
              <a:rPr lang="it-IT" dirty="0"/>
              <a:t>Sessione: creazione sessione autenticata e ruolo</a:t>
            </a:r>
          </a:p>
          <a:p>
            <a:pPr lvl="0"/>
            <a:r>
              <a:rPr lang="it-IT" dirty="0"/>
              <a:t>DB: tabella utenti</a:t>
            </a:r>
          </a:p>
          <a:p>
            <a:pPr lvl="0"/>
            <a:r>
              <a:rPr lang="it-IT" b="1" dirty="0"/>
              <a:t>Classi di test</a:t>
            </a:r>
          </a:p>
          <a:p>
            <a:pPr lvl="0"/>
            <a:r>
              <a:rPr lang="it-IT" dirty="0" err="1"/>
              <a:t>LoginServletIntegrationTest</a:t>
            </a:r>
            <a:endParaRPr lang="it-IT" dirty="0"/>
          </a:p>
          <a:p>
            <a:pPr lvl="1"/>
            <a:r>
              <a:rPr lang="it-IT" dirty="0"/>
              <a:t>TF_UM_09</a:t>
            </a:r>
          </a:p>
          <a:p>
            <a:pPr lvl="1"/>
            <a:r>
              <a:rPr lang="it-IT" dirty="0"/>
              <a:t>TF_UM_10</a:t>
            </a:r>
          </a:p>
          <a:p>
            <a:pPr lvl="1"/>
            <a:r>
              <a:rPr lang="it-IT" dirty="0"/>
              <a:t>TF_UM_11</a:t>
            </a:r>
          </a:p>
          <a:p>
            <a:pPr lvl="1"/>
            <a:r>
              <a:rPr lang="it-IT" dirty="0"/>
              <a:t>TF_UM_12</a:t>
            </a:r>
          </a:p>
        </p:txBody>
      </p:sp>
    </p:spTree>
    <p:extLst>
      <p:ext uri="{BB962C8B-B14F-4D97-AF65-F5344CB8AC3E}">
        <p14:creationId xmlns:p14="http://schemas.microsoft.com/office/powerpoint/2010/main" val="20661979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C05A8F-BD6B-6C25-41CE-FDB715A583FA}"/>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9" name="Freeform: Shape 28">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1"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2"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3"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4"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5"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6"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7"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9" name="Rectangle 38">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F56C63B0-7BDB-94F2-5458-A2C2D3AC3DDD}"/>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2800"/>
              <a:t>Test Cases</a:t>
            </a:r>
            <a:br>
              <a:rPr lang="en-US" sz="2800"/>
            </a:br>
            <a:r>
              <a:rPr lang="en-US" sz="2800"/>
              <a:t>4.	TC_CM_01 – Visualizzazione catalogo e dettaglio prodotto</a:t>
            </a:r>
          </a:p>
        </p:txBody>
      </p:sp>
      <p:sp>
        <p:nvSpPr>
          <p:cNvPr id="41" name="Freeform: Shape 40">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3"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44"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5"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6"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7"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8"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9"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51" name="Freeform: Shape 50">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3" name="Group 52">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4" name="Freeform: Shape 53">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5" name="Freeform: Shape 54">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6" name="Freeform: Shape 55">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7"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8"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9"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13" name="Segnaposto contenuto 12">
            <a:extLst>
              <a:ext uri="{FF2B5EF4-FFF2-40B4-BE49-F238E27FC236}">
                <a16:creationId xmlns:a16="http://schemas.microsoft.com/office/drawing/2014/main" id="{E3CF6EA2-3176-A9F5-A823-2ECCC57B6AF6}"/>
              </a:ext>
            </a:extLst>
          </p:cNvPr>
          <p:cNvGraphicFramePr>
            <a:graphicFrameLocks noGrp="1"/>
          </p:cNvGraphicFramePr>
          <p:nvPr>
            <p:ph idx="1"/>
            <p:extLst>
              <p:ext uri="{D42A27DB-BD31-4B8C-83A1-F6EECF244321}">
                <p14:modId xmlns:p14="http://schemas.microsoft.com/office/powerpoint/2010/main" val="1956823991"/>
              </p:ext>
            </p:extLst>
          </p:nvPr>
        </p:nvGraphicFramePr>
        <p:xfrm>
          <a:off x="5974872" y="1780584"/>
          <a:ext cx="5677187" cy="3227248"/>
        </p:xfrm>
        <a:graphic>
          <a:graphicData uri="http://schemas.openxmlformats.org/drawingml/2006/table">
            <a:tbl>
              <a:tblPr firstRow="1" firstCol="1" bandRow="1"/>
              <a:tblGrid>
                <a:gridCol w="1241249">
                  <a:extLst>
                    <a:ext uri="{9D8B030D-6E8A-4147-A177-3AD203B41FA5}">
                      <a16:colId xmlns:a16="http://schemas.microsoft.com/office/drawing/2014/main" val="2039457708"/>
                    </a:ext>
                  </a:extLst>
                </a:gridCol>
                <a:gridCol w="1215813">
                  <a:extLst>
                    <a:ext uri="{9D8B030D-6E8A-4147-A177-3AD203B41FA5}">
                      <a16:colId xmlns:a16="http://schemas.microsoft.com/office/drawing/2014/main" val="124103673"/>
                    </a:ext>
                  </a:extLst>
                </a:gridCol>
                <a:gridCol w="1241249">
                  <a:extLst>
                    <a:ext uri="{9D8B030D-6E8A-4147-A177-3AD203B41FA5}">
                      <a16:colId xmlns:a16="http://schemas.microsoft.com/office/drawing/2014/main" val="386746210"/>
                    </a:ext>
                  </a:extLst>
                </a:gridCol>
                <a:gridCol w="1978876">
                  <a:extLst>
                    <a:ext uri="{9D8B030D-6E8A-4147-A177-3AD203B41FA5}">
                      <a16:colId xmlns:a16="http://schemas.microsoft.com/office/drawing/2014/main" val="1068818338"/>
                    </a:ext>
                  </a:extLst>
                </a:gridCol>
              </a:tblGrid>
              <a:tr h="558393">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Stato catalogo</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ProductID</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5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2952952"/>
                  </a:ext>
                </a:extLst>
              </a:tr>
              <a:tr h="806812">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TF-CM-01</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Non vuoto</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Catalogo visibile + dettaglio completo prodotto</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7455176"/>
                  </a:ext>
                </a:extLst>
              </a:tr>
              <a:tr h="806812">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TF-CM-02</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Non vuoto</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Non esistente</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Errore “prodotto non trovato” o redirect controllato (no 500)</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1451753"/>
                  </a:ext>
                </a:extLst>
              </a:tr>
              <a:tr h="1055231">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TF-CM-03</a:t>
                      </a:r>
                      <a:endParaRPr lang="it-IT" sz="2400" b="0" i="0" u="none" strike="noStrike">
                        <a:effectLst/>
                        <a:latin typeface="Arial" panose="020B0604020202020204" pitchFamily="34" charset="0"/>
                      </a:endParaRPr>
                    </a:p>
                  </a:txBody>
                  <a:tcPr marL="91567" marR="91567" marT="12718"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Vuoto (se previsto)</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a:solidFill>
                            <a:srgbClr val="000000"/>
                          </a:solidFill>
                          <a:effectLst/>
                          <a:latin typeface="Times New Roman" panose="02020603050405020304" pitchFamily="18" charset="0"/>
                          <a:ea typeface="Times New Roman" panose="02020603050405020304" pitchFamily="18" charset="0"/>
                        </a:rPr>
                        <a:t>—</a:t>
                      </a:r>
                      <a:endParaRPr lang="it-IT" sz="2400" b="0" i="0" u="none" strike="noStrike">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500" b="0" i="0" u="none" strike="noStrike" kern="100" dirty="0">
                          <a:solidFill>
                            <a:srgbClr val="000000"/>
                          </a:solidFill>
                          <a:effectLst/>
                          <a:latin typeface="Times New Roman" panose="02020603050405020304" pitchFamily="18" charset="0"/>
                          <a:ea typeface="Times New Roman" panose="02020603050405020304" pitchFamily="18" charset="0"/>
                        </a:rPr>
                        <a:t>Catalogo vuoto (messaggio informativo / lista vuota)</a:t>
                      </a:r>
                      <a:endParaRPr lang="it-IT" sz="2400" b="0" i="0" u="none" strike="noStrike" dirty="0">
                        <a:effectLst/>
                        <a:latin typeface="Arial" panose="020B0604020202020204" pitchFamily="34" charset="0"/>
                      </a:endParaRPr>
                    </a:p>
                  </a:txBody>
                  <a:tcPr marL="91567" marR="91567" marT="12718"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8298926"/>
                  </a:ext>
                </a:extLst>
              </a:tr>
            </a:tbl>
          </a:graphicData>
        </a:graphic>
      </p:graphicFrame>
      <p:sp>
        <p:nvSpPr>
          <p:cNvPr id="15" name="CasellaDiTesto 14">
            <a:extLst>
              <a:ext uri="{FF2B5EF4-FFF2-40B4-BE49-F238E27FC236}">
                <a16:creationId xmlns:a16="http://schemas.microsoft.com/office/drawing/2014/main" id="{3B954B20-7B8C-2FE7-C10C-70F1AE70DE7A}"/>
              </a:ext>
            </a:extLst>
          </p:cNvPr>
          <p:cNvSpPr txBox="1"/>
          <p:nvPr/>
        </p:nvSpPr>
        <p:spPr>
          <a:xfrm>
            <a:off x="574353" y="3654903"/>
            <a:ext cx="6101254" cy="2862322"/>
          </a:xfrm>
          <a:prstGeom prst="rect">
            <a:avLst/>
          </a:prstGeom>
          <a:noFill/>
        </p:spPr>
        <p:txBody>
          <a:bodyPr wrap="square">
            <a:spAutoFit/>
          </a:bodyPr>
          <a:lstStyle/>
          <a:p>
            <a:pPr lvl="1" fontAlgn="base"/>
            <a:r>
              <a:rPr lang="it-IT" b="1" i="1" dirty="0"/>
              <a:t>Test items</a:t>
            </a:r>
          </a:p>
          <a:p>
            <a:pPr lvl="0"/>
            <a:r>
              <a:rPr lang="it-IT" dirty="0"/>
              <a:t>UI: pagina catalogo + pagina dettaglio prodotto</a:t>
            </a:r>
          </a:p>
          <a:p>
            <a:pPr lvl="0"/>
            <a:r>
              <a:rPr lang="it-IT" dirty="0"/>
              <a:t>Controller: </a:t>
            </a:r>
            <a:r>
              <a:rPr lang="it-IT" dirty="0" err="1"/>
              <a:t>Servlet</a:t>
            </a:r>
            <a:r>
              <a:rPr lang="it-IT" dirty="0"/>
              <a:t>/pagine JSP</a:t>
            </a:r>
          </a:p>
          <a:p>
            <a:pPr lvl="0"/>
            <a:r>
              <a:rPr lang="it-IT" dirty="0"/>
              <a:t>DAO: </a:t>
            </a:r>
            <a:r>
              <a:rPr lang="it-IT" dirty="0" err="1"/>
              <a:t>ProdottoDAO</a:t>
            </a:r>
            <a:endParaRPr lang="it-IT" dirty="0"/>
          </a:p>
          <a:p>
            <a:pPr lvl="0"/>
            <a:r>
              <a:rPr lang="it-IT" dirty="0"/>
              <a:t>DB: tabella prodotti</a:t>
            </a:r>
          </a:p>
          <a:p>
            <a:pPr lvl="0"/>
            <a:r>
              <a:rPr lang="it-IT" b="1" dirty="0"/>
              <a:t>Classi di test</a:t>
            </a:r>
          </a:p>
          <a:p>
            <a:pPr lvl="0"/>
            <a:r>
              <a:rPr lang="it-IT" dirty="0" err="1"/>
              <a:t>ProdottoDaoTest</a:t>
            </a:r>
            <a:endParaRPr lang="it-IT" dirty="0"/>
          </a:p>
          <a:p>
            <a:pPr lvl="1"/>
            <a:r>
              <a:rPr lang="it-IT" dirty="0"/>
              <a:t>TF_CM_01</a:t>
            </a:r>
          </a:p>
          <a:p>
            <a:pPr lvl="1"/>
            <a:r>
              <a:rPr lang="it-IT" dirty="0"/>
              <a:t>TF_CM_02</a:t>
            </a:r>
          </a:p>
          <a:p>
            <a:pPr lvl="1"/>
            <a:r>
              <a:rPr lang="it-IT" dirty="0"/>
              <a:t>TF_CM_03</a:t>
            </a:r>
          </a:p>
        </p:txBody>
      </p:sp>
    </p:spTree>
    <p:extLst>
      <p:ext uri="{BB962C8B-B14F-4D97-AF65-F5344CB8AC3E}">
        <p14:creationId xmlns:p14="http://schemas.microsoft.com/office/powerpoint/2010/main" val="26277411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34E2C3-09A0-8D9A-1464-F043CCB04E30}"/>
            </a:ext>
          </a:extLst>
        </p:cNvPr>
        <p:cNvGrpSpPr/>
        <p:nvPr/>
      </p:nvGrpSpPr>
      <p:grpSpPr>
        <a:xfrm>
          <a:off x="0" y="0"/>
          <a:ext cx="0" cy="0"/>
          <a:chOff x="0" y="0"/>
          <a:chExt cx="0" cy="0"/>
        </a:xfrm>
      </p:grpSpPr>
      <p:sp>
        <p:nvSpPr>
          <p:cNvPr id="14" name="Freeform: Shape 13">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6" name="Group 15">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7" name="Freeform: Shape 16">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8" name="Freeform: Shape 17">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9" name="Freeform: Shape 18">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0"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1"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2"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Freeform: Shape 24">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8"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9"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0"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1"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2"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3"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5" name="Rectangle 34">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B2F508B4-A734-5DE2-FA0C-B06E509CA37C}"/>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3400"/>
              <a:t>Test Cases</a:t>
            </a:r>
            <a:br>
              <a:rPr lang="en-US" sz="3400"/>
            </a:br>
            <a:r>
              <a:rPr lang="en-US" sz="3400"/>
              <a:t>5.	TC_CM_02 – Filtraggio prodotti per categoria</a:t>
            </a:r>
          </a:p>
        </p:txBody>
      </p:sp>
      <p:sp>
        <p:nvSpPr>
          <p:cNvPr id="37" name="Freeform: Shape 36">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9"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40"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1"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2"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5"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7" name="Freeform: Shape 46">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9" name="Group 48">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0" name="Freeform: Shape 49">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Freeform: Shape 50">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Freeform: Shape 51">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3"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4"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5"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9" name="Segnaposto contenuto 8">
            <a:extLst>
              <a:ext uri="{FF2B5EF4-FFF2-40B4-BE49-F238E27FC236}">
                <a16:creationId xmlns:a16="http://schemas.microsoft.com/office/drawing/2014/main" id="{6C41FC31-B2E2-F7DC-2438-9E48EB45F1DE}"/>
              </a:ext>
            </a:extLst>
          </p:cNvPr>
          <p:cNvGraphicFramePr>
            <a:graphicFrameLocks noGrp="1"/>
          </p:cNvGraphicFramePr>
          <p:nvPr>
            <p:ph idx="1"/>
            <p:extLst>
              <p:ext uri="{D42A27DB-BD31-4B8C-83A1-F6EECF244321}">
                <p14:modId xmlns:p14="http://schemas.microsoft.com/office/powerpoint/2010/main" val="2936402729"/>
              </p:ext>
            </p:extLst>
          </p:nvPr>
        </p:nvGraphicFramePr>
        <p:xfrm>
          <a:off x="5974872" y="843171"/>
          <a:ext cx="5677185" cy="5102073"/>
        </p:xfrm>
        <a:graphic>
          <a:graphicData uri="http://schemas.openxmlformats.org/drawingml/2006/table">
            <a:tbl>
              <a:tblPr firstRow="1" firstCol="1" bandRow="1"/>
              <a:tblGrid>
                <a:gridCol w="1672886">
                  <a:extLst>
                    <a:ext uri="{9D8B030D-6E8A-4147-A177-3AD203B41FA5}">
                      <a16:colId xmlns:a16="http://schemas.microsoft.com/office/drawing/2014/main" val="2881966335"/>
                    </a:ext>
                  </a:extLst>
                </a:gridCol>
                <a:gridCol w="1952614">
                  <a:extLst>
                    <a:ext uri="{9D8B030D-6E8A-4147-A177-3AD203B41FA5}">
                      <a16:colId xmlns:a16="http://schemas.microsoft.com/office/drawing/2014/main" val="676922293"/>
                    </a:ext>
                  </a:extLst>
                </a:gridCol>
                <a:gridCol w="2051685">
                  <a:extLst>
                    <a:ext uri="{9D8B030D-6E8A-4147-A177-3AD203B41FA5}">
                      <a16:colId xmlns:a16="http://schemas.microsoft.com/office/drawing/2014/main" val="235704544"/>
                    </a:ext>
                  </a:extLst>
                </a:gridCol>
              </a:tblGrid>
              <a:tr h="417765">
                <a:tc>
                  <a:txBody>
                    <a:bodyPr/>
                    <a:lstStyle/>
                    <a:p>
                      <a:pPr marL="82296" indent="-9144" algn="ctr" fontAlgn="t">
                        <a:lnSpc>
                          <a:spcPct val="111000"/>
                        </a:lnSpc>
                        <a:spcAft>
                          <a:spcPts val="65"/>
                        </a:spcAft>
                        <a:buNone/>
                      </a:pPr>
                      <a:r>
                        <a:rPr lang="it-IT" sz="20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2000" b="1" i="1" u="none" strike="noStrike" kern="100">
                          <a:solidFill>
                            <a:srgbClr val="000000"/>
                          </a:solidFill>
                          <a:effectLst/>
                          <a:latin typeface="Times New Roman" panose="02020603050405020304" pitchFamily="18" charset="0"/>
                          <a:ea typeface="Times New Roman" panose="02020603050405020304" pitchFamily="18" charset="0"/>
                        </a:rPr>
                        <a:t>Categoria</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20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592709"/>
                  </a:ext>
                </a:extLst>
              </a:tr>
              <a:tr h="1087376">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TF-CM-04</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Valida con prodotti</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Lista mostra solo prodotti della categoria</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1744174"/>
                  </a:ext>
                </a:extLst>
              </a:tr>
              <a:tr h="1422181">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TF-CM-05</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Valida senza prodotti</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Lista vuota + messaggio informativo (se previsto)</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757134"/>
                  </a:ext>
                </a:extLst>
              </a:tr>
              <a:tr h="752570">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TF-CM-06</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Tutte/nessuna</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Lista completa prodotti</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3235254"/>
                  </a:ext>
                </a:extLst>
              </a:tr>
              <a:tr h="1422181">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TF-CM-07</a:t>
                      </a:r>
                      <a:endParaRPr lang="it-IT" sz="3200" b="0" i="0" u="none" strike="noStrike">
                        <a:effectLst/>
                        <a:latin typeface="Arial" panose="020B0604020202020204" pitchFamily="34" charset="0"/>
                      </a:endParaRPr>
                    </a:p>
                  </a:txBody>
                  <a:tcPr marL="123410" marR="123410" marT="171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a:solidFill>
                            <a:srgbClr val="000000"/>
                          </a:solidFill>
                          <a:effectLst/>
                          <a:latin typeface="Times New Roman" panose="02020603050405020304" pitchFamily="18" charset="0"/>
                          <a:ea typeface="Times New Roman" panose="02020603050405020304" pitchFamily="18" charset="0"/>
                        </a:rPr>
                        <a:t>Non valida</a:t>
                      </a:r>
                      <a:endParaRPr lang="it-IT" sz="3200" b="0" i="0" u="none" strike="noStrike">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2000" b="0" i="0" u="none" strike="noStrike" kern="100" dirty="0">
                          <a:solidFill>
                            <a:srgbClr val="000000"/>
                          </a:solidFill>
                          <a:effectLst/>
                          <a:latin typeface="Times New Roman" panose="02020603050405020304" pitchFamily="18" charset="0"/>
                          <a:ea typeface="Times New Roman" panose="02020603050405020304" pitchFamily="18" charset="0"/>
                        </a:rPr>
                        <a:t>Gestione controllata (</a:t>
                      </a:r>
                      <a:r>
                        <a:rPr lang="it-IT" sz="2000" b="0" i="0" u="none" strike="noStrike" kern="100" dirty="0" err="1">
                          <a:solidFill>
                            <a:srgbClr val="000000"/>
                          </a:solidFill>
                          <a:effectLst/>
                          <a:latin typeface="Times New Roman" panose="02020603050405020304" pitchFamily="18" charset="0"/>
                          <a:ea typeface="Times New Roman" panose="02020603050405020304" pitchFamily="18" charset="0"/>
                        </a:rPr>
                        <a:t>fallback</a:t>
                      </a:r>
                      <a:r>
                        <a:rPr lang="it-IT" sz="2000" b="0" i="0" u="none" strike="noStrike" kern="100" dirty="0">
                          <a:solidFill>
                            <a:srgbClr val="000000"/>
                          </a:solidFill>
                          <a:effectLst/>
                          <a:latin typeface="Times New Roman" panose="02020603050405020304" pitchFamily="18" charset="0"/>
                          <a:ea typeface="Times New Roman" panose="02020603050405020304" pitchFamily="18" charset="0"/>
                        </a:rPr>
                        <a:t> o errore), no crash</a:t>
                      </a:r>
                      <a:endParaRPr lang="it-IT" sz="3200" b="0" i="0" u="none" strike="noStrike" dirty="0">
                        <a:effectLst/>
                        <a:latin typeface="Arial" panose="020B0604020202020204" pitchFamily="34" charset="0"/>
                      </a:endParaRPr>
                    </a:p>
                  </a:txBody>
                  <a:tcPr marL="123410" marR="123410" marT="171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8277429"/>
                  </a:ext>
                </a:extLst>
              </a:tr>
            </a:tbl>
          </a:graphicData>
        </a:graphic>
      </p:graphicFrame>
      <p:sp>
        <p:nvSpPr>
          <p:cNvPr id="11" name="CasellaDiTesto 10">
            <a:extLst>
              <a:ext uri="{FF2B5EF4-FFF2-40B4-BE49-F238E27FC236}">
                <a16:creationId xmlns:a16="http://schemas.microsoft.com/office/drawing/2014/main" id="{FFCC4709-0D2B-F9E4-CCC4-FF60CDD05750}"/>
              </a:ext>
            </a:extLst>
          </p:cNvPr>
          <p:cNvSpPr txBox="1"/>
          <p:nvPr/>
        </p:nvSpPr>
        <p:spPr>
          <a:xfrm>
            <a:off x="530225" y="3675780"/>
            <a:ext cx="6101254" cy="923330"/>
          </a:xfrm>
          <a:prstGeom prst="rect">
            <a:avLst/>
          </a:prstGeom>
          <a:noFill/>
        </p:spPr>
        <p:txBody>
          <a:bodyPr wrap="square">
            <a:spAutoFit/>
          </a:bodyPr>
          <a:lstStyle/>
          <a:p>
            <a:pPr lvl="1" fontAlgn="base"/>
            <a:r>
              <a:rPr lang="it-IT" b="1" i="1" dirty="0"/>
              <a:t>Test items</a:t>
            </a:r>
          </a:p>
          <a:p>
            <a:pPr lvl="0"/>
            <a:r>
              <a:rPr lang="it-IT" dirty="0"/>
              <a:t>DAO: </a:t>
            </a:r>
            <a:r>
              <a:rPr lang="it-IT" dirty="0" err="1"/>
              <a:t>ProdottoDao</a:t>
            </a:r>
            <a:endParaRPr lang="it-IT" dirty="0"/>
          </a:p>
          <a:p>
            <a:pPr lvl="0"/>
            <a:r>
              <a:rPr lang="it-IT" dirty="0"/>
              <a:t>UI: filtro</a:t>
            </a:r>
          </a:p>
        </p:txBody>
      </p:sp>
    </p:spTree>
    <p:extLst>
      <p:ext uri="{BB962C8B-B14F-4D97-AF65-F5344CB8AC3E}">
        <p14:creationId xmlns:p14="http://schemas.microsoft.com/office/powerpoint/2010/main" val="39267980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21F9C1E-F5CA-0D66-E80A-79E29FF0CA60}"/>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3" name="Group 1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4" name="Freeform: Shape 1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5"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6"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7"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2" name="Rectangle 3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AC9DAE76-0470-3698-E20B-198FA78EFF1F}"/>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3400"/>
              <a:t>Test Cases</a:t>
            </a:r>
            <a:br>
              <a:rPr lang="en-US" sz="3400"/>
            </a:br>
            <a:r>
              <a:rPr lang="en-US" sz="3400"/>
              <a:t>6.	TC_OM_01 – Aggiunta/rimozione prodotti dal carrello</a:t>
            </a:r>
          </a:p>
        </p:txBody>
      </p:sp>
      <p:sp>
        <p:nvSpPr>
          <p:cNvPr id="34" name="Freeform: Shape 33">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6"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8"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9"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4" name="Freeform: Shape 43">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6" name="Group 45">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7" name="Freeform: Shape 46">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8" name="Freeform: Shape 47">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1"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Segnaposto contenuto 5">
            <a:extLst>
              <a:ext uri="{FF2B5EF4-FFF2-40B4-BE49-F238E27FC236}">
                <a16:creationId xmlns:a16="http://schemas.microsoft.com/office/drawing/2014/main" id="{78138E7F-6056-D61F-8FC0-D09B7874B20C}"/>
              </a:ext>
            </a:extLst>
          </p:cNvPr>
          <p:cNvGraphicFramePr>
            <a:graphicFrameLocks noGrp="1"/>
          </p:cNvGraphicFramePr>
          <p:nvPr>
            <p:ph idx="1"/>
            <p:extLst>
              <p:ext uri="{D42A27DB-BD31-4B8C-83A1-F6EECF244321}">
                <p14:modId xmlns:p14="http://schemas.microsoft.com/office/powerpoint/2010/main" val="3085340869"/>
              </p:ext>
            </p:extLst>
          </p:nvPr>
        </p:nvGraphicFramePr>
        <p:xfrm>
          <a:off x="5974872" y="703876"/>
          <a:ext cx="5677186" cy="5380665"/>
        </p:xfrm>
        <a:graphic>
          <a:graphicData uri="http://schemas.openxmlformats.org/drawingml/2006/table">
            <a:tbl>
              <a:tblPr firstRow="1" firstCol="1" bandRow="1"/>
              <a:tblGrid>
                <a:gridCol w="1486630">
                  <a:extLst>
                    <a:ext uri="{9D8B030D-6E8A-4147-A177-3AD203B41FA5}">
                      <a16:colId xmlns:a16="http://schemas.microsoft.com/office/drawing/2014/main" val="3212799258"/>
                    </a:ext>
                  </a:extLst>
                </a:gridCol>
                <a:gridCol w="1295327">
                  <a:extLst>
                    <a:ext uri="{9D8B030D-6E8A-4147-A177-3AD203B41FA5}">
                      <a16:colId xmlns:a16="http://schemas.microsoft.com/office/drawing/2014/main" val="4096997134"/>
                    </a:ext>
                  </a:extLst>
                </a:gridCol>
                <a:gridCol w="1239950">
                  <a:extLst>
                    <a:ext uri="{9D8B030D-6E8A-4147-A177-3AD203B41FA5}">
                      <a16:colId xmlns:a16="http://schemas.microsoft.com/office/drawing/2014/main" val="1075026361"/>
                    </a:ext>
                  </a:extLst>
                </a:gridCol>
                <a:gridCol w="1655279">
                  <a:extLst>
                    <a:ext uri="{9D8B030D-6E8A-4147-A177-3AD203B41FA5}">
                      <a16:colId xmlns:a16="http://schemas.microsoft.com/office/drawing/2014/main" val="2637865474"/>
                    </a:ext>
                  </a:extLst>
                </a:gridCol>
              </a:tblGrid>
              <a:tr h="663119">
                <a:tc>
                  <a:txBody>
                    <a:bodyPr/>
                    <a:lstStyle/>
                    <a:p>
                      <a:pPr marL="82296" indent="-9144" algn="ctr" fontAlgn="t">
                        <a:lnSpc>
                          <a:spcPct val="111000"/>
                        </a:lnSpc>
                        <a:spcAft>
                          <a:spcPts val="65"/>
                        </a:spcAft>
                        <a:buNone/>
                      </a:pPr>
                      <a:r>
                        <a:rPr lang="it-IT" sz="17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700" b="1" i="1" u="none" strike="noStrike" kern="100">
                          <a:solidFill>
                            <a:srgbClr val="000000"/>
                          </a:solidFill>
                          <a:effectLst/>
                          <a:latin typeface="Times New Roman" panose="02020603050405020304" pitchFamily="18" charset="0"/>
                          <a:ea typeface="Times New Roman" panose="02020603050405020304" pitchFamily="18" charset="0"/>
                        </a:rPr>
                        <a:t>Stato carrello</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700" b="1" i="1" u="none" strike="noStrike" kern="100">
                          <a:solidFill>
                            <a:srgbClr val="000000"/>
                          </a:solidFill>
                          <a:effectLst/>
                          <a:latin typeface="Times New Roman" panose="02020603050405020304" pitchFamily="18" charset="0"/>
                          <a:ea typeface="Times New Roman" panose="02020603050405020304" pitchFamily="18" charset="0"/>
                        </a:rPr>
                        <a:t>Azione</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7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718151"/>
                  </a:ext>
                </a:extLst>
              </a:tr>
              <a:tr h="958129">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TF-OM-01</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Vuoto</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Add</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Riga creata, qty=1, totale aggiornato</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8860650"/>
                  </a:ext>
                </a:extLst>
              </a:tr>
              <a:tr h="1253139">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TF-OM-02</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Contiene prodotto</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Add</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Qty incrementa, totale aggiornato</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4577161"/>
                  </a:ext>
                </a:extLst>
              </a:tr>
              <a:tr h="1253139">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TF-OM-03</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Contiene prodotto (qty=1)</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Remove</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Riga rimossa (qty→0), totale aggiornato</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1608024"/>
                  </a:ext>
                </a:extLst>
              </a:tr>
              <a:tr h="1253139">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TF-OM-04</a:t>
                      </a:r>
                      <a:endParaRPr lang="it-IT" sz="2900" b="0" i="0" u="none" strike="noStrike">
                        <a:effectLst/>
                        <a:latin typeface="Arial" panose="020B0604020202020204" pitchFamily="34" charset="0"/>
                      </a:endParaRPr>
                    </a:p>
                  </a:txBody>
                  <a:tcPr marL="108741" marR="108741" marT="15103"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Contiene prodotto (qty&gt;1)</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a:solidFill>
                            <a:srgbClr val="000000"/>
                          </a:solidFill>
                          <a:effectLst/>
                          <a:latin typeface="Times New Roman" panose="02020603050405020304" pitchFamily="18" charset="0"/>
                          <a:ea typeface="Times New Roman" panose="02020603050405020304" pitchFamily="18" charset="0"/>
                        </a:rPr>
                        <a:t>Remove</a:t>
                      </a:r>
                      <a:endParaRPr lang="it-IT" sz="2900" b="0" i="0" u="none" strike="noStrike">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700" b="0" i="0" u="none" strike="noStrike" kern="100" dirty="0" err="1">
                          <a:solidFill>
                            <a:srgbClr val="000000"/>
                          </a:solidFill>
                          <a:effectLst/>
                          <a:latin typeface="Times New Roman" panose="02020603050405020304" pitchFamily="18" charset="0"/>
                          <a:ea typeface="Times New Roman" panose="02020603050405020304" pitchFamily="18" charset="0"/>
                        </a:rPr>
                        <a:t>Qty</a:t>
                      </a:r>
                      <a:r>
                        <a:rPr lang="it-IT" sz="1700" b="0" i="0" u="none" strike="noStrike" kern="100" dirty="0">
                          <a:solidFill>
                            <a:srgbClr val="000000"/>
                          </a:solidFill>
                          <a:effectLst/>
                          <a:latin typeface="Times New Roman" panose="02020603050405020304" pitchFamily="18" charset="0"/>
                          <a:ea typeface="Times New Roman" panose="02020603050405020304" pitchFamily="18" charset="0"/>
                        </a:rPr>
                        <a:t> decrementa, totale aggiornato</a:t>
                      </a:r>
                      <a:endParaRPr lang="it-IT" sz="2900" b="0" i="0" u="none" strike="noStrike" dirty="0">
                        <a:effectLst/>
                        <a:latin typeface="Arial" panose="020B0604020202020204" pitchFamily="34" charset="0"/>
                      </a:endParaRPr>
                    </a:p>
                  </a:txBody>
                  <a:tcPr marL="108741" marR="108741" marT="15103"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240391"/>
                  </a:ext>
                </a:extLst>
              </a:tr>
            </a:tbl>
          </a:graphicData>
        </a:graphic>
      </p:graphicFrame>
      <p:sp>
        <p:nvSpPr>
          <p:cNvPr id="8" name="CasellaDiTesto 7">
            <a:extLst>
              <a:ext uri="{FF2B5EF4-FFF2-40B4-BE49-F238E27FC236}">
                <a16:creationId xmlns:a16="http://schemas.microsoft.com/office/drawing/2014/main" id="{D0A27EE8-47E2-A37E-ACFA-BA3D05EA4F9A}"/>
              </a:ext>
            </a:extLst>
          </p:cNvPr>
          <p:cNvSpPr txBox="1"/>
          <p:nvPr/>
        </p:nvSpPr>
        <p:spPr>
          <a:xfrm>
            <a:off x="529809" y="3290445"/>
            <a:ext cx="6101254" cy="3416320"/>
          </a:xfrm>
          <a:prstGeom prst="rect">
            <a:avLst/>
          </a:prstGeom>
          <a:noFill/>
        </p:spPr>
        <p:txBody>
          <a:bodyPr wrap="square">
            <a:spAutoFit/>
          </a:bodyPr>
          <a:lstStyle/>
          <a:p>
            <a:pPr lvl="1" fontAlgn="base"/>
            <a:r>
              <a:rPr lang="it-IT" b="1" i="1" dirty="0"/>
              <a:t>Test items</a:t>
            </a:r>
          </a:p>
          <a:p>
            <a:pPr lvl="0"/>
            <a:r>
              <a:rPr lang="it-IT" dirty="0"/>
              <a:t>UI: pulsante </a:t>
            </a:r>
            <a:r>
              <a:rPr lang="it-IT" dirty="0" err="1"/>
              <a:t>add</a:t>
            </a:r>
            <a:r>
              <a:rPr lang="it-IT" dirty="0"/>
              <a:t>/</a:t>
            </a:r>
            <a:r>
              <a:rPr lang="it-IT" dirty="0" err="1"/>
              <a:t>remove</a:t>
            </a:r>
            <a:r>
              <a:rPr lang="it-IT" dirty="0"/>
              <a:t> quantità/prodotto</a:t>
            </a:r>
          </a:p>
          <a:p>
            <a:pPr lvl="0"/>
            <a:r>
              <a:rPr lang="it-IT" dirty="0"/>
              <a:t>Controller: </a:t>
            </a:r>
            <a:r>
              <a:rPr lang="it-IT" dirty="0" err="1"/>
              <a:t>AddToCartServlet</a:t>
            </a:r>
            <a:r>
              <a:rPr lang="it-IT" dirty="0"/>
              <a:t>, </a:t>
            </a:r>
            <a:r>
              <a:rPr lang="it-IT" dirty="0" err="1"/>
              <a:t>RemoveFromCartServlet</a:t>
            </a:r>
            <a:r>
              <a:rPr lang="it-IT" dirty="0"/>
              <a:t>, </a:t>
            </a:r>
            <a:r>
              <a:rPr lang="it-IT" dirty="0" err="1"/>
              <a:t>QuantityIncDecServlet</a:t>
            </a:r>
            <a:endParaRPr lang="it-IT" dirty="0"/>
          </a:p>
          <a:p>
            <a:pPr lvl="0"/>
            <a:r>
              <a:rPr lang="it-IT" dirty="0"/>
              <a:t>DAO: </a:t>
            </a:r>
            <a:r>
              <a:rPr lang="it-IT" dirty="0" err="1"/>
              <a:t>UtenteDAO</a:t>
            </a:r>
            <a:endParaRPr lang="it-IT" dirty="0"/>
          </a:p>
          <a:p>
            <a:pPr lvl="0"/>
            <a:r>
              <a:rPr lang="it-IT" b="1" dirty="0"/>
              <a:t>Classi di test</a:t>
            </a:r>
          </a:p>
          <a:p>
            <a:pPr lvl="0"/>
            <a:r>
              <a:rPr lang="it-IT" dirty="0" err="1"/>
              <a:t>CarrelloServletIntegrationTest</a:t>
            </a:r>
            <a:endParaRPr lang="it-IT" dirty="0"/>
          </a:p>
          <a:p>
            <a:pPr lvl="1"/>
            <a:r>
              <a:rPr lang="it-IT" dirty="0"/>
              <a:t>TF_OM_01</a:t>
            </a:r>
          </a:p>
          <a:p>
            <a:pPr lvl="1"/>
            <a:r>
              <a:rPr lang="it-IT" dirty="0"/>
              <a:t>TF_OM_02</a:t>
            </a:r>
          </a:p>
          <a:p>
            <a:pPr lvl="1"/>
            <a:r>
              <a:rPr lang="it-IT" dirty="0"/>
              <a:t>TF_OM_03</a:t>
            </a:r>
          </a:p>
          <a:p>
            <a:pPr lvl="1"/>
            <a:r>
              <a:rPr lang="it-IT" dirty="0"/>
              <a:t>TF_OM_04</a:t>
            </a:r>
          </a:p>
          <a:p>
            <a:pPr lvl="0"/>
            <a:r>
              <a:rPr lang="it-IT" dirty="0" err="1"/>
              <a:t>CarrelloServiceTest</a:t>
            </a:r>
            <a:endParaRPr lang="it-IT" dirty="0"/>
          </a:p>
        </p:txBody>
      </p:sp>
    </p:spTree>
    <p:extLst>
      <p:ext uri="{BB962C8B-B14F-4D97-AF65-F5344CB8AC3E}">
        <p14:creationId xmlns:p14="http://schemas.microsoft.com/office/powerpoint/2010/main" val="41342878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2CFDF9E-0BBE-8DB5-214C-4490C98A13FD}"/>
            </a:ext>
          </a:extLst>
        </p:cNvPr>
        <p:cNvGrpSpPr/>
        <p:nvPr/>
      </p:nvGrpSpPr>
      <p:grpSpPr>
        <a:xfrm>
          <a:off x="0" y="0"/>
          <a:ext cx="0" cy="0"/>
          <a:chOff x="0" y="0"/>
          <a:chExt cx="0" cy="0"/>
        </a:xfrm>
      </p:grpSpPr>
      <p:sp>
        <p:nvSpPr>
          <p:cNvPr id="14" name="Freeform: Shape 13">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6" name="Group 15">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7" name="Freeform: Shape 16">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8" name="Freeform: Shape 17">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9" name="Freeform: Shape 18">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0"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1"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2"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Freeform: Shape 24">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8"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9"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0"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1"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2"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3"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5" name="Rectangle 34">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4E5D1C81-E5C2-877E-4804-7F06BC965F2C}"/>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3400"/>
              <a:t>Test Cases</a:t>
            </a:r>
            <a:br>
              <a:rPr lang="en-US" sz="3400"/>
            </a:br>
            <a:r>
              <a:rPr lang="en-US" sz="3400"/>
              <a:t>7.	TC_OM_02 – Acquisto diretto (UC3)</a:t>
            </a:r>
          </a:p>
        </p:txBody>
      </p:sp>
      <p:sp>
        <p:nvSpPr>
          <p:cNvPr id="37" name="Freeform: Shape 36">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9"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40"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1"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2"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5"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7" name="Freeform: Shape 46">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9" name="Group 48">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0" name="Freeform: Shape 49">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Freeform: Shape 50">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Freeform: Shape 51">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3"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4"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5"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9" name="Segnaposto contenuto 8">
            <a:extLst>
              <a:ext uri="{FF2B5EF4-FFF2-40B4-BE49-F238E27FC236}">
                <a16:creationId xmlns:a16="http://schemas.microsoft.com/office/drawing/2014/main" id="{F11C00D9-CEF2-AAB4-EA3D-09A14A9F8D08}"/>
              </a:ext>
            </a:extLst>
          </p:cNvPr>
          <p:cNvGraphicFramePr>
            <a:graphicFrameLocks noGrp="1"/>
          </p:cNvGraphicFramePr>
          <p:nvPr>
            <p:ph idx="1"/>
            <p:extLst>
              <p:ext uri="{D42A27DB-BD31-4B8C-83A1-F6EECF244321}">
                <p14:modId xmlns:p14="http://schemas.microsoft.com/office/powerpoint/2010/main" val="770311329"/>
              </p:ext>
            </p:extLst>
          </p:nvPr>
        </p:nvGraphicFramePr>
        <p:xfrm>
          <a:off x="5974872" y="1616207"/>
          <a:ext cx="5677185" cy="3556002"/>
        </p:xfrm>
        <a:graphic>
          <a:graphicData uri="http://schemas.openxmlformats.org/drawingml/2006/table">
            <a:tbl>
              <a:tblPr firstRow="1" firstCol="1" bandRow="1"/>
              <a:tblGrid>
                <a:gridCol w="1195346">
                  <a:extLst>
                    <a:ext uri="{9D8B030D-6E8A-4147-A177-3AD203B41FA5}">
                      <a16:colId xmlns:a16="http://schemas.microsoft.com/office/drawing/2014/main" val="3079900277"/>
                    </a:ext>
                  </a:extLst>
                </a:gridCol>
                <a:gridCol w="1498939">
                  <a:extLst>
                    <a:ext uri="{9D8B030D-6E8A-4147-A177-3AD203B41FA5}">
                      <a16:colId xmlns:a16="http://schemas.microsoft.com/office/drawing/2014/main" val="4266097921"/>
                    </a:ext>
                  </a:extLst>
                </a:gridCol>
                <a:gridCol w="1199394">
                  <a:extLst>
                    <a:ext uri="{9D8B030D-6E8A-4147-A177-3AD203B41FA5}">
                      <a16:colId xmlns:a16="http://schemas.microsoft.com/office/drawing/2014/main" val="1149363371"/>
                    </a:ext>
                  </a:extLst>
                </a:gridCol>
                <a:gridCol w="1783506">
                  <a:extLst>
                    <a:ext uri="{9D8B030D-6E8A-4147-A177-3AD203B41FA5}">
                      <a16:colId xmlns:a16="http://schemas.microsoft.com/office/drawing/2014/main" val="3564095686"/>
                    </a:ext>
                  </a:extLst>
                </a:gridCol>
              </a:tblGrid>
              <a:tr h="533190">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Autenticazione</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Checkout form</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2354822"/>
                  </a:ext>
                </a:extLst>
              </a:tr>
              <a:tr h="770397">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TF-OM-05</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Non autenticato</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Redirect a login (UC3.1), nessun ordine creato</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4021464"/>
                  </a:ext>
                </a:extLst>
              </a:tr>
              <a:tr h="1007604">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TF-OM-06</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Autenticato</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Non valido</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Errori evidenziati, nessun inserimento Ordine/RigaOrdine (UC3.2)</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2810919"/>
                  </a:ext>
                </a:extLst>
              </a:tr>
              <a:tr h="1244811">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TF-OM-07</a:t>
                      </a:r>
                      <a:endParaRPr lang="it-IT" sz="2300" b="0" i="0" u="none" strike="noStrike">
                        <a:effectLst/>
                        <a:latin typeface="Arial" panose="020B0604020202020204" pitchFamily="34" charset="0"/>
                      </a:endParaRPr>
                    </a:p>
                  </a:txBody>
                  <a:tcPr marL="87435" marR="87435" marT="1214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Autenticato</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Ordine + righe creati, stock decrementato, </a:t>
                      </a:r>
                      <a:r>
                        <a:rPr lang="it-IT" sz="1400" b="0" i="0" u="none" strike="noStrike" kern="100" dirty="0" err="1">
                          <a:solidFill>
                            <a:srgbClr val="000000"/>
                          </a:solidFill>
                          <a:effectLst/>
                          <a:latin typeface="Times New Roman" panose="02020603050405020304" pitchFamily="18" charset="0"/>
                          <a:ea typeface="Times New Roman" panose="02020603050405020304" pitchFamily="18" charset="0"/>
                        </a:rPr>
                        <a:t>redirect</a:t>
                      </a: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 pagina ordini</a:t>
                      </a:r>
                      <a:endParaRPr lang="it-IT" sz="2300" b="0" i="0" u="none" strike="noStrike" dirty="0">
                        <a:effectLst/>
                        <a:latin typeface="Arial" panose="020B0604020202020204" pitchFamily="34" charset="0"/>
                      </a:endParaRPr>
                    </a:p>
                  </a:txBody>
                  <a:tcPr marL="87435" marR="87435" marT="1214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3971546"/>
                  </a:ext>
                </a:extLst>
              </a:tr>
            </a:tbl>
          </a:graphicData>
        </a:graphic>
      </p:graphicFrame>
      <p:sp>
        <p:nvSpPr>
          <p:cNvPr id="11" name="CasellaDiTesto 10">
            <a:extLst>
              <a:ext uri="{FF2B5EF4-FFF2-40B4-BE49-F238E27FC236}">
                <a16:creationId xmlns:a16="http://schemas.microsoft.com/office/drawing/2014/main" id="{D8A87F9A-E631-D73A-5E6B-D9CF9CCB7972}"/>
              </a:ext>
            </a:extLst>
          </p:cNvPr>
          <p:cNvSpPr txBox="1"/>
          <p:nvPr/>
        </p:nvSpPr>
        <p:spPr>
          <a:xfrm>
            <a:off x="529809" y="3544621"/>
            <a:ext cx="6101254" cy="2585323"/>
          </a:xfrm>
          <a:prstGeom prst="rect">
            <a:avLst/>
          </a:prstGeom>
          <a:noFill/>
        </p:spPr>
        <p:txBody>
          <a:bodyPr wrap="square">
            <a:spAutoFit/>
          </a:bodyPr>
          <a:lstStyle/>
          <a:p>
            <a:pPr lvl="1" fontAlgn="base"/>
            <a:r>
              <a:rPr lang="it-IT" b="1" i="1" dirty="0"/>
              <a:t>Test items</a:t>
            </a:r>
          </a:p>
          <a:p>
            <a:pPr lvl="0"/>
            <a:r>
              <a:rPr lang="it-IT" dirty="0"/>
              <a:t>UI: acquista ora + pagina checkout</a:t>
            </a:r>
          </a:p>
          <a:p>
            <a:pPr lvl="0"/>
            <a:r>
              <a:rPr lang="it-IT" dirty="0"/>
              <a:t>Controller: </a:t>
            </a:r>
            <a:r>
              <a:rPr lang="it-IT" dirty="0" err="1"/>
              <a:t>OrderNowServlet</a:t>
            </a:r>
            <a:endParaRPr lang="it-IT" dirty="0"/>
          </a:p>
          <a:p>
            <a:pPr lvl="0"/>
            <a:r>
              <a:rPr lang="it-IT" dirty="0"/>
              <a:t>DAO: </a:t>
            </a:r>
            <a:r>
              <a:rPr lang="it-IT" dirty="0" err="1"/>
              <a:t>UtenteDAO</a:t>
            </a:r>
            <a:r>
              <a:rPr lang="it-IT" dirty="0"/>
              <a:t>, </a:t>
            </a:r>
            <a:r>
              <a:rPr lang="it-IT" dirty="0" err="1"/>
              <a:t>RigaOrdineDAO</a:t>
            </a:r>
            <a:r>
              <a:rPr lang="it-IT" dirty="0"/>
              <a:t>, </a:t>
            </a:r>
            <a:r>
              <a:rPr lang="it-IT" dirty="0" err="1"/>
              <a:t>ProdottoDAO</a:t>
            </a:r>
            <a:endParaRPr lang="it-IT" dirty="0"/>
          </a:p>
          <a:p>
            <a:pPr lvl="0"/>
            <a:r>
              <a:rPr lang="it-IT" b="1" dirty="0"/>
              <a:t>Classi di test</a:t>
            </a:r>
          </a:p>
          <a:p>
            <a:pPr lvl="0"/>
            <a:r>
              <a:rPr lang="it-IT" dirty="0" err="1"/>
              <a:t>OrderNowServletIntegrationTest</a:t>
            </a:r>
            <a:endParaRPr lang="it-IT" dirty="0"/>
          </a:p>
          <a:p>
            <a:pPr lvl="1"/>
            <a:r>
              <a:rPr lang="it-IT" dirty="0"/>
              <a:t>TF_OM_05</a:t>
            </a:r>
          </a:p>
          <a:p>
            <a:pPr lvl="1"/>
            <a:r>
              <a:rPr lang="it-IT" dirty="0"/>
              <a:t>TF_OM_06</a:t>
            </a:r>
          </a:p>
          <a:p>
            <a:pPr lvl="1"/>
            <a:r>
              <a:rPr lang="it-IT" dirty="0"/>
              <a:t>TF_OM_07</a:t>
            </a:r>
          </a:p>
        </p:txBody>
      </p:sp>
    </p:spTree>
    <p:extLst>
      <p:ext uri="{BB962C8B-B14F-4D97-AF65-F5344CB8AC3E}">
        <p14:creationId xmlns:p14="http://schemas.microsoft.com/office/powerpoint/2010/main" val="38366408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2CA0CF8-6EE0-3C8C-8F43-9D31083D8A25}"/>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3" name="Group 1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4" name="Freeform: Shape 1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5"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6"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7"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2" name="Rectangle 3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2E95628C-F7DE-B36B-D439-296232B984FC}"/>
              </a:ext>
            </a:extLst>
          </p:cNvPr>
          <p:cNvSpPr>
            <a:spLocks noGrp="1"/>
          </p:cNvSpPr>
          <p:nvPr>
            <p:ph type="title"/>
          </p:nvPr>
        </p:nvSpPr>
        <p:spPr>
          <a:xfrm>
            <a:off x="530352" y="589788"/>
            <a:ext cx="4922638" cy="2510921"/>
          </a:xfrm>
        </p:spPr>
        <p:txBody>
          <a:bodyPr vert="horz" lIns="91440" tIns="45720" rIns="91440" bIns="45720" rtlCol="0" anchor="b">
            <a:normAutofit/>
          </a:bodyPr>
          <a:lstStyle/>
          <a:p>
            <a:pPr>
              <a:lnSpc>
                <a:spcPct val="90000"/>
              </a:lnSpc>
            </a:pPr>
            <a:r>
              <a:rPr lang="en-US" sz="4000"/>
              <a:t>Test Cases</a:t>
            </a:r>
            <a:br>
              <a:rPr lang="en-US" sz="4000"/>
            </a:br>
            <a:r>
              <a:rPr lang="en-US" sz="4000"/>
              <a:t>8.	TC_OM_03 – Acquisto da carrello (UC4)</a:t>
            </a:r>
          </a:p>
        </p:txBody>
      </p:sp>
      <p:grpSp>
        <p:nvGrpSpPr>
          <p:cNvPr id="34" name="Graphic 78">
            <a:extLst>
              <a:ext uri="{FF2B5EF4-FFF2-40B4-BE49-F238E27FC236}">
                <a16:creationId xmlns:a16="http://schemas.microsoft.com/office/drawing/2014/main" id="{06B4C967-D337-479B-87CA-7587B7FCFF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352" y="3267662"/>
            <a:ext cx="972241" cy="45718"/>
            <a:chOff x="4886325" y="3371754"/>
            <a:chExt cx="2418492" cy="113728"/>
          </a:xfrm>
          <a:solidFill>
            <a:schemeClr val="accent1"/>
          </a:solidFill>
        </p:grpSpPr>
        <p:sp>
          <p:nvSpPr>
            <p:cNvPr id="35" name="Graphic 78">
              <a:extLst>
                <a:ext uri="{FF2B5EF4-FFF2-40B4-BE49-F238E27FC236}">
                  <a16:creationId xmlns:a16="http://schemas.microsoft.com/office/drawing/2014/main" id="{6EF1A9DB-7052-4254-8534-9AAED6F6B6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6" name="Graphic 78">
              <a:extLst>
                <a:ext uri="{FF2B5EF4-FFF2-40B4-BE49-F238E27FC236}">
                  <a16:creationId xmlns:a16="http://schemas.microsoft.com/office/drawing/2014/main" id="{55D44775-F9E3-4142-8CDB-277AEF2F38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7" name="Graphic 78">
                <a:extLst>
                  <a:ext uri="{FF2B5EF4-FFF2-40B4-BE49-F238E27FC236}">
                    <a16:creationId xmlns:a16="http://schemas.microsoft.com/office/drawing/2014/main" id="{93BB9C83-6DC3-450C-BFAD-0CB5EAD29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8" name="Graphic 78">
                <a:extLst>
                  <a:ext uri="{FF2B5EF4-FFF2-40B4-BE49-F238E27FC236}">
                    <a16:creationId xmlns:a16="http://schemas.microsoft.com/office/drawing/2014/main" id="{4E01AF91-A65B-4AE1-96C9-4168BD8F90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0AD45C08-DFB9-441F-A901-BCB9B0305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E05BEC0E-4EE4-42C4-BF0B-15F9AC518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2" name="Freeform: Shape 41">
            <a:extLst>
              <a:ext uri="{FF2B5EF4-FFF2-40B4-BE49-F238E27FC236}">
                <a16:creationId xmlns:a16="http://schemas.microsoft.com/office/drawing/2014/main" id="{A019653D-2F73-443C-916C-3E9277B43C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87002" y="5868567"/>
            <a:ext cx="3104998" cy="1002257"/>
          </a:xfrm>
          <a:custGeom>
            <a:avLst/>
            <a:gdLst>
              <a:gd name="connsiteX0" fmla="*/ 2220651 w 3104998"/>
              <a:gd name="connsiteY0" fmla="*/ 141 h 1002257"/>
              <a:gd name="connsiteX1" fmla="*/ 3076626 w 3104998"/>
              <a:gd name="connsiteY1" fmla="*/ 220708 h 1002257"/>
              <a:gd name="connsiteX2" fmla="*/ 3104998 w 3104998"/>
              <a:gd name="connsiteY2" fmla="*/ 237645 h 1002257"/>
              <a:gd name="connsiteX3" fmla="*/ 3104998 w 3104998"/>
              <a:gd name="connsiteY3" fmla="*/ 1002257 h 1002257"/>
              <a:gd name="connsiteX4" fmla="*/ 0 w 3104998"/>
              <a:gd name="connsiteY4" fmla="*/ 1002257 h 1002257"/>
              <a:gd name="connsiteX5" fmla="*/ 208734 w 3104998"/>
              <a:gd name="connsiteY5" fmla="*/ 868737 h 1002257"/>
              <a:gd name="connsiteX6" fmla="*/ 1364122 w 3104998"/>
              <a:gd name="connsiteY6" fmla="*/ 222705 h 1002257"/>
              <a:gd name="connsiteX7" fmla="*/ 2085269 w 3104998"/>
              <a:gd name="connsiteY7" fmla="*/ 7760 h 1002257"/>
              <a:gd name="connsiteX8" fmla="*/ 2220651 w 3104998"/>
              <a:gd name="connsiteY8" fmla="*/ 141 h 1002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4998" h="1002257">
                <a:moveTo>
                  <a:pt x="2220651" y="141"/>
                </a:moveTo>
                <a:cubicBezTo>
                  <a:pt x="2532946" y="-4033"/>
                  <a:pt x="2819845" y="84824"/>
                  <a:pt x="3076626" y="220708"/>
                </a:cubicBezTo>
                <a:lnTo>
                  <a:pt x="3104998" y="237645"/>
                </a:lnTo>
                <a:lnTo>
                  <a:pt x="3104998" y="1002257"/>
                </a:lnTo>
                <a:lnTo>
                  <a:pt x="0" y="1002257"/>
                </a:lnTo>
                <a:lnTo>
                  <a:pt x="208734" y="868737"/>
                </a:lnTo>
                <a:cubicBezTo>
                  <a:pt x="716785" y="552239"/>
                  <a:pt x="1150146" y="315174"/>
                  <a:pt x="1364122" y="222705"/>
                </a:cubicBezTo>
                <a:cubicBezTo>
                  <a:pt x="1588430" y="125724"/>
                  <a:pt x="1824360" y="33775"/>
                  <a:pt x="2085269" y="7760"/>
                </a:cubicBezTo>
                <a:cubicBezTo>
                  <a:pt x="2130905" y="3232"/>
                  <a:pt x="2176037" y="737"/>
                  <a:pt x="2220651" y="141"/>
                </a:cubicBezTo>
                <a:close/>
              </a:path>
            </a:pathLst>
          </a:custGeom>
          <a:solidFill>
            <a:schemeClr val="accent5">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dirty="0"/>
          </a:p>
        </p:txBody>
      </p:sp>
      <p:grpSp>
        <p:nvGrpSpPr>
          <p:cNvPr id="44" name="Group 43">
            <a:extLst>
              <a:ext uri="{FF2B5EF4-FFF2-40B4-BE49-F238E27FC236}">
                <a16:creationId xmlns:a16="http://schemas.microsoft.com/office/drawing/2014/main" id="{7F3CC54C-8A5F-42B2-80EF-40005E1BB4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353866">
            <a:off x="9634789" y="5881498"/>
            <a:ext cx="1513209" cy="1055579"/>
            <a:chOff x="10631877" y="3331293"/>
            <a:chExt cx="1483323" cy="1034734"/>
          </a:xfrm>
          <a:solidFill>
            <a:schemeClr val="accent3">
              <a:lumMod val="40000"/>
              <a:lumOff val="60000"/>
            </a:schemeClr>
          </a:solidFill>
        </p:grpSpPr>
        <p:sp>
          <p:nvSpPr>
            <p:cNvPr id="45" name="Freeform: Shape 44">
              <a:extLst>
                <a:ext uri="{FF2B5EF4-FFF2-40B4-BE49-F238E27FC236}">
                  <a16:creationId xmlns:a16="http://schemas.microsoft.com/office/drawing/2014/main" id="{E38F654D-6D96-448F-AE05-4E663E789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6" name="Freeform: Shape 45">
              <a:extLst>
                <a:ext uri="{FF2B5EF4-FFF2-40B4-BE49-F238E27FC236}">
                  <a16:creationId xmlns:a16="http://schemas.microsoft.com/office/drawing/2014/main" id="{C3EA0687-82A9-47B3-B116-5C1B18D7D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7" name="Freeform: Shape 46">
              <a:extLst>
                <a:ext uri="{FF2B5EF4-FFF2-40B4-BE49-F238E27FC236}">
                  <a16:creationId xmlns:a16="http://schemas.microsoft.com/office/drawing/2014/main" id="{ED5F2F7D-9DEC-4069-8E1A-4E3957BE57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983079" y="3331293"/>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8" name="Graphic 12">
              <a:extLst>
                <a:ext uri="{FF2B5EF4-FFF2-40B4-BE49-F238E27FC236}">
                  <a16:creationId xmlns:a16="http://schemas.microsoft.com/office/drawing/2014/main" id="{6E6DDDD8-737D-4E46-B445-AA04E56BD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31877" y="4207203"/>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49" name="Graphic 15">
              <a:extLst>
                <a:ext uri="{FF2B5EF4-FFF2-40B4-BE49-F238E27FC236}">
                  <a16:creationId xmlns:a16="http://schemas.microsoft.com/office/drawing/2014/main" id="{C9F66857-2EF8-4463-BE6B-0E8835627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0" name="Graphic 15">
              <a:extLst>
                <a:ext uri="{FF2B5EF4-FFF2-40B4-BE49-F238E27FC236}">
                  <a16:creationId xmlns:a16="http://schemas.microsoft.com/office/drawing/2014/main" id="{11DA632B-97A1-4486-8F6A-1334D6814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8F9C102-1BB5-442E-8596-CD0923CF7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Segnaposto contenuto 5">
            <a:extLst>
              <a:ext uri="{FF2B5EF4-FFF2-40B4-BE49-F238E27FC236}">
                <a16:creationId xmlns:a16="http://schemas.microsoft.com/office/drawing/2014/main" id="{9296AF6E-1D5D-7DC5-9132-D1CD8CDB2910}"/>
              </a:ext>
            </a:extLst>
          </p:cNvPr>
          <p:cNvGraphicFramePr>
            <a:graphicFrameLocks noGrp="1"/>
          </p:cNvGraphicFramePr>
          <p:nvPr>
            <p:ph idx="1"/>
            <p:extLst>
              <p:ext uri="{D42A27DB-BD31-4B8C-83A1-F6EECF244321}">
                <p14:modId xmlns:p14="http://schemas.microsoft.com/office/powerpoint/2010/main" val="1309389368"/>
              </p:ext>
            </p:extLst>
          </p:nvPr>
        </p:nvGraphicFramePr>
        <p:xfrm>
          <a:off x="5978511" y="2004108"/>
          <a:ext cx="5691990" cy="2849787"/>
        </p:xfrm>
        <a:graphic>
          <a:graphicData uri="http://schemas.openxmlformats.org/drawingml/2006/table">
            <a:tbl>
              <a:tblPr firstRow="1" firstCol="1" bandRow="1"/>
              <a:tblGrid>
                <a:gridCol w="1176459">
                  <a:extLst>
                    <a:ext uri="{9D8B030D-6E8A-4147-A177-3AD203B41FA5}">
                      <a16:colId xmlns:a16="http://schemas.microsoft.com/office/drawing/2014/main" val="1804567347"/>
                    </a:ext>
                  </a:extLst>
                </a:gridCol>
                <a:gridCol w="1264711">
                  <a:extLst>
                    <a:ext uri="{9D8B030D-6E8A-4147-A177-3AD203B41FA5}">
                      <a16:colId xmlns:a16="http://schemas.microsoft.com/office/drawing/2014/main" val="738306327"/>
                    </a:ext>
                  </a:extLst>
                </a:gridCol>
                <a:gridCol w="979529">
                  <a:extLst>
                    <a:ext uri="{9D8B030D-6E8A-4147-A177-3AD203B41FA5}">
                      <a16:colId xmlns:a16="http://schemas.microsoft.com/office/drawing/2014/main" val="151222051"/>
                    </a:ext>
                  </a:extLst>
                </a:gridCol>
                <a:gridCol w="732325">
                  <a:extLst>
                    <a:ext uri="{9D8B030D-6E8A-4147-A177-3AD203B41FA5}">
                      <a16:colId xmlns:a16="http://schemas.microsoft.com/office/drawing/2014/main" val="3915083696"/>
                    </a:ext>
                  </a:extLst>
                </a:gridCol>
                <a:gridCol w="1538966">
                  <a:extLst>
                    <a:ext uri="{9D8B030D-6E8A-4147-A177-3AD203B41FA5}">
                      <a16:colId xmlns:a16="http://schemas.microsoft.com/office/drawing/2014/main" val="161765202"/>
                    </a:ext>
                  </a:extLst>
                </a:gridCol>
              </a:tblGrid>
              <a:tr h="249732">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Autenticazione</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Carrello</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Form</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4169557"/>
                  </a:ext>
                </a:extLst>
              </a:tr>
              <a:tr h="650014">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TF-OM-08</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Non autenticato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Non vuoto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Redirect login, carrello preservato (UC4.1)</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759241"/>
                  </a:ext>
                </a:extLst>
              </a:tr>
              <a:tr h="449873">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TF-OM-09</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Autenticato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Non vuoto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Non valido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Errori, nessun ordine creato (UC4.2)</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182733"/>
                  </a:ext>
                </a:extLst>
              </a:tr>
              <a:tr h="850154">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TF-OM-10</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Autenticato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Non vuoto</a:t>
                      </a:r>
                      <a:endParaRPr lang="it-IT" sz="1900" b="0" i="0" u="none" strike="noStrike">
                        <a:effectLst/>
                        <a:latin typeface="Arial" panose="020B0604020202020204" pitchFamily="34" charset="0"/>
                      </a:endParaRPr>
                    </a:p>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 </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Ordine creato, stock decrementato, carrello svuotato, redirect ordini</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7325414"/>
                  </a:ext>
                </a:extLst>
              </a:tr>
              <a:tr h="650014">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TF-OM-11(opzionale)</a:t>
                      </a:r>
                      <a:endParaRPr lang="it-IT" sz="1900" b="0" i="0" u="none" strike="noStrike">
                        <a:effectLst/>
                        <a:latin typeface="Arial" panose="020B0604020202020204" pitchFamily="34" charset="0"/>
                      </a:endParaRPr>
                    </a:p>
                  </a:txBody>
                  <a:tcPr marL="73772" marR="73772" marT="10246"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Autenticato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Vuoto</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t>
                      </a:r>
                      <a:endParaRPr lang="it-IT" sz="1900" b="0" i="0" u="none" strike="noStrike">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dirty="0">
                          <a:solidFill>
                            <a:srgbClr val="000000"/>
                          </a:solidFill>
                          <a:effectLst/>
                          <a:latin typeface="Times New Roman" panose="02020603050405020304" pitchFamily="18" charset="0"/>
                          <a:ea typeface="Times New Roman" panose="02020603050405020304" pitchFamily="18" charset="0"/>
                        </a:rPr>
                        <a:t>Checkout bloccato / messaggio “carrello vuoto” (se previsto)</a:t>
                      </a:r>
                      <a:endParaRPr lang="it-IT" sz="1900" b="0" i="0" u="none" strike="noStrike" dirty="0">
                        <a:effectLst/>
                        <a:latin typeface="Arial" panose="020B0604020202020204" pitchFamily="34" charset="0"/>
                      </a:endParaRPr>
                    </a:p>
                  </a:txBody>
                  <a:tcPr marL="73772" marR="73772" marT="10246"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6913452"/>
                  </a:ext>
                </a:extLst>
              </a:tr>
            </a:tbl>
          </a:graphicData>
        </a:graphic>
      </p:graphicFrame>
      <p:sp>
        <p:nvSpPr>
          <p:cNvPr id="8" name="CasellaDiTesto 7">
            <a:extLst>
              <a:ext uri="{FF2B5EF4-FFF2-40B4-BE49-F238E27FC236}">
                <a16:creationId xmlns:a16="http://schemas.microsoft.com/office/drawing/2014/main" id="{840841D0-8BA0-9F7C-C453-2823A4EC1391}"/>
              </a:ext>
            </a:extLst>
          </p:cNvPr>
          <p:cNvSpPr txBox="1"/>
          <p:nvPr/>
        </p:nvSpPr>
        <p:spPr>
          <a:xfrm>
            <a:off x="546842" y="3422745"/>
            <a:ext cx="6093372" cy="2862322"/>
          </a:xfrm>
          <a:prstGeom prst="rect">
            <a:avLst/>
          </a:prstGeom>
          <a:noFill/>
        </p:spPr>
        <p:txBody>
          <a:bodyPr wrap="square">
            <a:spAutoFit/>
          </a:bodyPr>
          <a:lstStyle/>
          <a:p>
            <a:pPr lvl="1" fontAlgn="base"/>
            <a:r>
              <a:rPr lang="it-IT" b="1" i="1" dirty="0"/>
              <a:t>Test items</a:t>
            </a:r>
          </a:p>
          <a:p>
            <a:pPr lvl="0"/>
            <a:r>
              <a:rPr lang="it-IT" dirty="0"/>
              <a:t>UI: pagina carrello + checkout</a:t>
            </a:r>
          </a:p>
          <a:p>
            <a:pPr lvl="0"/>
            <a:r>
              <a:rPr lang="it-IT" dirty="0"/>
              <a:t>Controller: </a:t>
            </a:r>
            <a:r>
              <a:rPr lang="it-IT" dirty="0" err="1"/>
              <a:t>OrderNowServlet</a:t>
            </a:r>
            <a:r>
              <a:rPr lang="it-IT" dirty="0"/>
              <a:t>, </a:t>
            </a:r>
            <a:r>
              <a:rPr lang="it-IT" dirty="0" err="1"/>
              <a:t>CheOutServlet</a:t>
            </a:r>
            <a:endParaRPr lang="it-IT" dirty="0"/>
          </a:p>
          <a:p>
            <a:pPr lvl="0"/>
            <a:r>
              <a:rPr lang="it-IT" dirty="0"/>
              <a:t>DAO: Ordine/</a:t>
            </a:r>
            <a:r>
              <a:rPr lang="it-IT" dirty="0" err="1"/>
              <a:t>RigaOrdine</a:t>
            </a:r>
            <a:r>
              <a:rPr lang="it-IT" dirty="0"/>
              <a:t>/Prodotto</a:t>
            </a:r>
          </a:p>
          <a:p>
            <a:pPr lvl="0"/>
            <a:r>
              <a:rPr lang="it-IT" dirty="0"/>
              <a:t>Service: carrello in sessione</a:t>
            </a:r>
          </a:p>
          <a:p>
            <a:pPr lvl="0"/>
            <a:r>
              <a:rPr lang="it-IT" b="1" dirty="0"/>
              <a:t>Classi di test</a:t>
            </a:r>
          </a:p>
          <a:p>
            <a:pPr lvl="0"/>
            <a:r>
              <a:rPr lang="it-IT" dirty="0" err="1"/>
              <a:t>CheckoutServletIntegrationTest</a:t>
            </a:r>
            <a:endParaRPr lang="it-IT" dirty="0"/>
          </a:p>
          <a:p>
            <a:pPr lvl="1"/>
            <a:r>
              <a:rPr lang="it-IT" dirty="0"/>
              <a:t>TF_OM_08</a:t>
            </a:r>
          </a:p>
          <a:p>
            <a:pPr lvl="1"/>
            <a:r>
              <a:rPr lang="it-IT" dirty="0"/>
              <a:t>TF_OM_09</a:t>
            </a:r>
          </a:p>
          <a:p>
            <a:pPr lvl="1"/>
            <a:r>
              <a:rPr lang="it-IT" dirty="0"/>
              <a:t>TF_OM_10</a:t>
            </a:r>
          </a:p>
        </p:txBody>
      </p:sp>
    </p:spTree>
    <p:extLst>
      <p:ext uri="{BB962C8B-B14F-4D97-AF65-F5344CB8AC3E}">
        <p14:creationId xmlns:p14="http://schemas.microsoft.com/office/powerpoint/2010/main" val="29092544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901904-BC10-6D84-7E32-3B7B3479DC85}"/>
              </a:ext>
            </a:extLst>
          </p:cNvPr>
          <p:cNvSpPr>
            <a:spLocks noGrp="1"/>
          </p:cNvSpPr>
          <p:nvPr>
            <p:ph type="title"/>
          </p:nvPr>
        </p:nvSpPr>
        <p:spPr/>
        <p:txBody>
          <a:bodyPr/>
          <a:lstStyle/>
          <a:p>
            <a:r>
              <a:rPr lang="it-IT" dirty="0"/>
              <a:t>ADM testing	</a:t>
            </a:r>
          </a:p>
        </p:txBody>
      </p:sp>
      <p:sp>
        <p:nvSpPr>
          <p:cNvPr id="3" name="Segnaposto contenuto 2">
            <a:extLst>
              <a:ext uri="{FF2B5EF4-FFF2-40B4-BE49-F238E27FC236}">
                <a16:creationId xmlns:a16="http://schemas.microsoft.com/office/drawing/2014/main" id="{11912FF1-3F48-3FFB-9E21-3FA4656BD000}"/>
              </a:ext>
            </a:extLst>
          </p:cNvPr>
          <p:cNvSpPr>
            <a:spLocks noGrp="1"/>
          </p:cNvSpPr>
          <p:nvPr>
            <p:ph idx="1"/>
          </p:nvPr>
        </p:nvSpPr>
        <p:spPr/>
        <p:txBody>
          <a:bodyPr/>
          <a:lstStyle/>
          <a:p>
            <a:r>
              <a:rPr lang="it-IT" dirty="0"/>
              <a:t>Per la parte admin abbiamo diviso la parte automatizzata dalla parte testata manualmente.</a:t>
            </a:r>
            <a:br>
              <a:rPr lang="it-IT" dirty="0"/>
            </a:br>
            <a:r>
              <a:rPr lang="it-IT" dirty="0"/>
              <a:t>- Testing automatico: Almeno un test rappresentativo per ogni operazione critica che potesse interagire con il DB e creare errori o inconsistenze (happy </a:t>
            </a:r>
            <a:r>
              <a:rPr lang="it-IT" dirty="0" err="1"/>
              <a:t>path</a:t>
            </a:r>
            <a:r>
              <a:rPr lang="it-IT" dirty="0"/>
              <a:t>)</a:t>
            </a:r>
          </a:p>
          <a:p>
            <a:r>
              <a:rPr lang="it-IT" dirty="0"/>
              <a:t>- Testing manuale: i negative/</a:t>
            </a:r>
            <a:r>
              <a:rPr lang="it-IT" dirty="0" err="1"/>
              <a:t>edge</a:t>
            </a:r>
            <a:r>
              <a:rPr lang="it-IT" dirty="0"/>
              <a:t> previsti nelle specifiche e nei test frames</a:t>
            </a:r>
          </a:p>
        </p:txBody>
      </p:sp>
    </p:spTree>
    <p:extLst>
      <p:ext uri="{BB962C8B-B14F-4D97-AF65-F5344CB8AC3E}">
        <p14:creationId xmlns:p14="http://schemas.microsoft.com/office/powerpoint/2010/main" val="22191079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DC63BBC-E7D1-00E6-D7ED-7E8AA70AA2C3}"/>
            </a:ext>
          </a:extLst>
        </p:cNvPr>
        <p:cNvGrpSpPr/>
        <p:nvPr/>
      </p:nvGrpSpPr>
      <p:grpSpPr>
        <a:xfrm>
          <a:off x="0" y="0"/>
          <a:ext cx="0" cy="0"/>
          <a:chOff x="0" y="0"/>
          <a:chExt cx="0" cy="0"/>
        </a:xfrm>
      </p:grpSpPr>
      <p:sp>
        <p:nvSpPr>
          <p:cNvPr id="14" name="Freeform: Shape 13">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6" name="Group 15">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7" name="Freeform: Shape 16">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8" name="Freeform: Shape 17">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9" name="Freeform: Shape 18">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0"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1"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2"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Freeform: Shape 24">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8"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9"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0"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1"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2"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3"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5" name="Rectangle 34">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0F1EA885-7C21-FE54-C7C9-BF9C814DC488}"/>
              </a:ext>
            </a:extLst>
          </p:cNvPr>
          <p:cNvSpPr>
            <a:spLocks noGrp="1"/>
          </p:cNvSpPr>
          <p:nvPr>
            <p:ph type="title"/>
          </p:nvPr>
        </p:nvSpPr>
        <p:spPr>
          <a:xfrm>
            <a:off x="530225" y="-792073"/>
            <a:ext cx="4896536" cy="2545094"/>
          </a:xfrm>
        </p:spPr>
        <p:txBody>
          <a:bodyPr vert="horz" lIns="91440" tIns="45720" rIns="91440" bIns="45720" rtlCol="0" anchor="b">
            <a:normAutofit/>
          </a:bodyPr>
          <a:lstStyle/>
          <a:p>
            <a:pPr>
              <a:lnSpc>
                <a:spcPct val="90000"/>
              </a:lnSpc>
            </a:pPr>
            <a:r>
              <a:rPr lang="en-US" sz="2800" dirty="0"/>
              <a:t>Test Cases</a:t>
            </a:r>
            <a:br>
              <a:rPr lang="en-US" sz="2800" dirty="0"/>
            </a:br>
            <a:r>
              <a:rPr lang="en-US" sz="2800" dirty="0"/>
              <a:t>9.	TC_ADM_01 – </a:t>
            </a:r>
            <a:r>
              <a:rPr lang="en-US" sz="2800" dirty="0" err="1"/>
              <a:t>Modifica</a:t>
            </a:r>
            <a:r>
              <a:rPr lang="en-US" sz="2800" dirty="0"/>
              <a:t> stock </a:t>
            </a:r>
            <a:r>
              <a:rPr lang="en-US" sz="2800" dirty="0" err="1"/>
              <a:t>prodotti</a:t>
            </a:r>
            <a:r>
              <a:rPr lang="en-US" sz="2800" dirty="0"/>
              <a:t> (UC5/UC5.1)</a:t>
            </a:r>
          </a:p>
        </p:txBody>
      </p:sp>
      <p:sp>
        <p:nvSpPr>
          <p:cNvPr id="37" name="Freeform: Shape 36">
            <a:extLst>
              <a:ext uri="{FF2B5EF4-FFF2-40B4-BE49-F238E27FC236}">
                <a16:creationId xmlns:a16="http://schemas.microsoft.com/office/drawing/2014/main" id="{8972B65B-8AFA-4B5C-BFC6-E443F3777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839951" cy="1423657"/>
          </a:xfrm>
          <a:custGeom>
            <a:avLst/>
            <a:gdLst>
              <a:gd name="connsiteX0" fmla="*/ 0 w 2331138"/>
              <a:gd name="connsiteY0" fmla="*/ 0 h 3352676"/>
              <a:gd name="connsiteX1" fmla="*/ 2331138 w 2331138"/>
              <a:gd name="connsiteY1" fmla="*/ 0 h 3352676"/>
              <a:gd name="connsiteX2" fmla="*/ 2331138 w 2331138"/>
              <a:gd name="connsiteY2" fmla="*/ 3352676 h 3352676"/>
              <a:gd name="connsiteX3" fmla="*/ 2097210 w 2331138"/>
              <a:gd name="connsiteY3" fmla="*/ 3226228 h 3352676"/>
              <a:gd name="connsiteX4" fmla="*/ 214881 w 2331138"/>
              <a:gd name="connsiteY4" fmla="*/ 1176738 h 3352676"/>
              <a:gd name="connsiteX5" fmla="*/ 1129 w 2331138"/>
              <a:gd name="connsiteY5" fmla="*/ 67475 h 335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138" h="3352676">
                <a:moveTo>
                  <a:pt x="0" y="0"/>
                </a:moveTo>
                <a:lnTo>
                  <a:pt x="2331138" y="0"/>
                </a:lnTo>
                <a:lnTo>
                  <a:pt x="2331138" y="3352676"/>
                </a:lnTo>
                <a:lnTo>
                  <a:pt x="2097210" y="3226228"/>
                </a:lnTo>
                <a:cubicBezTo>
                  <a:pt x="1273150" y="2744079"/>
                  <a:pt x="560886" y="2027200"/>
                  <a:pt x="214881" y="1176738"/>
                </a:cubicBezTo>
                <a:cubicBezTo>
                  <a:pt x="72781" y="827511"/>
                  <a:pt x="14297" y="430630"/>
                  <a:pt x="1129" y="67475"/>
                </a:cubicBezTo>
                <a:close/>
              </a:path>
            </a:pathLst>
          </a:custGeom>
          <a:solidFill>
            <a:schemeClr val="accent1">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9" name="Graphic 78">
            <a:extLst>
              <a:ext uri="{FF2B5EF4-FFF2-40B4-BE49-F238E27FC236}">
                <a16:creationId xmlns:a16="http://schemas.microsoft.com/office/drawing/2014/main" id="{8B32F32D-2578-47BA-A8C8-B9CC3F8A09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40" name="Graphic 78">
              <a:extLst>
                <a:ext uri="{FF2B5EF4-FFF2-40B4-BE49-F238E27FC236}">
                  <a16:creationId xmlns:a16="http://schemas.microsoft.com/office/drawing/2014/main" id="{FE39C5A6-D000-4F68-8942-DD0D6D6F8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1" name="Graphic 78">
              <a:extLst>
                <a:ext uri="{FF2B5EF4-FFF2-40B4-BE49-F238E27FC236}">
                  <a16:creationId xmlns:a16="http://schemas.microsoft.com/office/drawing/2014/main" id="{E89890B6-1232-480B-A1E4-4EE4897F64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2" name="Graphic 78">
                <a:extLst>
                  <a:ext uri="{FF2B5EF4-FFF2-40B4-BE49-F238E27FC236}">
                    <a16:creationId xmlns:a16="http://schemas.microsoft.com/office/drawing/2014/main" id="{AA2A92B4-DD5E-4659-876C-CEF27D8A3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CB3716F9-57FA-4E55-B926-D141DFDE7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6E65CA48-F624-4AAA-B08C-4D030E798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5" name="Graphic 78">
                <a:extLst>
                  <a:ext uri="{FF2B5EF4-FFF2-40B4-BE49-F238E27FC236}">
                    <a16:creationId xmlns:a16="http://schemas.microsoft.com/office/drawing/2014/main" id="{5AB96607-3A57-4F71-87E5-C0D546FEB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7" name="Freeform: Shape 46">
            <a:extLst>
              <a:ext uri="{FF2B5EF4-FFF2-40B4-BE49-F238E27FC236}">
                <a16:creationId xmlns:a16="http://schemas.microsoft.com/office/drawing/2014/main" id="{286E5E1D-FD49-448F-83C8-E06466BE5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899042" y="5608708"/>
            <a:ext cx="4292956" cy="1249292"/>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9" name="Group 48">
            <a:extLst>
              <a:ext uri="{FF2B5EF4-FFF2-40B4-BE49-F238E27FC236}">
                <a16:creationId xmlns:a16="http://schemas.microsoft.com/office/drawing/2014/main" id="{D82E7BA0-A7BA-4C61-9D6F-5345A54056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47993" y="5742897"/>
            <a:ext cx="886141" cy="802496"/>
            <a:chOff x="10948005" y="3272152"/>
            <a:chExt cx="868640" cy="786648"/>
          </a:xfrm>
          <a:solidFill>
            <a:schemeClr val="accent6"/>
          </a:solidFill>
        </p:grpSpPr>
        <p:sp>
          <p:nvSpPr>
            <p:cNvPr id="50" name="Freeform: Shape 49">
              <a:extLst>
                <a:ext uri="{FF2B5EF4-FFF2-40B4-BE49-F238E27FC236}">
                  <a16:creationId xmlns:a16="http://schemas.microsoft.com/office/drawing/2014/main" id="{B5369E81-3115-4284-995E-F753EB421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Freeform: Shape 50">
              <a:extLst>
                <a:ext uri="{FF2B5EF4-FFF2-40B4-BE49-F238E27FC236}">
                  <a16:creationId xmlns:a16="http://schemas.microsoft.com/office/drawing/2014/main" id="{44729589-1C6A-4995-83DB-3C8AC2B8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Freeform: Shape 51">
              <a:extLst>
                <a:ext uri="{FF2B5EF4-FFF2-40B4-BE49-F238E27FC236}">
                  <a16:creationId xmlns:a16="http://schemas.microsoft.com/office/drawing/2014/main" id="{7A966D0D-0B99-4534-8150-ECA25F804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3" name="Graphic 12">
              <a:extLst>
                <a:ext uri="{FF2B5EF4-FFF2-40B4-BE49-F238E27FC236}">
                  <a16:creationId xmlns:a16="http://schemas.microsoft.com/office/drawing/2014/main" id="{7DC8EDF8-9492-4A6B-8050-A6B44F11B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4" name="Graphic 15">
              <a:extLst>
                <a:ext uri="{FF2B5EF4-FFF2-40B4-BE49-F238E27FC236}">
                  <a16:creationId xmlns:a16="http://schemas.microsoft.com/office/drawing/2014/main" id="{13B4EDF3-5414-4F6E-8824-4FDC7BFD5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5" name="Graphic 15">
              <a:extLst>
                <a:ext uri="{FF2B5EF4-FFF2-40B4-BE49-F238E27FC236}">
                  <a16:creationId xmlns:a16="http://schemas.microsoft.com/office/drawing/2014/main" id="{6CE204CE-5738-4712-8E02-CF746C010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2369023-4235-4E1E-A424-EA0EA83D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9" name="Segnaposto contenuto 8">
            <a:extLst>
              <a:ext uri="{FF2B5EF4-FFF2-40B4-BE49-F238E27FC236}">
                <a16:creationId xmlns:a16="http://schemas.microsoft.com/office/drawing/2014/main" id="{5F808F65-F987-17D6-8725-BD43E2AA368E}"/>
              </a:ext>
            </a:extLst>
          </p:cNvPr>
          <p:cNvGraphicFramePr>
            <a:graphicFrameLocks noGrp="1"/>
          </p:cNvGraphicFramePr>
          <p:nvPr>
            <p:ph idx="1"/>
            <p:extLst>
              <p:ext uri="{D42A27DB-BD31-4B8C-83A1-F6EECF244321}">
                <p14:modId xmlns:p14="http://schemas.microsoft.com/office/powerpoint/2010/main" val="1367551674"/>
              </p:ext>
            </p:extLst>
          </p:nvPr>
        </p:nvGraphicFramePr>
        <p:xfrm>
          <a:off x="5974872" y="1337964"/>
          <a:ext cx="5677185" cy="4112488"/>
        </p:xfrm>
        <a:graphic>
          <a:graphicData uri="http://schemas.openxmlformats.org/drawingml/2006/table">
            <a:tbl>
              <a:tblPr firstRow="1" firstCol="1" bandRow="1"/>
              <a:tblGrid>
                <a:gridCol w="1059908">
                  <a:extLst>
                    <a:ext uri="{9D8B030D-6E8A-4147-A177-3AD203B41FA5}">
                      <a16:colId xmlns:a16="http://schemas.microsoft.com/office/drawing/2014/main" val="2624428888"/>
                    </a:ext>
                  </a:extLst>
                </a:gridCol>
                <a:gridCol w="890145">
                  <a:extLst>
                    <a:ext uri="{9D8B030D-6E8A-4147-A177-3AD203B41FA5}">
                      <a16:colId xmlns:a16="http://schemas.microsoft.com/office/drawing/2014/main" val="1353267938"/>
                    </a:ext>
                  </a:extLst>
                </a:gridCol>
                <a:gridCol w="1175088">
                  <a:extLst>
                    <a:ext uri="{9D8B030D-6E8A-4147-A177-3AD203B41FA5}">
                      <a16:colId xmlns:a16="http://schemas.microsoft.com/office/drawing/2014/main" val="2010262365"/>
                    </a:ext>
                  </a:extLst>
                </a:gridCol>
                <a:gridCol w="1046663">
                  <a:extLst>
                    <a:ext uri="{9D8B030D-6E8A-4147-A177-3AD203B41FA5}">
                      <a16:colId xmlns:a16="http://schemas.microsoft.com/office/drawing/2014/main" val="3738249788"/>
                    </a:ext>
                  </a:extLst>
                </a:gridCol>
                <a:gridCol w="1505381">
                  <a:extLst>
                    <a:ext uri="{9D8B030D-6E8A-4147-A177-3AD203B41FA5}">
                      <a16:colId xmlns:a16="http://schemas.microsoft.com/office/drawing/2014/main" val="1443466703"/>
                    </a:ext>
                  </a:extLst>
                </a:gridCol>
              </a:tblGrid>
              <a:tr h="293451">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Ruolo</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ProductID</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Stock</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6518388"/>
                  </a:ext>
                </a:extLst>
              </a:tr>
              <a:tr h="528629">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TF-ADM-01</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Negativo</a:t>
                      </a:r>
                      <a:endParaRPr lang="it-IT" sz="2300" b="0" i="0" u="none" strike="noStrike" dirty="0">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Errore, nessun update DB</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6563222"/>
                  </a:ext>
                </a:extLst>
              </a:tr>
              <a:tr h="763807">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TF-ADM-02</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0</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Update stock=0 (prodotto non disponibile)</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4084537"/>
                  </a:ext>
                </a:extLst>
              </a:tr>
              <a:tr h="528629">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TF-ADM-03</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Positivo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Update stock, refresh pagina</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5510131"/>
                  </a:ext>
                </a:extLst>
              </a:tr>
              <a:tr h="998986">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TF-ADM-04</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Utente</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Positivo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Accesso negato/redirect, nessuna modifica DB</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1518418"/>
                  </a:ext>
                </a:extLst>
              </a:tr>
              <a:tr h="998986">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TF-ADM-05</a:t>
                      </a:r>
                      <a:endParaRPr lang="it-IT" sz="2300" b="0" i="0" u="none" strike="noStrike">
                        <a:effectLst/>
                        <a:latin typeface="Arial" panose="020B0604020202020204" pitchFamily="34" charset="0"/>
                      </a:endParaRPr>
                    </a:p>
                  </a:txBody>
                  <a:tcPr marL="86687" marR="86687" marT="1204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Non esistente</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Positivo</a:t>
                      </a:r>
                      <a:endParaRPr lang="it-IT" sz="2300" b="0" i="0" u="none" strike="noStrike">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Gestione controllata (errore), nessun update</a:t>
                      </a:r>
                      <a:endParaRPr lang="it-IT" sz="2300" b="0" i="0" u="none" strike="noStrike" dirty="0">
                        <a:effectLst/>
                        <a:latin typeface="Arial" panose="020B0604020202020204" pitchFamily="34" charset="0"/>
                      </a:endParaRPr>
                    </a:p>
                  </a:txBody>
                  <a:tcPr marL="86687" marR="86687" marT="1204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3169127"/>
                  </a:ext>
                </a:extLst>
              </a:tr>
            </a:tbl>
          </a:graphicData>
        </a:graphic>
      </p:graphicFrame>
      <p:sp>
        <p:nvSpPr>
          <p:cNvPr id="11" name="CasellaDiTesto 10">
            <a:extLst>
              <a:ext uri="{FF2B5EF4-FFF2-40B4-BE49-F238E27FC236}">
                <a16:creationId xmlns:a16="http://schemas.microsoft.com/office/drawing/2014/main" id="{41AEE8B4-E7CD-7D43-D2C1-C37BAC86182D}"/>
              </a:ext>
            </a:extLst>
          </p:cNvPr>
          <p:cNvSpPr txBox="1"/>
          <p:nvPr/>
        </p:nvSpPr>
        <p:spPr>
          <a:xfrm>
            <a:off x="336576" y="1655117"/>
            <a:ext cx="6093372" cy="4401205"/>
          </a:xfrm>
          <a:prstGeom prst="rect">
            <a:avLst/>
          </a:prstGeom>
          <a:noFill/>
        </p:spPr>
        <p:txBody>
          <a:bodyPr wrap="square">
            <a:spAutoFit/>
          </a:bodyPr>
          <a:lstStyle/>
          <a:p>
            <a:pPr lvl="1" fontAlgn="base"/>
            <a:r>
              <a:rPr lang="it-IT" sz="1400" b="1" i="1" dirty="0"/>
              <a:t>Test items</a:t>
            </a:r>
          </a:p>
          <a:p>
            <a:pPr lvl="0"/>
            <a:r>
              <a:rPr lang="it-IT" sz="1400" dirty="0"/>
              <a:t>UI: pagina admin gestione catalogo/stock</a:t>
            </a:r>
          </a:p>
          <a:p>
            <a:pPr lvl="0"/>
            <a:r>
              <a:rPr lang="it-IT" sz="1400" dirty="0"/>
              <a:t>Controller: </a:t>
            </a:r>
            <a:r>
              <a:rPr lang="it-IT" sz="1400" dirty="0" err="1"/>
              <a:t>QuantityIncDecServlet</a:t>
            </a:r>
            <a:r>
              <a:rPr lang="it-IT" sz="1400" dirty="0"/>
              <a:t>, </a:t>
            </a:r>
            <a:r>
              <a:rPr lang="it-IT" sz="1400" dirty="0" err="1"/>
              <a:t>AdminAddStockServlet</a:t>
            </a:r>
            <a:r>
              <a:rPr lang="it-IT" sz="1400" dirty="0"/>
              <a:t>, </a:t>
            </a:r>
            <a:r>
              <a:rPr lang="it-IT" sz="1400" dirty="0" err="1"/>
              <a:t>AdminRemoveStockServlet</a:t>
            </a:r>
            <a:endParaRPr lang="it-IT" sz="1400" dirty="0"/>
          </a:p>
          <a:p>
            <a:pPr lvl="0"/>
            <a:r>
              <a:rPr lang="it-IT" sz="1400" dirty="0"/>
              <a:t>DAO: </a:t>
            </a:r>
            <a:r>
              <a:rPr lang="it-IT" sz="1400" dirty="0" err="1"/>
              <a:t>ProdottoDAO</a:t>
            </a:r>
            <a:endParaRPr lang="it-IT" sz="1400" dirty="0"/>
          </a:p>
          <a:p>
            <a:pPr lvl="0"/>
            <a:r>
              <a:rPr lang="it-IT" sz="1400" dirty="0"/>
              <a:t>Access control: ruolo Admin </a:t>
            </a:r>
          </a:p>
          <a:p>
            <a:pPr lvl="0"/>
            <a:r>
              <a:rPr lang="it-IT" sz="1400" dirty="0"/>
              <a:t>DB: tabella prodotti</a:t>
            </a:r>
          </a:p>
          <a:p>
            <a:pPr lvl="0"/>
            <a:endParaRPr lang="it-IT" sz="1400" dirty="0"/>
          </a:p>
          <a:p>
            <a:pPr lvl="0"/>
            <a:r>
              <a:rPr lang="it-IT" sz="1400" b="1" dirty="0"/>
              <a:t>Classi di test</a:t>
            </a:r>
          </a:p>
          <a:p>
            <a:pPr lvl="0"/>
            <a:r>
              <a:rPr lang="it-IT" sz="1400" dirty="0" err="1"/>
              <a:t>AdminAddStockServletIntegrationTest</a:t>
            </a:r>
            <a:endParaRPr lang="it-IT" sz="1400" dirty="0"/>
          </a:p>
          <a:p>
            <a:pPr lvl="1"/>
            <a:r>
              <a:rPr lang="it-IT" sz="1400" dirty="0"/>
              <a:t>TF_ADM_02</a:t>
            </a:r>
          </a:p>
          <a:p>
            <a:pPr lvl="1"/>
            <a:r>
              <a:rPr lang="it-IT" sz="1400" dirty="0"/>
              <a:t>TF_ADM_03</a:t>
            </a:r>
          </a:p>
          <a:p>
            <a:pPr lvl="1"/>
            <a:r>
              <a:rPr lang="it-IT" sz="1400" dirty="0"/>
              <a:t>TF_ADM_05</a:t>
            </a:r>
          </a:p>
          <a:p>
            <a:pPr lvl="0"/>
            <a:r>
              <a:rPr lang="it-IT" sz="1400" dirty="0" err="1"/>
              <a:t>AdminRemoveStockServletIntegrationTest</a:t>
            </a:r>
            <a:endParaRPr lang="it-IT" sz="1400" dirty="0"/>
          </a:p>
          <a:p>
            <a:pPr lvl="1"/>
            <a:r>
              <a:rPr lang="it-IT" sz="1400" dirty="0"/>
              <a:t>TF_ADM_01</a:t>
            </a:r>
          </a:p>
          <a:p>
            <a:pPr lvl="1"/>
            <a:r>
              <a:rPr lang="it-IT" sz="1400" dirty="0"/>
              <a:t>TF_ADM_03</a:t>
            </a:r>
          </a:p>
          <a:p>
            <a:pPr lvl="1"/>
            <a:r>
              <a:rPr lang="it-IT" sz="1400" dirty="0"/>
              <a:t>TF_ADM_05</a:t>
            </a:r>
          </a:p>
          <a:p>
            <a:pPr lvl="0"/>
            <a:r>
              <a:rPr lang="it-IT" sz="1400" dirty="0" err="1"/>
              <a:t>ProdottoDaoTest</a:t>
            </a:r>
            <a:endParaRPr lang="it-IT" sz="1400" dirty="0"/>
          </a:p>
          <a:p>
            <a:pPr lvl="1"/>
            <a:r>
              <a:rPr lang="it-IT" sz="1400" dirty="0"/>
              <a:t>TF_ADM_03</a:t>
            </a:r>
          </a:p>
          <a:p>
            <a:pPr lvl="1"/>
            <a:r>
              <a:rPr lang="it-IT" sz="1400" dirty="0"/>
              <a:t>TF_ADM_04</a:t>
            </a:r>
          </a:p>
        </p:txBody>
      </p:sp>
    </p:spTree>
    <p:extLst>
      <p:ext uri="{BB962C8B-B14F-4D97-AF65-F5344CB8AC3E}">
        <p14:creationId xmlns:p14="http://schemas.microsoft.com/office/powerpoint/2010/main" val="8238616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7B70CA6-BBF8-A8AA-7063-9FA5D597F787}"/>
            </a:ext>
          </a:extLst>
        </p:cNvPr>
        <p:cNvGrpSpPr/>
        <p:nvPr/>
      </p:nvGrpSpPr>
      <p:grpSpPr>
        <a:xfrm>
          <a:off x="0" y="0"/>
          <a:ext cx="0" cy="0"/>
          <a:chOff x="0" y="0"/>
          <a:chExt cx="0" cy="0"/>
        </a:xfrm>
      </p:grpSpPr>
      <p:sp>
        <p:nvSpPr>
          <p:cNvPr id="14" name="Freeform: Shape 13">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6" name="Group 15">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7" name="Freeform: Shape 16">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8" name="Freeform: Shape 17">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9" name="Freeform: Shape 18">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0"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1"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2"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Freeform: Shape 24">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8"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9"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0"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1"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2"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3"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5" name="Rectangle 34">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DC84FA15-B182-6402-E699-CFB267A9E470}"/>
              </a:ext>
            </a:extLst>
          </p:cNvPr>
          <p:cNvSpPr>
            <a:spLocks noGrp="1"/>
          </p:cNvSpPr>
          <p:nvPr>
            <p:ph type="title"/>
          </p:nvPr>
        </p:nvSpPr>
        <p:spPr>
          <a:xfrm>
            <a:off x="546842" y="413738"/>
            <a:ext cx="4841669" cy="1978346"/>
          </a:xfrm>
        </p:spPr>
        <p:txBody>
          <a:bodyPr vert="horz" lIns="91440" tIns="45720" rIns="91440" bIns="45720" rtlCol="0" anchor="b">
            <a:normAutofit/>
          </a:bodyPr>
          <a:lstStyle/>
          <a:p>
            <a:pPr>
              <a:lnSpc>
                <a:spcPct val="90000"/>
              </a:lnSpc>
            </a:pPr>
            <a:r>
              <a:rPr lang="en-US" sz="3400" dirty="0"/>
              <a:t>Test Cases</a:t>
            </a:r>
            <a:br>
              <a:rPr lang="en-US" sz="3400" dirty="0"/>
            </a:br>
            <a:r>
              <a:rPr lang="it-IT" sz="3400" dirty="0"/>
              <a:t>10.	TC_ADM_02 – Modifica prezzo prodotti (UC6/UC6.1)</a:t>
            </a:r>
            <a:endParaRPr lang="en-US" sz="3400" dirty="0"/>
          </a:p>
        </p:txBody>
      </p:sp>
      <p:sp>
        <p:nvSpPr>
          <p:cNvPr id="37" name="Freeform: Shape 36">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9"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40"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1"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2"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5"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7" name="Freeform: Shape 46">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9" name="Group 48">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0" name="Freeform: Shape 49">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Freeform: Shape 50">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Freeform: Shape 51">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3"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4"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5"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9" name="Segnaposto contenuto 8">
            <a:extLst>
              <a:ext uri="{FF2B5EF4-FFF2-40B4-BE49-F238E27FC236}">
                <a16:creationId xmlns:a16="http://schemas.microsoft.com/office/drawing/2014/main" id="{D2CC95D6-530E-CCBD-86A6-752F7467BB31}"/>
              </a:ext>
            </a:extLst>
          </p:cNvPr>
          <p:cNvGraphicFramePr>
            <a:graphicFrameLocks noGrp="1"/>
          </p:cNvGraphicFramePr>
          <p:nvPr>
            <p:ph idx="1"/>
            <p:extLst>
              <p:ext uri="{D42A27DB-BD31-4B8C-83A1-F6EECF244321}">
                <p14:modId xmlns:p14="http://schemas.microsoft.com/office/powerpoint/2010/main" val="2329254820"/>
              </p:ext>
            </p:extLst>
          </p:nvPr>
        </p:nvGraphicFramePr>
        <p:xfrm>
          <a:off x="5974872" y="2180879"/>
          <a:ext cx="5677187" cy="2426660"/>
        </p:xfrm>
        <a:graphic>
          <a:graphicData uri="http://schemas.openxmlformats.org/drawingml/2006/table">
            <a:tbl>
              <a:tblPr firstRow="1" firstCol="1" bandRow="1"/>
              <a:tblGrid>
                <a:gridCol w="1202276">
                  <a:extLst>
                    <a:ext uri="{9D8B030D-6E8A-4147-A177-3AD203B41FA5}">
                      <a16:colId xmlns:a16="http://schemas.microsoft.com/office/drawing/2014/main" val="2366377484"/>
                    </a:ext>
                  </a:extLst>
                </a:gridCol>
                <a:gridCol w="817238">
                  <a:extLst>
                    <a:ext uri="{9D8B030D-6E8A-4147-A177-3AD203B41FA5}">
                      <a16:colId xmlns:a16="http://schemas.microsoft.com/office/drawing/2014/main" val="1254082109"/>
                    </a:ext>
                  </a:extLst>
                </a:gridCol>
                <a:gridCol w="1078842">
                  <a:extLst>
                    <a:ext uri="{9D8B030D-6E8A-4147-A177-3AD203B41FA5}">
                      <a16:colId xmlns:a16="http://schemas.microsoft.com/office/drawing/2014/main" val="377425148"/>
                    </a:ext>
                  </a:extLst>
                </a:gridCol>
                <a:gridCol w="808027">
                  <a:extLst>
                    <a:ext uri="{9D8B030D-6E8A-4147-A177-3AD203B41FA5}">
                      <a16:colId xmlns:a16="http://schemas.microsoft.com/office/drawing/2014/main" val="36220561"/>
                    </a:ext>
                  </a:extLst>
                </a:gridCol>
                <a:gridCol w="1770804">
                  <a:extLst>
                    <a:ext uri="{9D8B030D-6E8A-4147-A177-3AD203B41FA5}">
                      <a16:colId xmlns:a16="http://schemas.microsoft.com/office/drawing/2014/main" val="173147580"/>
                    </a:ext>
                  </a:extLst>
                </a:gridCol>
              </a:tblGrid>
              <a:tr h="269416">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Ruolo</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ProductID</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Prezzo</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3592927"/>
                  </a:ext>
                </a:extLst>
              </a:tr>
              <a:tr h="485332">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TF-ADM-06</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&lt;=0</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Errore, nessun update DB</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069604"/>
                  </a:ext>
                </a:extLst>
              </a:tr>
              <a:tr h="485332">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TF-ADM-07</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&gt;0</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Update prezzo, refresh pagina</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5263118"/>
                  </a:ext>
                </a:extLst>
              </a:tr>
              <a:tr h="701248">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TF-ADM-08</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Utente</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&gt;0</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Accesso negato/redirect, nessuna modifica DB</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503702"/>
                  </a:ext>
                </a:extLst>
              </a:tr>
              <a:tr h="485332">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TF-ADM-09 (opzionale)</a:t>
                      </a:r>
                      <a:endParaRPr lang="it-IT" sz="2100" b="0" i="0" u="none" strike="noStrike">
                        <a:effectLst/>
                        <a:latin typeface="Arial" panose="020B0604020202020204" pitchFamily="34" charset="0"/>
                      </a:endParaRPr>
                    </a:p>
                  </a:txBody>
                  <a:tcPr marL="79587" marR="79587" marT="1105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Non esistente</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&gt;0</a:t>
                      </a:r>
                      <a:endParaRPr lang="it-IT" sz="2100" b="0" i="0" u="none" strike="noStrike">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dirty="0">
                          <a:solidFill>
                            <a:srgbClr val="000000"/>
                          </a:solidFill>
                          <a:effectLst/>
                          <a:latin typeface="Times New Roman" panose="02020603050405020304" pitchFamily="18" charset="0"/>
                          <a:ea typeface="Times New Roman" panose="02020603050405020304" pitchFamily="18" charset="0"/>
                        </a:rPr>
                        <a:t>Gestione controllata, nessun update</a:t>
                      </a:r>
                      <a:endParaRPr lang="it-IT" sz="2100" b="0" i="0" u="none" strike="noStrike" dirty="0">
                        <a:effectLst/>
                        <a:latin typeface="Arial" panose="020B0604020202020204" pitchFamily="34" charset="0"/>
                      </a:endParaRPr>
                    </a:p>
                  </a:txBody>
                  <a:tcPr marL="79587" marR="79587" marT="1105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4125575"/>
                  </a:ext>
                </a:extLst>
              </a:tr>
            </a:tbl>
          </a:graphicData>
        </a:graphic>
      </p:graphicFrame>
      <p:sp>
        <p:nvSpPr>
          <p:cNvPr id="11" name="CasellaDiTesto 10">
            <a:extLst>
              <a:ext uri="{FF2B5EF4-FFF2-40B4-BE49-F238E27FC236}">
                <a16:creationId xmlns:a16="http://schemas.microsoft.com/office/drawing/2014/main" id="{D29926B2-8407-C9E6-2115-F4149206AC78}"/>
              </a:ext>
            </a:extLst>
          </p:cNvPr>
          <p:cNvSpPr txBox="1"/>
          <p:nvPr/>
        </p:nvSpPr>
        <p:spPr>
          <a:xfrm>
            <a:off x="289950" y="2931840"/>
            <a:ext cx="6101254" cy="3970318"/>
          </a:xfrm>
          <a:prstGeom prst="rect">
            <a:avLst/>
          </a:prstGeom>
          <a:noFill/>
        </p:spPr>
        <p:txBody>
          <a:bodyPr wrap="square">
            <a:spAutoFit/>
          </a:bodyPr>
          <a:lstStyle/>
          <a:p>
            <a:pPr lvl="1" fontAlgn="base"/>
            <a:r>
              <a:rPr lang="it-IT" b="1" i="1" dirty="0"/>
              <a:t>Test items</a:t>
            </a:r>
          </a:p>
          <a:p>
            <a:pPr lvl="0"/>
            <a:r>
              <a:rPr lang="it-IT" dirty="0"/>
              <a:t>UI: pagina admin gestione catalogo/stock</a:t>
            </a:r>
          </a:p>
          <a:p>
            <a:pPr lvl="0"/>
            <a:r>
              <a:rPr lang="it-IT" dirty="0"/>
              <a:t>Controller:, </a:t>
            </a:r>
          </a:p>
          <a:p>
            <a:pPr lvl="0"/>
            <a:r>
              <a:rPr lang="it-IT" dirty="0"/>
              <a:t>DAO: </a:t>
            </a:r>
            <a:r>
              <a:rPr lang="it-IT" dirty="0" err="1"/>
              <a:t>ProdottoDAO</a:t>
            </a:r>
            <a:endParaRPr lang="it-IT" dirty="0"/>
          </a:p>
          <a:p>
            <a:pPr lvl="0"/>
            <a:r>
              <a:rPr lang="it-IT" dirty="0"/>
              <a:t>Access control: ruolo Admin </a:t>
            </a:r>
          </a:p>
          <a:p>
            <a:pPr lvl="0"/>
            <a:r>
              <a:rPr lang="it-IT" dirty="0"/>
              <a:t>DB: tabella prodotti</a:t>
            </a:r>
          </a:p>
          <a:p>
            <a:pPr lvl="0"/>
            <a:r>
              <a:rPr lang="it-IT" b="1" dirty="0"/>
              <a:t>Classi di test</a:t>
            </a:r>
          </a:p>
          <a:p>
            <a:pPr lvl="0"/>
            <a:r>
              <a:rPr lang="it-IT" dirty="0" err="1"/>
              <a:t>AdminModifyPriceProdottoIntegrationTest</a:t>
            </a:r>
            <a:endParaRPr lang="it-IT" dirty="0"/>
          </a:p>
          <a:p>
            <a:pPr lvl="1"/>
            <a:r>
              <a:rPr lang="it-IT" dirty="0"/>
              <a:t>TF_ADM_06</a:t>
            </a:r>
          </a:p>
          <a:p>
            <a:pPr lvl="1"/>
            <a:r>
              <a:rPr lang="it-IT" dirty="0"/>
              <a:t>TF_ADM_07</a:t>
            </a:r>
          </a:p>
          <a:p>
            <a:pPr lvl="1"/>
            <a:r>
              <a:rPr lang="it-IT" dirty="0"/>
              <a:t>TF_ADM_08</a:t>
            </a:r>
          </a:p>
          <a:p>
            <a:pPr lvl="1"/>
            <a:r>
              <a:rPr lang="it-IT" dirty="0"/>
              <a:t>TF_ADM_09</a:t>
            </a:r>
          </a:p>
          <a:p>
            <a:pPr lvl="0"/>
            <a:r>
              <a:rPr lang="it-IT" dirty="0" err="1"/>
              <a:t>ProdottoDaoTest</a:t>
            </a:r>
            <a:endParaRPr lang="it-IT" dirty="0"/>
          </a:p>
          <a:p>
            <a:pPr lvl="1"/>
            <a:r>
              <a:rPr lang="it-IT" dirty="0"/>
              <a:t>TF_ADM_07</a:t>
            </a:r>
          </a:p>
        </p:txBody>
      </p:sp>
    </p:spTree>
    <p:extLst>
      <p:ext uri="{BB962C8B-B14F-4D97-AF65-F5344CB8AC3E}">
        <p14:creationId xmlns:p14="http://schemas.microsoft.com/office/powerpoint/2010/main" val="2208169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B203FAC-4F6D-D0AA-C7DB-ED7681E7DF3B}"/>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3" name="Group 1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4" name="Freeform: Shape 1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5"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6"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7"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2" name="Rectangle 3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5D7DB5F7-D979-9028-EE95-031603554A2A}"/>
              </a:ext>
            </a:extLst>
          </p:cNvPr>
          <p:cNvSpPr>
            <a:spLocks noGrp="1"/>
          </p:cNvSpPr>
          <p:nvPr>
            <p:ph type="title"/>
          </p:nvPr>
        </p:nvSpPr>
        <p:spPr>
          <a:xfrm>
            <a:off x="530352" y="1122363"/>
            <a:ext cx="4841669" cy="1978346"/>
          </a:xfrm>
        </p:spPr>
        <p:txBody>
          <a:bodyPr vert="horz" lIns="91440" tIns="45720" rIns="91440" bIns="45720" rtlCol="0" anchor="b">
            <a:normAutofit/>
          </a:bodyPr>
          <a:lstStyle/>
          <a:p>
            <a:pPr>
              <a:lnSpc>
                <a:spcPct val="90000"/>
              </a:lnSpc>
            </a:pPr>
            <a:r>
              <a:rPr lang="en-US" sz="3400"/>
              <a:t>Test Cases</a:t>
            </a:r>
            <a:br>
              <a:rPr lang="en-US" sz="3400"/>
            </a:br>
            <a:r>
              <a:rPr lang="en-US" sz="3400"/>
              <a:t>11.	TC_ADM_03 – Aggiunta prodotto (UC7/UC7.1)</a:t>
            </a:r>
          </a:p>
        </p:txBody>
      </p:sp>
      <p:sp>
        <p:nvSpPr>
          <p:cNvPr id="34" name="Freeform: Shape 33">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6"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8"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9"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4" name="Freeform: Shape 43">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6" name="Group 45">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7" name="Freeform: Shape 46">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8" name="Freeform: Shape 47">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1"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Segnaposto contenuto 5">
            <a:extLst>
              <a:ext uri="{FF2B5EF4-FFF2-40B4-BE49-F238E27FC236}">
                <a16:creationId xmlns:a16="http://schemas.microsoft.com/office/drawing/2014/main" id="{5E439A0C-A626-F04F-1ED1-89B6364BE9AC}"/>
              </a:ext>
            </a:extLst>
          </p:cNvPr>
          <p:cNvGraphicFramePr>
            <a:graphicFrameLocks noGrp="1"/>
          </p:cNvGraphicFramePr>
          <p:nvPr>
            <p:ph idx="1"/>
            <p:extLst>
              <p:ext uri="{D42A27DB-BD31-4B8C-83A1-F6EECF244321}">
                <p14:modId xmlns:p14="http://schemas.microsoft.com/office/powerpoint/2010/main" val="2709567972"/>
              </p:ext>
            </p:extLst>
          </p:nvPr>
        </p:nvGraphicFramePr>
        <p:xfrm>
          <a:off x="5974872" y="1764227"/>
          <a:ext cx="5677186" cy="3259965"/>
        </p:xfrm>
        <a:graphic>
          <a:graphicData uri="http://schemas.openxmlformats.org/drawingml/2006/table">
            <a:tbl>
              <a:tblPr firstRow="1" firstCol="1" bandRow="1"/>
              <a:tblGrid>
                <a:gridCol w="1121255">
                  <a:extLst>
                    <a:ext uri="{9D8B030D-6E8A-4147-A177-3AD203B41FA5}">
                      <a16:colId xmlns:a16="http://schemas.microsoft.com/office/drawing/2014/main" val="863231634"/>
                    </a:ext>
                  </a:extLst>
                </a:gridCol>
                <a:gridCol w="1060618">
                  <a:extLst>
                    <a:ext uri="{9D8B030D-6E8A-4147-A177-3AD203B41FA5}">
                      <a16:colId xmlns:a16="http://schemas.microsoft.com/office/drawing/2014/main" val="3493588434"/>
                    </a:ext>
                  </a:extLst>
                </a:gridCol>
                <a:gridCol w="751272">
                  <a:extLst>
                    <a:ext uri="{9D8B030D-6E8A-4147-A177-3AD203B41FA5}">
                      <a16:colId xmlns:a16="http://schemas.microsoft.com/office/drawing/2014/main" val="3994291690"/>
                    </a:ext>
                  </a:extLst>
                </a:gridCol>
                <a:gridCol w="684469">
                  <a:extLst>
                    <a:ext uri="{9D8B030D-6E8A-4147-A177-3AD203B41FA5}">
                      <a16:colId xmlns:a16="http://schemas.microsoft.com/office/drawing/2014/main" val="2897677206"/>
                    </a:ext>
                  </a:extLst>
                </a:gridCol>
                <a:gridCol w="1190797">
                  <a:extLst>
                    <a:ext uri="{9D8B030D-6E8A-4147-A177-3AD203B41FA5}">
                      <a16:colId xmlns:a16="http://schemas.microsoft.com/office/drawing/2014/main" val="2939928244"/>
                    </a:ext>
                  </a:extLst>
                </a:gridCol>
                <a:gridCol w="868775">
                  <a:extLst>
                    <a:ext uri="{9D8B030D-6E8A-4147-A177-3AD203B41FA5}">
                      <a16:colId xmlns:a16="http://schemas.microsoft.com/office/drawing/2014/main" val="3071942609"/>
                    </a:ext>
                  </a:extLst>
                </a:gridCol>
              </a:tblGrid>
              <a:tr h="451243">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Campi Obbligaotri</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Prezzo</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Stock</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200" b="1" i="1" u="none" strike="noStrike" kern="100">
                          <a:solidFill>
                            <a:srgbClr val="000000"/>
                          </a:solidFill>
                          <a:effectLst/>
                          <a:latin typeface="Times New Roman" panose="02020603050405020304" pitchFamily="18" charset="0"/>
                          <a:ea typeface="Times New Roman" panose="02020603050405020304" pitchFamily="18" charset="0"/>
                        </a:rPr>
                        <a:t>Stato prodotto</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263548"/>
                  </a:ext>
                </a:extLst>
              </a:tr>
              <a:tr h="852743">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TF-ADM-10</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Mancanti</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Errore: campi evidenziati, nessun insert DB</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attivo</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0071795"/>
                  </a:ext>
                </a:extLst>
              </a:tr>
              <a:tr h="651993">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TF-ADM-11</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Presenti</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&lt;=0</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&gt;= 0</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Errore: vincolo prezzo, nessun insert</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attivo</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8269452"/>
                  </a:ext>
                </a:extLst>
              </a:tr>
              <a:tr h="651993">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TF-ADM-12</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Presenti</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&gt;0</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&lt;0</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Errore: vincolo stock, nessun insert</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attivo</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263892"/>
                  </a:ext>
                </a:extLst>
              </a:tr>
              <a:tr h="651993">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TF-ADM-13</a:t>
                      </a:r>
                      <a:endParaRPr lang="it-IT" sz="1900" b="0" i="0" u="none" strike="noStrike">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Presenti</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&gt;0</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&gt;=0</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200" b="0" i="0" u="none" strike="noStrike" kern="100">
                          <a:solidFill>
                            <a:srgbClr val="000000"/>
                          </a:solidFill>
                          <a:effectLst/>
                          <a:latin typeface="Times New Roman" panose="02020603050405020304" pitchFamily="18" charset="0"/>
                          <a:ea typeface="Times New Roman" panose="02020603050405020304" pitchFamily="18" charset="0"/>
                        </a:rPr>
                        <a:t>Insert OK, redirect lista prodotti</a:t>
                      </a:r>
                      <a:endParaRPr lang="it-IT" sz="1900" b="0" i="0" u="none" strike="noStrike">
                        <a:effectLst/>
                        <a:latin typeface="Arial" panose="020B0604020202020204" pitchFamily="34" charset="0"/>
                      </a:endParaRPr>
                    </a:p>
                  </a:txBody>
                  <a:tcPr marL="73997" marR="73997" marT="10277"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dirty="0">
                          <a:solidFill>
                            <a:srgbClr val="000000"/>
                          </a:solidFill>
                          <a:effectLst/>
                          <a:latin typeface="Times New Roman" panose="02020603050405020304" pitchFamily="18" charset="0"/>
                          <a:ea typeface="Times New Roman" panose="02020603050405020304" pitchFamily="18" charset="0"/>
                        </a:rPr>
                        <a:t>attivo</a:t>
                      </a:r>
                      <a:endParaRPr lang="it-IT" sz="1900" b="0" i="0" u="none" strike="noStrike" dirty="0">
                        <a:effectLst/>
                        <a:latin typeface="Arial" panose="020B0604020202020204" pitchFamily="34" charset="0"/>
                      </a:endParaRPr>
                    </a:p>
                  </a:txBody>
                  <a:tcPr marL="73997" marR="73997" marT="10277"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2072310"/>
                  </a:ext>
                </a:extLst>
              </a:tr>
            </a:tbl>
          </a:graphicData>
        </a:graphic>
      </p:graphicFrame>
      <p:sp>
        <p:nvSpPr>
          <p:cNvPr id="8" name="CasellaDiTesto 7">
            <a:extLst>
              <a:ext uri="{FF2B5EF4-FFF2-40B4-BE49-F238E27FC236}">
                <a16:creationId xmlns:a16="http://schemas.microsoft.com/office/drawing/2014/main" id="{9689E5FD-6DCA-DBC1-6797-CF835D26674C}"/>
              </a:ext>
            </a:extLst>
          </p:cNvPr>
          <p:cNvSpPr txBox="1"/>
          <p:nvPr/>
        </p:nvSpPr>
        <p:spPr>
          <a:xfrm>
            <a:off x="416626" y="2924732"/>
            <a:ext cx="6101254" cy="3970318"/>
          </a:xfrm>
          <a:prstGeom prst="rect">
            <a:avLst/>
          </a:prstGeom>
          <a:noFill/>
        </p:spPr>
        <p:txBody>
          <a:bodyPr wrap="square">
            <a:spAutoFit/>
          </a:bodyPr>
          <a:lstStyle/>
          <a:p>
            <a:pPr lvl="1" fontAlgn="base"/>
            <a:r>
              <a:rPr lang="it-IT" b="1" i="1" dirty="0"/>
              <a:t>Test items</a:t>
            </a:r>
          </a:p>
          <a:p>
            <a:pPr lvl="0"/>
            <a:r>
              <a:rPr lang="it-IT" dirty="0"/>
              <a:t>UI: pagina admin gestione catalogo/stock</a:t>
            </a:r>
          </a:p>
          <a:p>
            <a:pPr lvl="0"/>
            <a:r>
              <a:rPr lang="it-IT" dirty="0"/>
              <a:t>Controller: </a:t>
            </a:r>
            <a:r>
              <a:rPr lang="it-IT" dirty="0" err="1"/>
              <a:t>AdminInsertNewProductServlet</a:t>
            </a:r>
            <a:endParaRPr lang="it-IT" dirty="0"/>
          </a:p>
          <a:p>
            <a:pPr lvl="0"/>
            <a:r>
              <a:rPr lang="it-IT" dirty="0"/>
              <a:t>DAO: </a:t>
            </a:r>
            <a:r>
              <a:rPr lang="it-IT" dirty="0" err="1"/>
              <a:t>ProdottoDAO</a:t>
            </a:r>
            <a:endParaRPr lang="it-IT" dirty="0"/>
          </a:p>
          <a:p>
            <a:pPr lvl="0"/>
            <a:r>
              <a:rPr lang="it-IT" dirty="0"/>
              <a:t>Access control: ruolo Admin </a:t>
            </a:r>
          </a:p>
          <a:p>
            <a:pPr lvl="0"/>
            <a:r>
              <a:rPr lang="it-IT" dirty="0"/>
              <a:t>DB: tabella prodotti</a:t>
            </a:r>
          </a:p>
          <a:p>
            <a:pPr lvl="0"/>
            <a:r>
              <a:rPr lang="it-IT" b="1" dirty="0"/>
              <a:t>Classi di test</a:t>
            </a:r>
          </a:p>
          <a:p>
            <a:pPr lvl="0"/>
            <a:r>
              <a:rPr lang="it-IT" dirty="0" err="1"/>
              <a:t>AdminInsertNewProductServletIntegrationTest</a:t>
            </a:r>
            <a:endParaRPr lang="it-IT" dirty="0"/>
          </a:p>
          <a:p>
            <a:pPr lvl="1"/>
            <a:r>
              <a:rPr lang="it-IT" dirty="0"/>
              <a:t>TF_ADM_10</a:t>
            </a:r>
          </a:p>
          <a:p>
            <a:pPr lvl="1"/>
            <a:r>
              <a:rPr lang="it-IT" dirty="0"/>
              <a:t>TF_ADM_11</a:t>
            </a:r>
          </a:p>
          <a:p>
            <a:pPr lvl="1"/>
            <a:r>
              <a:rPr lang="it-IT" dirty="0"/>
              <a:t>TF_ADM_12</a:t>
            </a:r>
          </a:p>
          <a:p>
            <a:pPr lvl="1"/>
            <a:r>
              <a:rPr lang="it-IT" dirty="0"/>
              <a:t>TF_ADM_13</a:t>
            </a:r>
          </a:p>
          <a:p>
            <a:pPr lvl="0"/>
            <a:r>
              <a:rPr lang="it-IT" dirty="0" err="1"/>
              <a:t>ProdottoDaoTest</a:t>
            </a:r>
            <a:endParaRPr lang="it-IT" dirty="0"/>
          </a:p>
          <a:p>
            <a:pPr lvl="1"/>
            <a:r>
              <a:rPr lang="it-IT" dirty="0"/>
              <a:t>TF_ADM_13</a:t>
            </a:r>
          </a:p>
        </p:txBody>
      </p:sp>
    </p:spTree>
    <p:extLst>
      <p:ext uri="{BB962C8B-B14F-4D97-AF65-F5344CB8AC3E}">
        <p14:creationId xmlns:p14="http://schemas.microsoft.com/office/powerpoint/2010/main" val="26077928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8561339-1897-DB81-4783-ECE0D613C7DA}"/>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3" name="Group 1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4" name="Freeform: Shape 1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5"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6"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7"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2" name="Rectangle 3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C4A0ED5D-21E2-DAA4-F460-4A6C20F4D7D5}"/>
              </a:ext>
            </a:extLst>
          </p:cNvPr>
          <p:cNvSpPr>
            <a:spLocks noGrp="1"/>
          </p:cNvSpPr>
          <p:nvPr>
            <p:ph type="title"/>
          </p:nvPr>
        </p:nvSpPr>
        <p:spPr>
          <a:xfrm>
            <a:off x="530352" y="555615"/>
            <a:ext cx="4896536" cy="2545094"/>
          </a:xfrm>
        </p:spPr>
        <p:txBody>
          <a:bodyPr vert="horz" lIns="91440" tIns="45720" rIns="91440" bIns="45720" rtlCol="0" anchor="b">
            <a:normAutofit/>
          </a:bodyPr>
          <a:lstStyle/>
          <a:p>
            <a:r>
              <a:rPr lang="en-US" sz="4000"/>
              <a:t>Test Cases</a:t>
            </a:r>
            <a:br>
              <a:rPr lang="en-US" sz="4000"/>
            </a:br>
            <a:r>
              <a:rPr lang="en-US" sz="4000"/>
              <a:t>12.	TC_ADM_04 – Eliminazione prodotto (UC8)</a:t>
            </a:r>
          </a:p>
        </p:txBody>
      </p:sp>
      <p:sp>
        <p:nvSpPr>
          <p:cNvPr id="34" name="Freeform: Shape 33">
            <a:extLst>
              <a:ext uri="{FF2B5EF4-FFF2-40B4-BE49-F238E27FC236}">
                <a16:creationId xmlns:a16="http://schemas.microsoft.com/office/drawing/2014/main" id="{8972B65B-8AFA-4B5C-BFC6-E443F3777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839951" cy="1423657"/>
          </a:xfrm>
          <a:custGeom>
            <a:avLst/>
            <a:gdLst>
              <a:gd name="connsiteX0" fmla="*/ 0 w 2331138"/>
              <a:gd name="connsiteY0" fmla="*/ 0 h 3352676"/>
              <a:gd name="connsiteX1" fmla="*/ 2331138 w 2331138"/>
              <a:gd name="connsiteY1" fmla="*/ 0 h 3352676"/>
              <a:gd name="connsiteX2" fmla="*/ 2331138 w 2331138"/>
              <a:gd name="connsiteY2" fmla="*/ 3352676 h 3352676"/>
              <a:gd name="connsiteX3" fmla="*/ 2097210 w 2331138"/>
              <a:gd name="connsiteY3" fmla="*/ 3226228 h 3352676"/>
              <a:gd name="connsiteX4" fmla="*/ 214881 w 2331138"/>
              <a:gd name="connsiteY4" fmla="*/ 1176738 h 3352676"/>
              <a:gd name="connsiteX5" fmla="*/ 1129 w 2331138"/>
              <a:gd name="connsiteY5" fmla="*/ 67475 h 335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138" h="3352676">
                <a:moveTo>
                  <a:pt x="0" y="0"/>
                </a:moveTo>
                <a:lnTo>
                  <a:pt x="2331138" y="0"/>
                </a:lnTo>
                <a:lnTo>
                  <a:pt x="2331138" y="3352676"/>
                </a:lnTo>
                <a:lnTo>
                  <a:pt x="2097210" y="3226228"/>
                </a:lnTo>
                <a:cubicBezTo>
                  <a:pt x="1273150" y="2744079"/>
                  <a:pt x="560886" y="2027200"/>
                  <a:pt x="214881" y="1176738"/>
                </a:cubicBezTo>
                <a:cubicBezTo>
                  <a:pt x="72781" y="827511"/>
                  <a:pt x="14297" y="430630"/>
                  <a:pt x="1129" y="67475"/>
                </a:cubicBezTo>
                <a:close/>
              </a:path>
            </a:pathLst>
          </a:custGeom>
          <a:solidFill>
            <a:schemeClr val="accent1">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6" name="Graphic 78">
            <a:extLst>
              <a:ext uri="{FF2B5EF4-FFF2-40B4-BE49-F238E27FC236}">
                <a16:creationId xmlns:a16="http://schemas.microsoft.com/office/drawing/2014/main" id="{8B32F32D-2578-47BA-A8C8-B9CC3F8A09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FE39C5A6-D000-4F68-8942-DD0D6D6F8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8" name="Graphic 78">
              <a:extLst>
                <a:ext uri="{FF2B5EF4-FFF2-40B4-BE49-F238E27FC236}">
                  <a16:creationId xmlns:a16="http://schemas.microsoft.com/office/drawing/2014/main" id="{E89890B6-1232-480B-A1E4-4EE4897F64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9" name="Graphic 78">
                <a:extLst>
                  <a:ext uri="{FF2B5EF4-FFF2-40B4-BE49-F238E27FC236}">
                    <a16:creationId xmlns:a16="http://schemas.microsoft.com/office/drawing/2014/main" id="{AA2A92B4-DD5E-4659-876C-CEF27D8A3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CB3716F9-57FA-4E55-B926-D141DFDE7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6E65CA48-F624-4AAA-B08C-4D030E798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5AB96607-3A57-4F71-87E5-C0D546FEB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4" name="Freeform: Shape 43">
            <a:extLst>
              <a:ext uri="{FF2B5EF4-FFF2-40B4-BE49-F238E27FC236}">
                <a16:creationId xmlns:a16="http://schemas.microsoft.com/office/drawing/2014/main" id="{286E5E1D-FD49-448F-83C8-E06466BE5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899042" y="5608708"/>
            <a:ext cx="4292956" cy="1249292"/>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6" name="Group 45">
            <a:extLst>
              <a:ext uri="{FF2B5EF4-FFF2-40B4-BE49-F238E27FC236}">
                <a16:creationId xmlns:a16="http://schemas.microsoft.com/office/drawing/2014/main" id="{D82E7BA0-A7BA-4C61-9D6F-5345A54056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47993" y="5742897"/>
            <a:ext cx="886141" cy="802496"/>
            <a:chOff x="10948005" y="3272152"/>
            <a:chExt cx="868640" cy="786648"/>
          </a:xfrm>
          <a:solidFill>
            <a:schemeClr val="accent6"/>
          </a:solidFill>
        </p:grpSpPr>
        <p:sp>
          <p:nvSpPr>
            <p:cNvPr id="47" name="Freeform: Shape 46">
              <a:extLst>
                <a:ext uri="{FF2B5EF4-FFF2-40B4-BE49-F238E27FC236}">
                  <a16:creationId xmlns:a16="http://schemas.microsoft.com/office/drawing/2014/main" id="{B5369E81-3115-4284-995E-F753EB421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8" name="Freeform: Shape 47">
              <a:extLst>
                <a:ext uri="{FF2B5EF4-FFF2-40B4-BE49-F238E27FC236}">
                  <a16:creationId xmlns:a16="http://schemas.microsoft.com/office/drawing/2014/main" id="{44729589-1C6A-4995-83DB-3C8AC2B8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7A966D0D-0B99-4534-8150-ECA25F804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Graphic 12">
              <a:extLst>
                <a:ext uri="{FF2B5EF4-FFF2-40B4-BE49-F238E27FC236}">
                  <a16:creationId xmlns:a16="http://schemas.microsoft.com/office/drawing/2014/main" id="{7DC8EDF8-9492-4A6B-8050-A6B44F11B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1" name="Graphic 15">
              <a:extLst>
                <a:ext uri="{FF2B5EF4-FFF2-40B4-BE49-F238E27FC236}">
                  <a16:creationId xmlns:a16="http://schemas.microsoft.com/office/drawing/2014/main" id="{13B4EDF3-5414-4F6E-8824-4FDC7BFD5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6CE204CE-5738-4712-8E02-CF746C010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2369023-4235-4E1E-A424-EA0EA83D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Segnaposto contenuto 5">
            <a:extLst>
              <a:ext uri="{FF2B5EF4-FFF2-40B4-BE49-F238E27FC236}">
                <a16:creationId xmlns:a16="http://schemas.microsoft.com/office/drawing/2014/main" id="{AE2A3ADF-F6FE-EB6F-C03F-F40380B324DB}"/>
              </a:ext>
            </a:extLst>
          </p:cNvPr>
          <p:cNvGraphicFramePr>
            <a:graphicFrameLocks noGrp="1"/>
          </p:cNvGraphicFramePr>
          <p:nvPr>
            <p:ph idx="1"/>
            <p:extLst>
              <p:ext uri="{D42A27DB-BD31-4B8C-83A1-F6EECF244321}">
                <p14:modId xmlns:p14="http://schemas.microsoft.com/office/powerpoint/2010/main" val="988893975"/>
              </p:ext>
            </p:extLst>
          </p:nvPr>
        </p:nvGraphicFramePr>
        <p:xfrm>
          <a:off x="5974872" y="1938327"/>
          <a:ext cx="5677186" cy="2911761"/>
        </p:xfrm>
        <a:graphic>
          <a:graphicData uri="http://schemas.openxmlformats.org/drawingml/2006/table">
            <a:tbl>
              <a:tblPr firstRow="1" firstCol="1" bandRow="1"/>
              <a:tblGrid>
                <a:gridCol w="1251865">
                  <a:extLst>
                    <a:ext uri="{9D8B030D-6E8A-4147-A177-3AD203B41FA5}">
                      <a16:colId xmlns:a16="http://schemas.microsoft.com/office/drawing/2014/main" val="2946136643"/>
                    </a:ext>
                  </a:extLst>
                </a:gridCol>
                <a:gridCol w="848346">
                  <a:extLst>
                    <a:ext uri="{9D8B030D-6E8A-4147-A177-3AD203B41FA5}">
                      <a16:colId xmlns:a16="http://schemas.microsoft.com/office/drawing/2014/main" val="1931885032"/>
                    </a:ext>
                  </a:extLst>
                </a:gridCol>
                <a:gridCol w="1119908">
                  <a:extLst>
                    <a:ext uri="{9D8B030D-6E8A-4147-A177-3AD203B41FA5}">
                      <a16:colId xmlns:a16="http://schemas.microsoft.com/office/drawing/2014/main" val="2176071494"/>
                    </a:ext>
                  </a:extLst>
                </a:gridCol>
                <a:gridCol w="1434691">
                  <a:extLst>
                    <a:ext uri="{9D8B030D-6E8A-4147-A177-3AD203B41FA5}">
                      <a16:colId xmlns:a16="http://schemas.microsoft.com/office/drawing/2014/main" val="8469858"/>
                    </a:ext>
                  </a:extLst>
                </a:gridCol>
                <a:gridCol w="1022376">
                  <a:extLst>
                    <a:ext uri="{9D8B030D-6E8A-4147-A177-3AD203B41FA5}">
                      <a16:colId xmlns:a16="http://schemas.microsoft.com/office/drawing/2014/main" val="203639971"/>
                    </a:ext>
                  </a:extLst>
                </a:gridCol>
              </a:tblGrid>
              <a:tr h="503806">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Ruolo</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ProductID</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300" b="1" i="1" u="none" strike="noStrike" kern="100">
                          <a:solidFill>
                            <a:srgbClr val="000000"/>
                          </a:solidFill>
                          <a:effectLst/>
                          <a:latin typeface="Times New Roman" panose="02020603050405020304" pitchFamily="18" charset="0"/>
                          <a:ea typeface="Times New Roman" panose="02020603050405020304" pitchFamily="18" charset="0"/>
                        </a:rPr>
                        <a:t>Stato prodotto</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3000031"/>
                  </a:ext>
                </a:extLst>
              </a:tr>
              <a:tr h="727940">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TF-ADM-14</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Delete OK, prodotto non più visibile</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disattivo</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0806692"/>
                  </a:ext>
                </a:extLst>
              </a:tr>
              <a:tr h="727940">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TF-ADM-15</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Non esistente</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Gestione controllata (msg), no crash</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disattivo</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5415276"/>
                  </a:ext>
                </a:extLst>
              </a:tr>
              <a:tr h="952075">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TF-ADM-16</a:t>
                      </a:r>
                      <a:endParaRPr lang="it-IT" sz="2200" b="0" i="0" u="none" strike="noStrike">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Utente</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300" b="0" i="0" u="none" strike="noStrike" kern="100">
                          <a:solidFill>
                            <a:srgbClr val="000000"/>
                          </a:solidFill>
                          <a:effectLst/>
                          <a:latin typeface="Times New Roman" panose="02020603050405020304" pitchFamily="18" charset="0"/>
                          <a:ea typeface="Times New Roman" panose="02020603050405020304" pitchFamily="18" charset="0"/>
                        </a:rPr>
                        <a:t>Accesso negato/redirect, nessuna modifica DB</a:t>
                      </a:r>
                      <a:endParaRPr lang="it-IT" sz="2200" b="0" i="0" u="none" strike="noStrike">
                        <a:effectLst/>
                        <a:latin typeface="Arial" panose="020B0604020202020204" pitchFamily="34" charset="0"/>
                      </a:endParaRPr>
                    </a:p>
                  </a:txBody>
                  <a:tcPr marL="82616" marR="82616" marT="11474"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attivo</a:t>
                      </a:r>
                      <a:endParaRPr lang="it-IT" sz="2200" b="0" i="0" u="none" strike="noStrike" dirty="0">
                        <a:effectLst/>
                        <a:latin typeface="Arial" panose="020B0604020202020204" pitchFamily="34" charset="0"/>
                      </a:endParaRPr>
                    </a:p>
                  </a:txBody>
                  <a:tcPr marL="82616" marR="82616" marT="11474" marB="0">
                    <a:lnL w="1905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9341839"/>
                  </a:ext>
                </a:extLst>
              </a:tr>
            </a:tbl>
          </a:graphicData>
        </a:graphic>
      </p:graphicFrame>
      <p:sp>
        <p:nvSpPr>
          <p:cNvPr id="8" name="CasellaDiTesto 7">
            <a:extLst>
              <a:ext uri="{FF2B5EF4-FFF2-40B4-BE49-F238E27FC236}">
                <a16:creationId xmlns:a16="http://schemas.microsoft.com/office/drawing/2014/main" id="{24D068E4-71D2-67C8-EDBF-6719747A9B55}"/>
              </a:ext>
            </a:extLst>
          </p:cNvPr>
          <p:cNvSpPr txBox="1"/>
          <p:nvPr/>
        </p:nvSpPr>
        <p:spPr>
          <a:xfrm>
            <a:off x="539942" y="3432594"/>
            <a:ext cx="6093372" cy="2585323"/>
          </a:xfrm>
          <a:prstGeom prst="rect">
            <a:avLst/>
          </a:prstGeom>
          <a:noFill/>
        </p:spPr>
        <p:txBody>
          <a:bodyPr wrap="square">
            <a:spAutoFit/>
          </a:bodyPr>
          <a:lstStyle/>
          <a:p>
            <a:pPr lvl="1" fontAlgn="base"/>
            <a:r>
              <a:rPr lang="it-IT" b="1" i="1" dirty="0"/>
              <a:t>Test items</a:t>
            </a:r>
          </a:p>
          <a:p>
            <a:pPr lvl="0"/>
            <a:r>
              <a:rPr lang="it-IT" dirty="0"/>
              <a:t>UI: pagina admin gestione catalogo/stock</a:t>
            </a:r>
          </a:p>
          <a:p>
            <a:pPr lvl="0"/>
            <a:r>
              <a:rPr lang="it-IT" dirty="0"/>
              <a:t>Controller: </a:t>
            </a:r>
            <a:r>
              <a:rPr lang="it-IT" dirty="0" err="1"/>
              <a:t>AdminDeleteProdotoServlet</a:t>
            </a:r>
            <a:endParaRPr lang="it-IT" dirty="0"/>
          </a:p>
          <a:p>
            <a:pPr lvl="0"/>
            <a:r>
              <a:rPr lang="it-IT" dirty="0"/>
              <a:t>DAO: </a:t>
            </a:r>
            <a:r>
              <a:rPr lang="it-IT" dirty="0" err="1"/>
              <a:t>ProdottoDAO</a:t>
            </a:r>
            <a:endParaRPr lang="it-IT" dirty="0"/>
          </a:p>
          <a:p>
            <a:pPr lvl="0"/>
            <a:r>
              <a:rPr lang="it-IT" b="1" dirty="0"/>
              <a:t>Classi di test</a:t>
            </a:r>
          </a:p>
          <a:p>
            <a:pPr lvl="0"/>
            <a:r>
              <a:rPr lang="it-IT" dirty="0" err="1"/>
              <a:t>AdminDeleteProdottoServletIntegrationTest</a:t>
            </a:r>
            <a:endParaRPr lang="it-IT" dirty="0"/>
          </a:p>
          <a:p>
            <a:pPr lvl="1"/>
            <a:r>
              <a:rPr lang="it-IT" dirty="0"/>
              <a:t>TF_ADM_14</a:t>
            </a:r>
          </a:p>
          <a:p>
            <a:pPr lvl="1"/>
            <a:r>
              <a:rPr lang="it-IT" dirty="0"/>
              <a:t>TF_ADM_15</a:t>
            </a:r>
          </a:p>
          <a:p>
            <a:pPr lvl="1"/>
            <a:r>
              <a:rPr lang="it-IT" dirty="0"/>
              <a:t>TF_ADM_16</a:t>
            </a:r>
          </a:p>
        </p:txBody>
      </p:sp>
    </p:spTree>
    <p:extLst>
      <p:ext uri="{BB962C8B-B14F-4D97-AF65-F5344CB8AC3E}">
        <p14:creationId xmlns:p14="http://schemas.microsoft.com/office/powerpoint/2010/main" val="15715044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707C237-BAD8-1F2F-D79E-C879F996608E}"/>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3" name="Group 1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4" name="Freeform: Shape 1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5" name="Freeform: Shape 1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Freeform: Shape 1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25"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6"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7"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8"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9"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0"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32" name="Rectangle 3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olo 1">
            <a:extLst>
              <a:ext uri="{FF2B5EF4-FFF2-40B4-BE49-F238E27FC236}">
                <a16:creationId xmlns:a16="http://schemas.microsoft.com/office/drawing/2014/main" id="{1A804D55-7F5F-EC96-8E23-68E194F971BE}"/>
              </a:ext>
            </a:extLst>
          </p:cNvPr>
          <p:cNvSpPr>
            <a:spLocks noGrp="1"/>
          </p:cNvSpPr>
          <p:nvPr>
            <p:ph type="title"/>
          </p:nvPr>
        </p:nvSpPr>
        <p:spPr>
          <a:xfrm>
            <a:off x="530352" y="555615"/>
            <a:ext cx="4896536" cy="2545094"/>
          </a:xfrm>
        </p:spPr>
        <p:txBody>
          <a:bodyPr vert="horz" lIns="91440" tIns="45720" rIns="91440" bIns="45720" rtlCol="0" anchor="b">
            <a:normAutofit/>
          </a:bodyPr>
          <a:lstStyle/>
          <a:p>
            <a:r>
              <a:rPr lang="en-US" sz="4000"/>
              <a:t>Test Cases</a:t>
            </a:r>
            <a:br>
              <a:rPr lang="en-US" sz="4000"/>
            </a:br>
            <a:r>
              <a:rPr lang="en-US" sz="4000"/>
              <a:t>13.	TC_ADM_05 – Modifica stato ordine (UC9)</a:t>
            </a:r>
          </a:p>
        </p:txBody>
      </p:sp>
      <p:sp>
        <p:nvSpPr>
          <p:cNvPr id="34" name="Freeform: Shape 33">
            <a:extLst>
              <a:ext uri="{FF2B5EF4-FFF2-40B4-BE49-F238E27FC236}">
                <a16:creationId xmlns:a16="http://schemas.microsoft.com/office/drawing/2014/main" id="{8972B65B-8AFA-4B5C-BFC6-E443F3777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839951" cy="1423657"/>
          </a:xfrm>
          <a:custGeom>
            <a:avLst/>
            <a:gdLst>
              <a:gd name="connsiteX0" fmla="*/ 0 w 2331138"/>
              <a:gd name="connsiteY0" fmla="*/ 0 h 3352676"/>
              <a:gd name="connsiteX1" fmla="*/ 2331138 w 2331138"/>
              <a:gd name="connsiteY1" fmla="*/ 0 h 3352676"/>
              <a:gd name="connsiteX2" fmla="*/ 2331138 w 2331138"/>
              <a:gd name="connsiteY2" fmla="*/ 3352676 h 3352676"/>
              <a:gd name="connsiteX3" fmla="*/ 2097210 w 2331138"/>
              <a:gd name="connsiteY3" fmla="*/ 3226228 h 3352676"/>
              <a:gd name="connsiteX4" fmla="*/ 214881 w 2331138"/>
              <a:gd name="connsiteY4" fmla="*/ 1176738 h 3352676"/>
              <a:gd name="connsiteX5" fmla="*/ 1129 w 2331138"/>
              <a:gd name="connsiteY5" fmla="*/ 67475 h 335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138" h="3352676">
                <a:moveTo>
                  <a:pt x="0" y="0"/>
                </a:moveTo>
                <a:lnTo>
                  <a:pt x="2331138" y="0"/>
                </a:lnTo>
                <a:lnTo>
                  <a:pt x="2331138" y="3352676"/>
                </a:lnTo>
                <a:lnTo>
                  <a:pt x="2097210" y="3226228"/>
                </a:lnTo>
                <a:cubicBezTo>
                  <a:pt x="1273150" y="2744079"/>
                  <a:pt x="560886" y="2027200"/>
                  <a:pt x="214881" y="1176738"/>
                </a:cubicBezTo>
                <a:cubicBezTo>
                  <a:pt x="72781" y="827511"/>
                  <a:pt x="14297" y="430630"/>
                  <a:pt x="1129" y="67475"/>
                </a:cubicBezTo>
                <a:close/>
              </a:path>
            </a:pathLst>
          </a:custGeom>
          <a:solidFill>
            <a:schemeClr val="accent1">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6" name="Graphic 78">
            <a:extLst>
              <a:ext uri="{FF2B5EF4-FFF2-40B4-BE49-F238E27FC236}">
                <a16:creationId xmlns:a16="http://schemas.microsoft.com/office/drawing/2014/main" id="{8B32F32D-2578-47BA-A8C8-B9CC3F8A09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FE39C5A6-D000-4F68-8942-DD0D6D6F8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8" name="Graphic 78">
              <a:extLst>
                <a:ext uri="{FF2B5EF4-FFF2-40B4-BE49-F238E27FC236}">
                  <a16:creationId xmlns:a16="http://schemas.microsoft.com/office/drawing/2014/main" id="{E89890B6-1232-480B-A1E4-4EE4897F64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9" name="Graphic 78">
                <a:extLst>
                  <a:ext uri="{FF2B5EF4-FFF2-40B4-BE49-F238E27FC236}">
                    <a16:creationId xmlns:a16="http://schemas.microsoft.com/office/drawing/2014/main" id="{AA2A92B4-DD5E-4659-876C-CEF27D8A3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CB3716F9-57FA-4E55-B926-D141DFDE7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6E65CA48-F624-4AAA-B08C-4D030E798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5AB96607-3A57-4F71-87E5-C0D546FEB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4" name="Freeform: Shape 43">
            <a:extLst>
              <a:ext uri="{FF2B5EF4-FFF2-40B4-BE49-F238E27FC236}">
                <a16:creationId xmlns:a16="http://schemas.microsoft.com/office/drawing/2014/main" id="{286E5E1D-FD49-448F-83C8-E06466BE5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899042" y="5608708"/>
            <a:ext cx="4292956" cy="1249292"/>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6" name="Group 45">
            <a:extLst>
              <a:ext uri="{FF2B5EF4-FFF2-40B4-BE49-F238E27FC236}">
                <a16:creationId xmlns:a16="http://schemas.microsoft.com/office/drawing/2014/main" id="{D82E7BA0-A7BA-4C61-9D6F-5345A54056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47993" y="5742897"/>
            <a:ext cx="886141" cy="802496"/>
            <a:chOff x="10948005" y="3272152"/>
            <a:chExt cx="868640" cy="786648"/>
          </a:xfrm>
          <a:solidFill>
            <a:schemeClr val="accent6"/>
          </a:solidFill>
        </p:grpSpPr>
        <p:sp>
          <p:nvSpPr>
            <p:cNvPr id="47" name="Freeform: Shape 46">
              <a:extLst>
                <a:ext uri="{FF2B5EF4-FFF2-40B4-BE49-F238E27FC236}">
                  <a16:creationId xmlns:a16="http://schemas.microsoft.com/office/drawing/2014/main" id="{B5369E81-3115-4284-995E-F753EB421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8" name="Freeform: Shape 47">
              <a:extLst>
                <a:ext uri="{FF2B5EF4-FFF2-40B4-BE49-F238E27FC236}">
                  <a16:creationId xmlns:a16="http://schemas.microsoft.com/office/drawing/2014/main" id="{44729589-1C6A-4995-83DB-3C8AC2B8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7A966D0D-0B99-4534-8150-ECA25F804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Graphic 12">
              <a:extLst>
                <a:ext uri="{FF2B5EF4-FFF2-40B4-BE49-F238E27FC236}">
                  <a16:creationId xmlns:a16="http://schemas.microsoft.com/office/drawing/2014/main" id="{7DC8EDF8-9492-4A6B-8050-A6B44F11B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1" name="Graphic 15">
              <a:extLst>
                <a:ext uri="{FF2B5EF4-FFF2-40B4-BE49-F238E27FC236}">
                  <a16:creationId xmlns:a16="http://schemas.microsoft.com/office/drawing/2014/main" id="{13B4EDF3-5414-4F6E-8824-4FDC7BFD5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6CE204CE-5738-4712-8E02-CF746C010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2369023-4235-4E1E-A424-EA0EA83D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Segnaposto contenuto 5">
            <a:extLst>
              <a:ext uri="{FF2B5EF4-FFF2-40B4-BE49-F238E27FC236}">
                <a16:creationId xmlns:a16="http://schemas.microsoft.com/office/drawing/2014/main" id="{BF43E68E-BAF2-5255-448D-C38D5153D9EC}"/>
              </a:ext>
            </a:extLst>
          </p:cNvPr>
          <p:cNvGraphicFramePr>
            <a:graphicFrameLocks noGrp="1"/>
          </p:cNvGraphicFramePr>
          <p:nvPr>
            <p:ph idx="1"/>
            <p:extLst>
              <p:ext uri="{D42A27DB-BD31-4B8C-83A1-F6EECF244321}">
                <p14:modId xmlns:p14="http://schemas.microsoft.com/office/powerpoint/2010/main" val="2669848218"/>
              </p:ext>
            </p:extLst>
          </p:nvPr>
        </p:nvGraphicFramePr>
        <p:xfrm>
          <a:off x="5974872" y="1582686"/>
          <a:ext cx="5677186" cy="3623044"/>
        </p:xfrm>
        <a:graphic>
          <a:graphicData uri="http://schemas.openxmlformats.org/drawingml/2006/table">
            <a:tbl>
              <a:tblPr firstRow="1" firstCol="1" bandRow="1"/>
              <a:tblGrid>
                <a:gridCol w="1327909">
                  <a:extLst>
                    <a:ext uri="{9D8B030D-6E8A-4147-A177-3AD203B41FA5}">
                      <a16:colId xmlns:a16="http://schemas.microsoft.com/office/drawing/2014/main" val="593474212"/>
                    </a:ext>
                  </a:extLst>
                </a:gridCol>
                <a:gridCol w="899878">
                  <a:extLst>
                    <a:ext uri="{9D8B030D-6E8A-4147-A177-3AD203B41FA5}">
                      <a16:colId xmlns:a16="http://schemas.microsoft.com/office/drawing/2014/main" val="300556420"/>
                    </a:ext>
                  </a:extLst>
                </a:gridCol>
                <a:gridCol w="1039851">
                  <a:extLst>
                    <a:ext uri="{9D8B030D-6E8A-4147-A177-3AD203B41FA5}">
                      <a16:colId xmlns:a16="http://schemas.microsoft.com/office/drawing/2014/main" val="1051784743"/>
                    </a:ext>
                  </a:extLst>
                </a:gridCol>
                <a:gridCol w="887707">
                  <a:extLst>
                    <a:ext uri="{9D8B030D-6E8A-4147-A177-3AD203B41FA5}">
                      <a16:colId xmlns:a16="http://schemas.microsoft.com/office/drawing/2014/main" val="4080973576"/>
                    </a:ext>
                  </a:extLst>
                </a:gridCol>
                <a:gridCol w="1521841">
                  <a:extLst>
                    <a:ext uri="{9D8B030D-6E8A-4147-A177-3AD203B41FA5}">
                      <a16:colId xmlns:a16="http://schemas.microsoft.com/office/drawing/2014/main" val="3838408435"/>
                    </a:ext>
                  </a:extLst>
                </a:gridCol>
              </a:tblGrid>
              <a:tr h="534409">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Frame</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Ruolo</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OrderID</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Nuovo Stato</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ctr" fontAlgn="t">
                        <a:lnSpc>
                          <a:spcPct val="111000"/>
                        </a:lnSpc>
                        <a:spcAft>
                          <a:spcPts val="65"/>
                        </a:spcAft>
                        <a:buNone/>
                      </a:pPr>
                      <a:r>
                        <a:rPr lang="it-IT" sz="1400" b="1" i="1" u="none" strike="noStrike" kern="100">
                          <a:solidFill>
                            <a:srgbClr val="000000"/>
                          </a:solidFill>
                          <a:effectLst/>
                          <a:latin typeface="Times New Roman" panose="02020603050405020304" pitchFamily="18" charset="0"/>
                          <a:ea typeface="Times New Roman" panose="02020603050405020304" pitchFamily="18" charset="0"/>
                        </a:rPr>
                        <a:t>Esito atteso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8628458"/>
                  </a:ext>
                </a:extLst>
              </a:tr>
              <a:tr h="772159">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TF-ADM-17</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Update stato OK, visibile nello storico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5777299"/>
                  </a:ext>
                </a:extLst>
              </a:tr>
              <a:tr h="534409">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TF-ADM-18</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Non 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Errore, nessun update DB</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2012627"/>
                  </a:ext>
                </a:extLst>
              </a:tr>
              <a:tr h="772159">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TF-ADM-19</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Admin</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Non esistente</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Gestione controllata, no crash</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726694"/>
                  </a:ext>
                </a:extLst>
              </a:tr>
              <a:tr h="1009908">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TF-ADM-20</a:t>
                      </a:r>
                      <a:endParaRPr lang="it-IT" sz="2300" b="0" i="0" u="none" strike="noStrike">
                        <a:effectLst/>
                        <a:latin typeface="Arial" panose="020B0604020202020204" pitchFamily="34" charset="0"/>
                      </a:endParaRPr>
                    </a:p>
                  </a:txBody>
                  <a:tcPr marL="87635" marR="87635" marT="12171"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Utente</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a:solidFill>
                            <a:srgbClr val="000000"/>
                          </a:solidFill>
                          <a:effectLst/>
                          <a:latin typeface="Times New Roman" panose="02020603050405020304" pitchFamily="18" charset="0"/>
                          <a:ea typeface="Times New Roman" panose="02020603050405020304" pitchFamily="18" charset="0"/>
                        </a:rPr>
                        <a:t>Valido</a:t>
                      </a:r>
                      <a:endParaRPr lang="it-IT" sz="2300" b="0" i="0" u="none" strike="noStrike">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82296" indent="-9144" algn="l" fontAlgn="t">
                        <a:lnSpc>
                          <a:spcPct val="111000"/>
                        </a:lnSpc>
                        <a:spcAft>
                          <a:spcPts val="65"/>
                        </a:spcAft>
                        <a:buNone/>
                      </a:pP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Accesso negato/</a:t>
                      </a:r>
                      <a:r>
                        <a:rPr lang="it-IT" sz="1400" b="0" i="0" u="none" strike="noStrike" kern="100" dirty="0" err="1">
                          <a:solidFill>
                            <a:srgbClr val="000000"/>
                          </a:solidFill>
                          <a:effectLst/>
                          <a:latin typeface="Times New Roman" panose="02020603050405020304" pitchFamily="18" charset="0"/>
                          <a:ea typeface="Times New Roman" panose="02020603050405020304" pitchFamily="18" charset="0"/>
                        </a:rPr>
                        <a:t>redirect</a:t>
                      </a:r>
                      <a:r>
                        <a:rPr lang="it-IT" sz="1400" b="0" i="0" u="none" strike="noStrike" kern="100" dirty="0">
                          <a:solidFill>
                            <a:srgbClr val="000000"/>
                          </a:solidFill>
                          <a:effectLst/>
                          <a:latin typeface="Times New Roman" panose="02020603050405020304" pitchFamily="18" charset="0"/>
                          <a:ea typeface="Times New Roman" panose="02020603050405020304" pitchFamily="18" charset="0"/>
                        </a:rPr>
                        <a:t>, nessun update DB</a:t>
                      </a:r>
                      <a:endParaRPr lang="it-IT" sz="2300" b="0" i="0" u="none" strike="noStrike" dirty="0">
                        <a:effectLst/>
                        <a:latin typeface="Arial" panose="020B0604020202020204" pitchFamily="34" charset="0"/>
                      </a:endParaRPr>
                    </a:p>
                  </a:txBody>
                  <a:tcPr marL="87635" marR="87635" marT="12171"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6036159"/>
                  </a:ext>
                </a:extLst>
              </a:tr>
            </a:tbl>
          </a:graphicData>
        </a:graphic>
      </p:graphicFrame>
      <p:sp>
        <p:nvSpPr>
          <p:cNvPr id="8" name="CasellaDiTesto 7">
            <a:extLst>
              <a:ext uri="{FF2B5EF4-FFF2-40B4-BE49-F238E27FC236}">
                <a16:creationId xmlns:a16="http://schemas.microsoft.com/office/drawing/2014/main" id="{9ECECEBD-BCEF-53BD-5884-9EEA06BA4662}"/>
              </a:ext>
            </a:extLst>
          </p:cNvPr>
          <p:cNvSpPr txBox="1"/>
          <p:nvPr/>
        </p:nvSpPr>
        <p:spPr>
          <a:xfrm>
            <a:off x="539942" y="3690969"/>
            <a:ext cx="6093372" cy="2585323"/>
          </a:xfrm>
          <a:prstGeom prst="rect">
            <a:avLst/>
          </a:prstGeom>
          <a:noFill/>
        </p:spPr>
        <p:txBody>
          <a:bodyPr wrap="square">
            <a:spAutoFit/>
          </a:bodyPr>
          <a:lstStyle/>
          <a:p>
            <a:pPr lvl="1" fontAlgn="base"/>
            <a:r>
              <a:rPr lang="it-IT" b="1" i="1" dirty="0"/>
              <a:t>Test items</a:t>
            </a:r>
          </a:p>
          <a:p>
            <a:pPr lvl="0"/>
            <a:r>
              <a:rPr lang="it-IT" dirty="0"/>
              <a:t>Controller: </a:t>
            </a:r>
            <a:r>
              <a:rPr lang="it-IT" dirty="0" err="1"/>
              <a:t>ModifyOrderDataServlet</a:t>
            </a:r>
            <a:endParaRPr lang="it-IT" dirty="0"/>
          </a:p>
          <a:p>
            <a:pPr lvl="0"/>
            <a:r>
              <a:rPr lang="it-IT" dirty="0"/>
              <a:t>DAO: </a:t>
            </a:r>
            <a:r>
              <a:rPr lang="it-IT" dirty="0" err="1"/>
              <a:t>RigaOrdineDao</a:t>
            </a:r>
            <a:endParaRPr lang="it-IT" dirty="0"/>
          </a:p>
          <a:p>
            <a:pPr lvl="0"/>
            <a:r>
              <a:rPr lang="it-IT" b="1" dirty="0"/>
              <a:t>Classi di test</a:t>
            </a:r>
          </a:p>
          <a:p>
            <a:pPr lvl="0"/>
            <a:r>
              <a:rPr lang="it-IT" dirty="0" err="1"/>
              <a:t>ModifyOrderDataServletIntegrationTest</a:t>
            </a:r>
            <a:endParaRPr lang="it-IT" dirty="0"/>
          </a:p>
          <a:p>
            <a:pPr lvl="1"/>
            <a:r>
              <a:rPr lang="it-IT" dirty="0"/>
              <a:t>TF_ADM_17</a:t>
            </a:r>
          </a:p>
          <a:p>
            <a:pPr lvl="1"/>
            <a:r>
              <a:rPr lang="it-IT" dirty="0"/>
              <a:t>TF_ADM_18</a:t>
            </a:r>
          </a:p>
          <a:p>
            <a:pPr lvl="1"/>
            <a:r>
              <a:rPr lang="it-IT" dirty="0"/>
              <a:t>TF_ADM_19</a:t>
            </a:r>
          </a:p>
          <a:p>
            <a:pPr lvl="0"/>
            <a:r>
              <a:rPr lang="it-IT" dirty="0" err="1"/>
              <a:t>RigaOrdineDaoTest</a:t>
            </a:r>
            <a:endParaRPr lang="it-IT" dirty="0"/>
          </a:p>
        </p:txBody>
      </p:sp>
    </p:spTree>
    <p:extLst>
      <p:ext uri="{BB962C8B-B14F-4D97-AF65-F5344CB8AC3E}">
        <p14:creationId xmlns:p14="http://schemas.microsoft.com/office/powerpoint/2010/main" val="40375795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63A692CC-9AD3-A3F4-3700-7D0CC48AD527}"/>
              </a:ext>
            </a:extLst>
          </p:cNvPr>
          <p:cNvSpPr>
            <a:spLocks noGrp="1"/>
          </p:cNvSpPr>
          <p:nvPr>
            <p:ph type="ctrTitle"/>
          </p:nvPr>
        </p:nvSpPr>
        <p:spPr>
          <a:xfrm>
            <a:off x="1059539" y="2710851"/>
            <a:ext cx="10072922" cy="1436298"/>
          </a:xfrm>
        </p:spPr>
        <p:txBody>
          <a:bodyPr/>
          <a:lstStyle/>
          <a:p>
            <a:pPr algn="ctr"/>
            <a:r>
              <a:rPr lang="it-IT" dirty="0"/>
              <a:t>Il team </a:t>
            </a:r>
            <a:r>
              <a:rPr lang="it-IT" dirty="0" err="1"/>
              <a:t>LaCantina</a:t>
            </a:r>
            <a:r>
              <a:rPr lang="it-IT" dirty="0"/>
              <a:t> vi ringrazia per l’attenzione</a:t>
            </a:r>
          </a:p>
        </p:txBody>
      </p:sp>
    </p:spTree>
    <p:extLst>
      <p:ext uri="{BB962C8B-B14F-4D97-AF65-F5344CB8AC3E}">
        <p14:creationId xmlns:p14="http://schemas.microsoft.com/office/powerpoint/2010/main" val="4252769626"/>
      </p:ext>
    </p:extLst>
  </p:cSld>
  <p:clrMapOvr>
    <a:masterClrMapping/>
  </p:clrMapOvr>
</p:sld>
</file>

<file path=ppt/theme/theme1.xml><?xml version="1.0" encoding="utf-8"?>
<a:theme xmlns:a="http://schemas.openxmlformats.org/drawingml/2006/main" name="RocaVTI">
  <a:themeElements>
    <a:clrScheme name="Custom 101">
      <a:dk1>
        <a:sysClr val="windowText" lastClr="000000"/>
      </a:dk1>
      <a:lt1>
        <a:sysClr val="window" lastClr="FFFFFF"/>
      </a:lt1>
      <a:dk2>
        <a:srgbClr val="463443"/>
      </a:dk2>
      <a:lt2>
        <a:srgbClr val="F3F0E9"/>
      </a:lt2>
      <a:accent1>
        <a:srgbClr val="D45E5E"/>
      </a:accent1>
      <a:accent2>
        <a:srgbClr val="D49D8C"/>
      </a:accent2>
      <a:accent3>
        <a:srgbClr val="BF873A"/>
      </a:accent3>
      <a:accent4>
        <a:srgbClr val="C05050"/>
      </a:accent4>
      <a:accent5>
        <a:srgbClr val="A89F68"/>
      </a:accent5>
      <a:accent6>
        <a:srgbClr val="8F6B8A"/>
      </a:accent6>
      <a:hlink>
        <a:srgbClr val="D75681"/>
      </a:hlink>
      <a:folHlink>
        <a:srgbClr val="6C9D92"/>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1009</TotalTime>
  <Words>6582</Words>
  <Application>Microsoft Office PowerPoint</Application>
  <PresentationFormat>Widescreen</PresentationFormat>
  <Paragraphs>787</Paragraphs>
  <Slides>101</Slides>
  <Notes>1</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101</vt:i4>
      </vt:variant>
    </vt:vector>
  </HeadingPairs>
  <TitlesOfParts>
    <vt:vector size="110" baseType="lpstr">
      <vt:lpstr>Aptos</vt:lpstr>
      <vt:lpstr>Arial</vt:lpstr>
      <vt:lpstr>Avenir Book</vt:lpstr>
      <vt:lpstr>Avenir Next LT Pro</vt:lpstr>
      <vt:lpstr>Avenir Next LT Pro Light</vt:lpstr>
      <vt:lpstr>Georgia Pro Semibold</vt:lpstr>
      <vt:lpstr>Segoe UI</vt:lpstr>
      <vt:lpstr>Times New Roman</vt:lpstr>
      <vt:lpstr>RocaVTI</vt:lpstr>
      <vt:lpstr>La Cantina prodotti a km0</vt:lpstr>
      <vt:lpstr>Problem Statement</vt:lpstr>
      <vt:lpstr>L’idea del progetto</vt:lpstr>
      <vt:lpstr>L’idea del progetto</vt:lpstr>
      <vt:lpstr>L’idea del progetto</vt:lpstr>
      <vt:lpstr>L’idea del progetto</vt:lpstr>
      <vt:lpstr>Requirement Analysis Document</vt:lpstr>
      <vt:lpstr>Pattern MVC</vt:lpstr>
      <vt:lpstr>I protagonisti: attori e scenari d’uso</vt:lpstr>
      <vt:lpstr>Requisiti Funzionali e Scenari</vt:lpstr>
      <vt:lpstr>Scenari</vt:lpstr>
      <vt:lpstr>Scenari</vt:lpstr>
      <vt:lpstr>Requisiti funzionali Utente</vt:lpstr>
      <vt:lpstr>Requisiti funzionali Amministratore</vt:lpstr>
      <vt:lpstr>Requisiti Non funzionali</vt:lpstr>
      <vt:lpstr>Use Cases</vt:lpstr>
      <vt:lpstr>Autenticazione</vt:lpstr>
      <vt:lpstr>Registrazione</vt:lpstr>
      <vt:lpstr>Acquisto diretto</vt:lpstr>
      <vt:lpstr>Acquisto da carrello</vt:lpstr>
      <vt:lpstr>Gestione Stock dei Prodotti</vt:lpstr>
      <vt:lpstr>Modifica dei Prezzi</vt:lpstr>
      <vt:lpstr>Aggiunta di nuovi prodotti</vt:lpstr>
      <vt:lpstr>Eliminazione di prodotti</vt:lpstr>
      <vt:lpstr>Gestione ordini e spedizione</vt:lpstr>
      <vt:lpstr>Use Cases in comune tra utente e amministratore</vt:lpstr>
      <vt:lpstr>Use Cases Utente</vt:lpstr>
      <vt:lpstr>Use Cases  Amministratore</vt:lpstr>
      <vt:lpstr>Class Diagram</vt:lpstr>
      <vt:lpstr>Class Diagram</vt:lpstr>
      <vt:lpstr>Presentazione standard di PowerPoint</vt:lpstr>
      <vt:lpstr>Sequence Diagrams e Activty Diagrams</vt:lpstr>
      <vt:lpstr>Presentazione standard di PowerPoint</vt:lpstr>
      <vt:lpstr>State Diagrams e Activity Diagrams</vt:lpstr>
      <vt:lpstr>Presentazione standard di PowerPoint</vt:lpstr>
      <vt:lpstr>Presentazione standard di PowerPoint</vt:lpstr>
      <vt:lpstr>Navigational Path</vt:lpstr>
      <vt:lpstr>Presentazione standard di PowerPoint</vt:lpstr>
      <vt:lpstr>Presentazione standard di PowerPoint</vt:lpstr>
      <vt:lpstr>Screen Mockup Home Page</vt:lpstr>
      <vt:lpstr>Screen Mockup Shop</vt:lpstr>
      <vt:lpstr>Screen Mockup Carrello</vt:lpstr>
      <vt:lpstr>Screen  Mockup  Acquisto Carrello</vt:lpstr>
      <vt:lpstr>Screen Mockup Dettagli Ordine</vt:lpstr>
      <vt:lpstr>System Design Document</vt:lpstr>
      <vt:lpstr>Subsystem Decomposition</vt:lpstr>
      <vt:lpstr>UserManagement</vt:lpstr>
      <vt:lpstr>CatalogManagement</vt:lpstr>
      <vt:lpstr>OrderManagement</vt:lpstr>
      <vt:lpstr>Hardware/Software mapping  </vt:lpstr>
      <vt:lpstr>Nodi</vt:lpstr>
      <vt:lpstr>Data Management</vt:lpstr>
      <vt:lpstr>Access Control and security  </vt:lpstr>
      <vt:lpstr>Matrice degli accessi </vt:lpstr>
      <vt:lpstr>Boundary Contitions  </vt:lpstr>
      <vt:lpstr>Boundary Contitions  </vt:lpstr>
      <vt:lpstr>Boundary Contitions  </vt:lpstr>
      <vt:lpstr>Subsystem services</vt:lpstr>
      <vt:lpstr>Subsystem Services</vt:lpstr>
      <vt:lpstr>Subsystem Services</vt:lpstr>
      <vt:lpstr>Subsystem Services</vt:lpstr>
      <vt:lpstr>Object Design Document</vt:lpstr>
      <vt:lpstr>Objcet Deisgn Trade-offs</vt:lpstr>
      <vt:lpstr>Interface documentation guidelines</vt:lpstr>
      <vt:lpstr>Suddivisione in package Java</vt:lpstr>
      <vt:lpstr>it.unisa.lacantina.model.domain</vt:lpstr>
      <vt:lpstr>it.unisa.lacantina.model.dao</vt:lpstr>
      <vt:lpstr>it.unisa.lacantina.model.service</vt:lpstr>
      <vt:lpstr>it.unisa.lacantina.controller</vt:lpstr>
      <vt:lpstr>it.unisa.lacantina.util</vt:lpstr>
      <vt:lpstr>Package sottosistema UserManagement</vt:lpstr>
      <vt:lpstr>Package sottosistema CatalogManagement</vt:lpstr>
      <vt:lpstr>Package sottosistema OrderManagement</vt:lpstr>
      <vt:lpstr>Class Interfaces</vt:lpstr>
      <vt:lpstr>             Struttura finale del progetto</vt:lpstr>
      <vt:lpstr>Testing</vt:lpstr>
      <vt:lpstr>Test Plan</vt:lpstr>
      <vt:lpstr>Strategia di test</vt:lpstr>
      <vt:lpstr>Tecniche di test</vt:lpstr>
      <vt:lpstr>Test non presenti </vt:lpstr>
      <vt:lpstr>Suspension and resumption</vt:lpstr>
      <vt:lpstr>Strumenti di test</vt:lpstr>
      <vt:lpstr>Approccio dei test</vt:lpstr>
      <vt:lpstr>Mappatura sottosistemi coperti</vt:lpstr>
      <vt:lpstr>Esempi TestCases Specification</vt:lpstr>
      <vt:lpstr>Esempi di codice per i test</vt:lpstr>
      <vt:lpstr>Test Cases 1. TC_UM_01 – Validazione campo email (UC1/UC2)</vt:lpstr>
      <vt:lpstr>Test Cases 2. TC_UM_02 – Validazione password in registrazione (UC2)</vt:lpstr>
      <vt:lpstr>Test Cases 3. TC_UM_03 – Login: credenziali corrette/errate e accesso admin (UC1, UC1.2, UC1.3)</vt:lpstr>
      <vt:lpstr>Test Cases 4. TC_CM_01 – Visualizzazione catalogo e dettaglio prodotto</vt:lpstr>
      <vt:lpstr>Test Cases 5. TC_CM_02 – Filtraggio prodotti per categoria</vt:lpstr>
      <vt:lpstr>Test Cases 6. TC_OM_01 – Aggiunta/rimozione prodotti dal carrello</vt:lpstr>
      <vt:lpstr>Test Cases 7. TC_OM_02 – Acquisto diretto (UC3)</vt:lpstr>
      <vt:lpstr>Test Cases 8. TC_OM_03 – Acquisto da carrello (UC4)</vt:lpstr>
      <vt:lpstr>ADM testing </vt:lpstr>
      <vt:lpstr>Test Cases 9. TC_ADM_01 – Modifica stock prodotti (UC5/UC5.1)</vt:lpstr>
      <vt:lpstr>Test Cases 10. TC_ADM_02 – Modifica prezzo prodotti (UC6/UC6.1)</vt:lpstr>
      <vt:lpstr>Test Cases 11. TC_ADM_03 – Aggiunta prodotto (UC7/UC7.1)</vt:lpstr>
      <vt:lpstr>Test Cases 12. TC_ADM_04 – Eliminazione prodotto (UC8)</vt:lpstr>
      <vt:lpstr>Test Cases 13. TC_ADM_05 – Modifica stato ordine (UC9)</vt:lpstr>
      <vt:lpstr>Il team LaCantina vi ringrazia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CICALESE</dc:creator>
  <cp:lastModifiedBy>Fabrizio Grazioso</cp:lastModifiedBy>
  <cp:revision>15</cp:revision>
  <dcterms:created xsi:type="dcterms:W3CDTF">2026-01-14T11:57:19Z</dcterms:created>
  <dcterms:modified xsi:type="dcterms:W3CDTF">2026-01-16T14:40:01Z</dcterms:modified>
</cp:coreProperties>
</file>